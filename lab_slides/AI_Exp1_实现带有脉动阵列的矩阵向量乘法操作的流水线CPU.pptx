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37"/>
  </p:notesMasterIdLst>
  <p:sldIdLst>
    <p:sldId id="256" r:id="rId4"/>
    <p:sldId id="260" r:id="rId5"/>
    <p:sldId id="310" r:id="rId6"/>
    <p:sldId id="316" r:id="rId7"/>
    <p:sldId id="315" r:id="rId8"/>
    <p:sldId id="314" r:id="rId9"/>
    <p:sldId id="313" r:id="rId10"/>
    <p:sldId id="317" r:id="rId11"/>
    <p:sldId id="325" r:id="rId12"/>
    <p:sldId id="327" r:id="rId13"/>
    <p:sldId id="328" r:id="rId14"/>
    <p:sldId id="326" r:id="rId15"/>
    <p:sldId id="331" r:id="rId16"/>
    <p:sldId id="332" r:id="rId17"/>
    <p:sldId id="6138" r:id="rId18"/>
    <p:sldId id="6124" r:id="rId19"/>
    <p:sldId id="6142" r:id="rId20"/>
    <p:sldId id="6136" r:id="rId21"/>
    <p:sldId id="6144" r:id="rId22"/>
    <p:sldId id="6143" r:id="rId23"/>
    <p:sldId id="6147" r:id="rId24"/>
    <p:sldId id="6148" r:id="rId25"/>
    <p:sldId id="333" r:id="rId26"/>
    <p:sldId id="335" r:id="rId27"/>
    <p:sldId id="336" r:id="rId28"/>
    <p:sldId id="337" r:id="rId29"/>
    <p:sldId id="339" r:id="rId30"/>
    <p:sldId id="318" r:id="rId31"/>
    <p:sldId id="319" r:id="rId32"/>
    <p:sldId id="320" r:id="rId33"/>
    <p:sldId id="323" r:id="rId34"/>
    <p:sldId id="338" r:id="rId35"/>
    <p:sldId id="324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DF7"/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500" autoAdjust="0"/>
  </p:normalViewPr>
  <p:slideViewPr>
    <p:cSldViewPr>
      <p:cViewPr varScale="1">
        <p:scale>
          <a:sx n="85" d="100"/>
          <a:sy n="85" d="100"/>
        </p:scale>
        <p:origin x="33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781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5611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7528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100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3136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286A4-7211-A74A-AC00-948057392F5F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3986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7995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7789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5370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753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2401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1105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005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0" y="0"/>
            <a:ext cx="12136581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24748" y="1950516"/>
            <a:ext cx="10846229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4293096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580315"/>
            <a:ext cx="1824203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67" y="6309321"/>
            <a:ext cx="10516763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0" y="17316"/>
            <a:ext cx="12136581" cy="682336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6309321"/>
            <a:ext cx="11284849" cy="1962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580314"/>
            <a:ext cx="1687528" cy="6884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7776" y="242392"/>
            <a:ext cx="9340619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>
                <a:latin typeface="黑体" pitchFamily="49" charset="-122"/>
                <a:ea typeface="黑体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>
                <a:latin typeface="黑体" pitchFamily="49" charset="-122"/>
                <a:ea typeface="黑体" pitchFamily="49" charset="-122"/>
              </a:defRPr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213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332656"/>
            <a:ext cx="9340619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itchFamily="2" charset="2"/>
              <a:buChar char="p"/>
              <a:defRPr sz="1800" b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itchFamily="2" charset="2"/>
              <a:buChar char="n"/>
              <a:defRPr sz="1600">
                <a:latin typeface="华文细黑" pitchFamily="2" charset="-122"/>
                <a:ea typeface="华文细黑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itchFamily="2" charset="2"/>
              <a:buChar char="p"/>
              <a:defRPr sz="1400">
                <a:latin typeface="华文细黑" pitchFamily="2" charset="-122"/>
                <a:ea typeface="华文细黑" pitchFamily="2" charset="-122"/>
              </a:defRPr>
            </a:lvl4pPr>
            <a:lvl5pPr>
              <a:defRPr sz="1200">
                <a:latin typeface="华文细黑" pitchFamily="2" charset="-122"/>
                <a:ea typeface="华文细黑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3244342"/>
            <a:ext cx="184700" cy="369316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 sz="180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3244342"/>
            <a:ext cx="184700" cy="369316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 sz="180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4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63553" y="1484784"/>
            <a:ext cx="8144665" cy="1224136"/>
          </a:xfrm>
        </p:spPr>
        <p:txBody>
          <a:bodyPr/>
          <a:lstStyle/>
          <a:p>
            <a:r>
              <a:rPr lang="zh-CN" altLang="en-US" sz="4000" b="1" dirty="0">
                <a:effectLst/>
                <a:latin typeface="+mn-lt"/>
                <a:ea typeface="黑体"/>
                <a:cs typeface="黑体"/>
              </a:rPr>
              <a:t>人工智能芯片课程实验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95600" y="4437112"/>
            <a:ext cx="6400800" cy="1608584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3000" b="1" dirty="0">
                <a:latin typeface="楷体_GB2312" pitchFamily="49" charset="-122"/>
                <a:ea typeface="楷体_GB2312" pitchFamily="49" charset="-122"/>
              </a:rPr>
              <a:t>浙江大学计算机学院</a:t>
            </a:r>
            <a:endParaRPr lang="en-US" altLang="zh-CN" sz="30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altLang="zh-CN" sz="30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3000" b="1">
                <a:latin typeface="楷体_GB2312" pitchFamily="49" charset="-122"/>
                <a:ea typeface="楷体_GB2312" pitchFamily="49" charset="-122"/>
              </a:rPr>
              <a:t>2026</a:t>
            </a:r>
            <a:r>
              <a:rPr lang="zh-CN" altLang="en-US" sz="3000" b="1"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sz="3000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3000" b="1" dirty="0">
                <a:latin typeface="楷体_GB2312" pitchFamily="49" charset="-122"/>
                <a:ea typeface="楷体_GB2312" pitchFamily="49" charset="-122"/>
              </a:rPr>
              <a:t>月</a:t>
            </a:r>
            <a:endParaRPr lang="en-US" altLang="zh-CN" sz="3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9416" y="2924944"/>
            <a:ext cx="10585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ea typeface="楷体"/>
                <a:cs typeface="楷体"/>
              </a:rPr>
              <a:t>Topic 1.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ea typeface="楷体"/>
                <a:cs typeface="楷体"/>
              </a:rPr>
              <a:t> 实现带脉动阵列的向量矩阵乘法操作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ea typeface="楷体"/>
              <a:cs typeface="楷体"/>
            </a:endParaRPr>
          </a:p>
          <a:p>
            <a:pPr algn="ctr"/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ea typeface="楷体"/>
                <a:cs typeface="楷体"/>
              </a:rPr>
              <a:t>的流水线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ea typeface="楷体"/>
                <a:cs typeface="楷体"/>
              </a:rPr>
              <a:t>CPU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ea typeface="楷体"/>
              <a:cs typeface="楷体"/>
            </a:endParaRPr>
          </a:p>
        </p:txBody>
      </p:sp>
    </p:spTree>
    <p:extLst>
      <p:ext uri="{BB962C8B-B14F-4D97-AF65-F5344CB8AC3E}">
        <p14:creationId xmlns:p14="http://schemas.microsoft.com/office/powerpoint/2010/main" val="2512661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实验任务</a:t>
            </a:r>
            <a:endParaRPr lang="en-US" altLang="zh-CN" sz="4400" dirty="0">
              <a:solidFill>
                <a:srgbClr val="19A1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72"/>
              </a:spcBef>
              <a:buFontTx/>
              <a:buChar char="•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将五级流水线 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改造以支持 </a:t>
            </a:r>
            <a:r>
              <a:rPr lang="en-US" altLang="zh-CN" sz="32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multicycle execution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72"/>
              </a:spcBef>
              <a:buFontTx/>
              <a:buChar char="•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在流水线 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上实现一条</a:t>
            </a:r>
            <a:r>
              <a:rPr lang="zh-CN" altLang="en-US" sz="32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32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脉动阵列矩阵向量乘 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(Systolic Array-based Matrix-Vector multiplication) 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 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SAMV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72"/>
              </a:spcBef>
              <a:buFontTx/>
              <a:buChar char="•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使用给定程序验证设计正确性。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72"/>
              </a:spcBef>
              <a:buFontTx/>
              <a:buChar char="•"/>
            </a:pP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2619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回顾：</a:t>
            </a:r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</a:t>
            </a:r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指令集</a:t>
            </a:r>
            <a:endParaRPr lang="en-US" altLang="zh-CN" sz="4400" dirty="0">
              <a:solidFill>
                <a:srgbClr val="19A1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9BD92039-BF53-45E8-AFF1-21628A347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766118"/>
            <a:ext cx="11521280" cy="375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72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回顾：</a:t>
            </a:r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</a:t>
            </a:r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指令集</a:t>
            </a:r>
            <a:endParaRPr lang="en-US" altLang="zh-CN" sz="4400" dirty="0">
              <a:solidFill>
                <a:srgbClr val="19A1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5519C23-E75D-448D-BB7B-65EED5C72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237268"/>
              </p:ext>
            </p:extLst>
          </p:nvPr>
        </p:nvGraphicFramePr>
        <p:xfrm>
          <a:off x="545400" y="1840917"/>
          <a:ext cx="10513170" cy="3694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89975214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88156090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49177015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272508983"/>
                    </a:ext>
                  </a:extLst>
                </a:gridCol>
                <a:gridCol w="1776199">
                  <a:extLst>
                    <a:ext uri="{9D8B030D-6E8A-4147-A177-3AD203B41FA5}">
                      <a16:colId xmlns:a16="http://schemas.microsoft.com/office/drawing/2014/main" val="1296180533"/>
                    </a:ext>
                  </a:extLst>
                </a:gridCol>
                <a:gridCol w="1752195">
                  <a:extLst>
                    <a:ext uri="{9D8B030D-6E8A-4147-A177-3AD203B41FA5}">
                      <a16:colId xmlns:a16="http://schemas.microsoft.com/office/drawing/2014/main" val="2006375592"/>
                    </a:ext>
                  </a:extLst>
                </a:gridCol>
              </a:tblGrid>
              <a:tr h="402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0110011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190623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532663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261494"/>
                  </a:ext>
                </a:extLst>
              </a:tr>
              <a:tr h="357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5342609"/>
                  </a:ext>
                </a:extLst>
              </a:tr>
              <a:tr h="357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124234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927840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rs2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rd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972651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0100000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rs2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rd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275033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rs2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rd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269580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rs2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rd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05134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D6A6D40-2D8E-4F5F-A12A-B1E2FC0CA521}"/>
              </a:ext>
            </a:extLst>
          </p:cNvPr>
          <p:cNvSpPr txBox="1"/>
          <p:nvPr/>
        </p:nvSpPr>
        <p:spPr>
          <a:xfrm>
            <a:off x="395882" y="141598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31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AF4EF7-8041-4511-8F25-B6FD66107D76}"/>
              </a:ext>
            </a:extLst>
          </p:cNvPr>
          <p:cNvSpPr txBox="1"/>
          <p:nvPr/>
        </p:nvSpPr>
        <p:spPr>
          <a:xfrm>
            <a:off x="2328749" y="141597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25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8078C0-2F52-4706-A8C7-120C7C3B6A2E}"/>
              </a:ext>
            </a:extLst>
          </p:cNvPr>
          <p:cNvSpPr txBox="1"/>
          <p:nvPr/>
        </p:nvSpPr>
        <p:spPr>
          <a:xfrm>
            <a:off x="2809075" y="141597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24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C79BD1-709F-4B1C-AA9A-8991F0F1856D}"/>
              </a:ext>
            </a:extLst>
          </p:cNvPr>
          <p:cNvSpPr txBox="1"/>
          <p:nvPr/>
        </p:nvSpPr>
        <p:spPr>
          <a:xfrm>
            <a:off x="4013791" y="14159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20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B763AD-2E34-4E6C-A940-DA4896D36FE5}"/>
              </a:ext>
            </a:extLst>
          </p:cNvPr>
          <p:cNvSpPr txBox="1"/>
          <p:nvPr/>
        </p:nvSpPr>
        <p:spPr>
          <a:xfrm>
            <a:off x="4416981" y="141278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19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DA7AE6-BDD3-4440-880A-85B7020FA68A}"/>
              </a:ext>
            </a:extLst>
          </p:cNvPr>
          <p:cNvSpPr txBox="1"/>
          <p:nvPr/>
        </p:nvSpPr>
        <p:spPr>
          <a:xfrm>
            <a:off x="5621697" y="141277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15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7181AA8-E676-41BD-9E4F-5665104FF0B8}"/>
              </a:ext>
            </a:extLst>
          </p:cNvPr>
          <p:cNvSpPr txBox="1"/>
          <p:nvPr/>
        </p:nvSpPr>
        <p:spPr>
          <a:xfrm>
            <a:off x="5992981" y="141277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14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F07D7C7-3401-4549-A97C-01B1CA6018A7}"/>
              </a:ext>
            </a:extLst>
          </p:cNvPr>
          <p:cNvSpPr txBox="1"/>
          <p:nvPr/>
        </p:nvSpPr>
        <p:spPr>
          <a:xfrm>
            <a:off x="6949872" y="14127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000A3E-6FF6-498A-BDC3-4DC50BFED1BB}"/>
              </a:ext>
            </a:extLst>
          </p:cNvPr>
          <p:cNvSpPr txBox="1"/>
          <p:nvPr/>
        </p:nvSpPr>
        <p:spPr>
          <a:xfrm>
            <a:off x="7362070" y="14127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11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CBA737-8363-4A88-9D46-B318DB900A5E}"/>
              </a:ext>
            </a:extLst>
          </p:cNvPr>
          <p:cNvSpPr txBox="1"/>
          <p:nvPr/>
        </p:nvSpPr>
        <p:spPr>
          <a:xfrm>
            <a:off x="8841852" y="14127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7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E8C48F-CBDC-4036-8D0F-AFC4110D50D0}"/>
              </a:ext>
            </a:extLst>
          </p:cNvPr>
          <p:cNvSpPr txBox="1"/>
          <p:nvPr/>
        </p:nvSpPr>
        <p:spPr>
          <a:xfrm>
            <a:off x="10718412" y="14127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BDEF93C-B51E-4D7F-8F9F-FA181FF8921C}"/>
              </a:ext>
            </a:extLst>
          </p:cNvPr>
          <p:cNvSpPr txBox="1"/>
          <p:nvPr/>
        </p:nvSpPr>
        <p:spPr>
          <a:xfrm>
            <a:off x="9199587" y="141277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6</a:t>
            </a:r>
            <a:endParaRPr lang="zh-CN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C087F3-0254-4E95-8B26-3C4C16B50ED7}"/>
              </a:ext>
            </a:extLst>
          </p:cNvPr>
          <p:cNvSpPr/>
          <p:nvPr/>
        </p:nvSpPr>
        <p:spPr>
          <a:xfrm>
            <a:off x="11085160" y="1795318"/>
            <a:ext cx="6096000" cy="377090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 add</a:t>
            </a: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 sub</a:t>
            </a: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sll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slt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sltu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xor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srl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sra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 or</a:t>
            </a: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 and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1D883C-4E36-457B-9C94-D023090CDF69}"/>
              </a:ext>
            </a:extLst>
          </p:cNvPr>
          <p:cNvSpPr txBox="1"/>
          <p:nvPr/>
        </p:nvSpPr>
        <p:spPr>
          <a:xfrm>
            <a:off x="479376" y="5591062"/>
            <a:ext cx="8591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+mn-lt"/>
                <a:ea typeface="宋体" pitchFamily="2" charset="-122"/>
              </a:rPr>
              <a:t>这些指令利用 </a:t>
            </a:r>
            <a:r>
              <a:rPr lang="en-US" altLang="zh-CN" sz="1800" b="1" dirty="0">
                <a:latin typeface="+mn-lt"/>
                <a:ea typeface="宋体" pitchFamily="2" charset="-122"/>
              </a:rPr>
              <a:t>ALU </a:t>
            </a:r>
            <a:r>
              <a:rPr lang="zh-CN" altLang="en-US" sz="1800" b="1" dirty="0">
                <a:latin typeface="+mn-lt"/>
                <a:ea typeface="宋体" pitchFamily="2" charset="-122"/>
              </a:rPr>
              <a:t>进行算术运算。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87071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回顾：</a:t>
            </a:r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</a:t>
            </a:r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指令集</a:t>
            </a:r>
            <a:endParaRPr lang="en-US" altLang="zh-CN" sz="4400" dirty="0">
              <a:solidFill>
                <a:srgbClr val="19A1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3B98A4E-75A0-480C-8867-8738987BA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527373"/>
              </p:ext>
            </p:extLst>
          </p:nvPr>
        </p:nvGraphicFramePr>
        <p:xfrm>
          <a:off x="545400" y="2060848"/>
          <a:ext cx="1051317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89975214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88156090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49177015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272508983"/>
                    </a:ext>
                  </a:extLst>
                </a:gridCol>
                <a:gridCol w="1776199">
                  <a:extLst>
                    <a:ext uri="{9D8B030D-6E8A-4147-A177-3AD203B41FA5}">
                      <a16:colId xmlns:a16="http://schemas.microsoft.com/office/drawing/2014/main" val="1296180533"/>
                    </a:ext>
                  </a:extLst>
                </a:gridCol>
                <a:gridCol w="1752195">
                  <a:extLst>
                    <a:ext uri="{9D8B030D-6E8A-4147-A177-3AD203B41FA5}">
                      <a16:colId xmlns:a16="http://schemas.microsoft.com/office/drawing/2014/main" val="2006375592"/>
                    </a:ext>
                  </a:extLst>
                </a:gridCol>
              </a:tblGrid>
              <a:tr h="3079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190623"/>
                  </a:ext>
                </a:extLst>
              </a:tr>
              <a:tr h="3079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532663"/>
                  </a:ext>
                </a:extLst>
              </a:tr>
              <a:tr h="3079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261494"/>
                  </a:ext>
                </a:extLst>
              </a:tr>
              <a:tr h="3571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5342609"/>
                  </a:ext>
                </a:extLst>
              </a:tr>
              <a:tr h="3571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124234"/>
                  </a:ext>
                </a:extLst>
              </a:tr>
              <a:tr h="3079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927840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0000000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shamt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rd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972651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shamt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rd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275033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0100000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shamt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rd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0010011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26958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80661A2-20AB-4FD9-B03B-43B3B092C6AB}"/>
              </a:ext>
            </a:extLst>
          </p:cNvPr>
          <p:cNvSpPr txBox="1"/>
          <p:nvPr/>
        </p:nvSpPr>
        <p:spPr>
          <a:xfrm>
            <a:off x="395882" y="160932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31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C2512C-C98D-4E45-A5F2-792C43AA523E}"/>
              </a:ext>
            </a:extLst>
          </p:cNvPr>
          <p:cNvSpPr txBox="1"/>
          <p:nvPr/>
        </p:nvSpPr>
        <p:spPr>
          <a:xfrm>
            <a:off x="2328749" y="160932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25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5E2012-0BAD-40CC-B631-11EAD4ED5D36}"/>
              </a:ext>
            </a:extLst>
          </p:cNvPr>
          <p:cNvSpPr txBox="1"/>
          <p:nvPr/>
        </p:nvSpPr>
        <p:spPr>
          <a:xfrm>
            <a:off x="2809075" y="160932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24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5BD486-5970-4D98-9D9F-CA932E02CA0D}"/>
              </a:ext>
            </a:extLst>
          </p:cNvPr>
          <p:cNvSpPr txBox="1"/>
          <p:nvPr/>
        </p:nvSpPr>
        <p:spPr>
          <a:xfrm>
            <a:off x="4013791" y="160932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20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2EB158-5B34-431B-8A6D-8597041CE350}"/>
              </a:ext>
            </a:extLst>
          </p:cNvPr>
          <p:cNvSpPr txBox="1"/>
          <p:nvPr/>
        </p:nvSpPr>
        <p:spPr>
          <a:xfrm>
            <a:off x="4416981" y="160612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19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DAD9A9-6786-4C64-9FDE-C27E4FF0882A}"/>
              </a:ext>
            </a:extLst>
          </p:cNvPr>
          <p:cNvSpPr txBox="1"/>
          <p:nvPr/>
        </p:nvSpPr>
        <p:spPr>
          <a:xfrm>
            <a:off x="5621697" y="160612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15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018CE5-6643-4E80-9462-EDE86BBF4740}"/>
              </a:ext>
            </a:extLst>
          </p:cNvPr>
          <p:cNvSpPr txBox="1"/>
          <p:nvPr/>
        </p:nvSpPr>
        <p:spPr>
          <a:xfrm>
            <a:off x="5992981" y="160612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14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1041FF-4BF9-4E08-8DB0-A9FDC49F358E}"/>
              </a:ext>
            </a:extLst>
          </p:cNvPr>
          <p:cNvSpPr txBox="1"/>
          <p:nvPr/>
        </p:nvSpPr>
        <p:spPr>
          <a:xfrm>
            <a:off x="6949872" y="160612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08E8CB-F5ED-4216-88A3-E9E9429F207B}"/>
              </a:ext>
            </a:extLst>
          </p:cNvPr>
          <p:cNvSpPr txBox="1"/>
          <p:nvPr/>
        </p:nvSpPr>
        <p:spPr>
          <a:xfrm>
            <a:off x="7362070" y="160612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11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D75B9B-D22E-4141-986A-B4082C9F5FAB}"/>
              </a:ext>
            </a:extLst>
          </p:cNvPr>
          <p:cNvSpPr txBox="1"/>
          <p:nvPr/>
        </p:nvSpPr>
        <p:spPr>
          <a:xfrm>
            <a:off x="8841852" y="160612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7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AD907D-F8DE-460B-8D12-F391DC63FDD6}"/>
              </a:ext>
            </a:extLst>
          </p:cNvPr>
          <p:cNvSpPr txBox="1"/>
          <p:nvPr/>
        </p:nvSpPr>
        <p:spPr>
          <a:xfrm>
            <a:off x="10718412" y="160612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BCCAB86-39A7-4A43-A21D-4CFE35DB36FE}"/>
              </a:ext>
            </a:extLst>
          </p:cNvPr>
          <p:cNvSpPr txBox="1"/>
          <p:nvPr/>
        </p:nvSpPr>
        <p:spPr>
          <a:xfrm>
            <a:off x="9199587" y="160612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6</a:t>
            </a:r>
            <a:endParaRPr lang="zh-CN" altLang="en-US" sz="2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008DAB-94D7-4A24-8DAC-FE7A1E691B66}"/>
              </a:ext>
            </a:extLst>
          </p:cNvPr>
          <p:cNvSpPr/>
          <p:nvPr/>
        </p:nvSpPr>
        <p:spPr>
          <a:xfrm>
            <a:off x="11097957" y="2007369"/>
            <a:ext cx="6096000" cy="33990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addi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slti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sltiu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xori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ori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andi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slli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slri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srai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FE18D5-222A-41B4-8CA8-2EEEF222A68E}"/>
              </a:ext>
            </a:extLst>
          </p:cNvPr>
          <p:cNvSpPr txBox="1"/>
          <p:nvPr/>
        </p:nvSpPr>
        <p:spPr>
          <a:xfrm>
            <a:off x="479376" y="5416804"/>
            <a:ext cx="108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+mn-lt"/>
                <a:ea typeface="宋体" pitchFamily="2" charset="-122"/>
              </a:rPr>
              <a:t>这些指令利用 </a:t>
            </a:r>
            <a:r>
              <a:rPr lang="en-US" altLang="zh-CN" sz="1800" b="1" dirty="0">
                <a:latin typeface="+mn-lt"/>
                <a:ea typeface="宋体" pitchFamily="2" charset="-122"/>
              </a:rPr>
              <a:t>ALU </a:t>
            </a:r>
            <a:r>
              <a:rPr lang="zh-CN" altLang="en-US" sz="1800" b="1" dirty="0">
                <a:latin typeface="+mn-lt"/>
                <a:ea typeface="宋体" pitchFamily="2" charset="-122"/>
              </a:rPr>
              <a:t>进行算术运算。</a:t>
            </a:r>
            <a:r>
              <a:rPr lang="zh-CN" altLang="en-US" b="1" dirty="0">
                <a:ea typeface="宋体" pitchFamily="2" charset="-122"/>
              </a:rPr>
              <a:t>和前一页不同的是，这些指令的其中一个操作数为立即数。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42165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回顾：</a:t>
            </a:r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</a:t>
            </a:r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指令集</a:t>
            </a:r>
            <a:endParaRPr lang="en-US" altLang="zh-CN" sz="4400" dirty="0">
              <a:solidFill>
                <a:srgbClr val="19A1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611AE8B-E0B0-4356-9739-968B0FBA6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081606"/>
              </p:ext>
            </p:extLst>
          </p:nvPr>
        </p:nvGraphicFramePr>
        <p:xfrm>
          <a:off x="545400" y="2226844"/>
          <a:ext cx="1051317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89975214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88156090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49177015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272508983"/>
                    </a:ext>
                  </a:extLst>
                </a:gridCol>
                <a:gridCol w="1776199">
                  <a:extLst>
                    <a:ext uri="{9D8B030D-6E8A-4147-A177-3AD203B41FA5}">
                      <a16:colId xmlns:a16="http://schemas.microsoft.com/office/drawing/2014/main" val="1296180533"/>
                    </a:ext>
                  </a:extLst>
                </a:gridCol>
                <a:gridCol w="1752195">
                  <a:extLst>
                    <a:ext uri="{9D8B030D-6E8A-4147-A177-3AD203B41FA5}">
                      <a16:colId xmlns:a16="http://schemas.microsoft.com/office/drawing/2014/main" val="2006375592"/>
                    </a:ext>
                  </a:extLst>
                </a:gridCol>
              </a:tblGrid>
              <a:tr h="3079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190623"/>
                  </a:ext>
                </a:extLst>
              </a:tr>
              <a:tr h="3079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532663"/>
                  </a:ext>
                </a:extLst>
              </a:tr>
              <a:tr h="3079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rs1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261494"/>
                  </a:ext>
                </a:extLst>
              </a:tr>
              <a:tr h="3571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124234"/>
                  </a:ext>
                </a:extLst>
              </a:tr>
              <a:tr h="3079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927840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[11:5]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[4:0]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972651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Imm[11:5]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[4:0]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275033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[11:5]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[4:0]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269580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7E68DCC-9530-4B0A-A828-850300F7C02C}"/>
              </a:ext>
            </a:extLst>
          </p:cNvPr>
          <p:cNvSpPr txBox="1"/>
          <p:nvPr/>
        </p:nvSpPr>
        <p:spPr>
          <a:xfrm>
            <a:off x="395882" y="177532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31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022879-4FFF-4AD5-9959-102734C6D5A7}"/>
              </a:ext>
            </a:extLst>
          </p:cNvPr>
          <p:cNvSpPr txBox="1"/>
          <p:nvPr/>
        </p:nvSpPr>
        <p:spPr>
          <a:xfrm>
            <a:off x="2328749" y="177532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25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8D1BCE-F836-4BA6-B1D1-A70F24DC4872}"/>
              </a:ext>
            </a:extLst>
          </p:cNvPr>
          <p:cNvSpPr txBox="1"/>
          <p:nvPr/>
        </p:nvSpPr>
        <p:spPr>
          <a:xfrm>
            <a:off x="2809075" y="177532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24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37628B-8D59-4209-A328-85A7EB01D171}"/>
              </a:ext>
            </a:extLst>
          </p:cNvPr>
          <p:cNvSpPr txBox="1"/>
          <p:nvPr/>
        </p:nvSpPr>
        <p:spPr>
          <a:xfrm>
            <a:off x="4013791" y="177532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20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A551AD-6461-491C-9062-1F3F94EEDFFE}"/>
              </a:ext>
            </a:extLst>
          </p:cNvPr>
          <p:cNvSpPr txBox="1"/>
          <p:nvPr/>
        </p:nvSpPr>
        <p:spPr>
          <a:xfrm>
            <a:off x="4416981" y="177212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19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372902-E094-4E41-A67B-6EAA61E67D19}"/>
              </a:ext>
            </a:extLst>
          </p:cNvPr>
          <p:cNvSpPr txBox="1"/>
          <p:nvPr/>
        </p:nvSpPr>
        <p:spPr>
          <a:xfrm>
            <a:off x="5621697" y="177212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15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BE48ECD-C8AC-4DBE-89B5-F29B1F1B3CD2}"/>
              </a:ext>
            </a:extLst>
          </p:cNvPr>
          <p:cNvSpPr txBox="1"/>
          <p:nvPr/>
        </p:nvSpPr>
        <p:spPr>
          <a:xfrm>
            <a:off x="5992981" y="177212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14</a:t>
            </a:r>
            <a:endParaRPr lang="zh-CN" altLang="en-US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6FCF45-107B-4B3C-A3B6-0C8B1D428E40}"/>
              </a:ext>
            </a:extLst>
          </p:cNvPr>
          <p:cNvSpPr txBox="1"/>
          <p:nvPr/>
        </p:nvSpPr>
        <p:spPr>
          <a:xfrm>
            <a:off x="6949872" y="177212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</a:t>
            </a:r>
            <a:endParaRPr lang="zh-CN" altLang="en-US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8EA8283-BA90-4DD4-A680-6CA6153F8243}"/>
              </a:ext>
            </a:extLst>
          </p:cNvPr>
          <p:cNvSpPr txBox="1"/>
          <p:nvPr/>
        </p:nvSpPr>
        <p:spPr>
          <a:xfrm>
            <a:off x="7362070" y="177212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11</a:t>
            </a:r>
            <a:endParaRPr lang="zh-CN" altLang="en-US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2610C9-9462-4F94-831C-B342FE7A4EF4}"/>
              </a:ext>
            </a:extLst>
          </p:cNvPr>
          <p:cNvSpPr txBox="1"/>
          <p:nvPr/>
        </p:nvSpPr>
        <p:spPr>
          <a:xfrm>
            <a:off x="8841852" y="177212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7</a:t>
            </a:r>
            <a:endParaRPr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EC6E6B-F7F6-4CD6-95D0-9E118EDA1063}"/>
              </a:ext>
            </a:extLst>
          </p:cNvPr>
          <p:cNvSpPr txBox="1"/>
          <p:nvPr/>
        </p:nvSpPr>
        <p:spPr>
          <a:xfrm>
            <a:off x="10718412" y="177212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F68B7F9-24B5-4AB8-90B4-115950135389}"/>
              </a:ext>
            </a:extLst>
          </p:cNvPr>
          <p:cNvSpPr txBox="1"/>
          <p:nvPr/>
        </p:nvSpPr>
        <p:spPr>
          <a:xfrm>
            <a:off x="9199587" y="177212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6</a:t>
            </a:r>
            <a:endParaRPr lang="zh-CN" altLang="en-US" sz="2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F2F0876-0298-48B8-8D62-D6099FFE5B20}"/>
              </a:ext>
            </a:extLst>
          </p:cNvPr>
          <p:cNvSpPr txBox="1"/>
          <p:nvPr/>
        </p:nvSpPr>
        <p:spPr>
          <a:xfrm>
            <a:off x="11144153" y="2226394"/>
            <a:ext cx="684803" cy="3027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lb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lh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lw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lbu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lhu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 sb</a:t>
            </a: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sh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sw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136BC6-A200-48E6-BD95-77A292D9A0DF}"/>
              </a:ext>
            </a:extLst>
          </p:cNvPr>
          <p:cNvSpPr txBox="1"/>
          <p:nvPr/>
        </p:nvSpPr>
        <p:spPr>
          <a:xfrm>
            <a:off x="479376" y="5235111"/>
            <a:ext cx="108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+mn-lt"/>
                <a:ea typeface="宋体" pitchFamily="2" charset="-122"/>
              </a:rPr>
              <a:t>这些指令</a:t>
            </a:r>
            <a:r>
              <a:rPr lang="zh-CN" altLang="en-US" b="1" dirty="0">
                <a:ea typeface="宋体" pitchFamily="2" charset="-122"/>
              </a:rPr>
              <a:t>从内存中进行数据的读</a:t>
            </a:r>
            <a:r>
              <a:rPr lang="en-US" altLang="zh-CN" b="1" dirty="0">
                <a:ea typeface="宋体" pitchFamily="2" charset="-122"/>
              </a:rPr>
              <a:t>/</a:t>
            </a:r>
            <a:r>
              <a:rPr lang="zh-CN" altLang="en-US" b="1" dirty="0">
                <a:ea typeface="宋体" pitchFamily="2" charset="-122"/>
              </a:rPr>
              <a:t>写操作。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75698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回顾：</a:t>
            </a:r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RV32</a:t>
            </a:r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指令集</a:t>
            </a:r>
            <a:endParaRPr lang="en-US" altLang="zh-CN" sz="4400" dirty="0">
              <a:solidFill>
                <a:srgbClr val="19A1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FFEC33-572F-4EDE-8E17-887F2EEC7216}"/>
              </a:ext>
            </a:extLst>
          </p:cNvPr>
          <p:cNvSpPr txBox="1"/>
          <p:nvPr/>
        </p:nvSpPr>
        <p:spPr>
          <a:xfrm>
            <a:off x="195928" y="154346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31</a:t>
            </a:r>
            <a:endParaRPr lang="zh-CN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E5066D6-B419-465F-91DB-614BB6825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56664"/>
              </p:ext>
            </p:extLst>
          </p:nvPr>
        </p:nvGraphicFramePr>
        <p:xfrm>
          <a:off x="256587" y="2001928"/>
          <a:ext cx="1051317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89975214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88156090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49177015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272508983"/>
                    </a:ext>
                  </a:extLst>
                </a:gridCol>
                <a:gridCol w="1776199">
                  <a:extLst>
                    <a:ext uri="{9D8B030D-6E8A-4147-A177-3AD203B41FA5}">
                      <a16:colId xmlns:a16="http://schemas.microsoft.com/office/drawing/2014/main" val="1296180533"/>
                    </a:ext>
                  </a:extLst>
                </a:gridCol>
                <a:gridCol w="1752195">
                  <a:extLst>
                    <a:ext uri="{9D8B030D-6E8A-4147-A177-3AD203B41FA5}">
                      <a16:colId xmlns:a16="http://schemas.microsoft.com/office/drawing/2014/main" val="2006375592"/>
                    </a:ext>
                  </a:extLst>
                </a:gridCol>
              </a:tblGrid>
              <a:tr h="307972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[31:12]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0110111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190623"/>
                  </a:ext>
                </a:extLst>
              </a:tr>
              <a:tr h="307972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[31:12]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0010111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532663"/>
                  </a:ext>
                </a:extLst>
              </a:tr>
              <a:tr h="307972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[20|10:1|11|19:12]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1101111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261494"/>
                  </a:ext>
                </a:extLst>
              </a:tr>
              <a:tr h="3079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[11:0]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1100111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124234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[12|10:5]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[4:1|11]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927840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[12|10:5]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[4:1|11]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972651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Imm[12|10:5]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[4:1|11]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275033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Imm[12|10:5]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[4:1|11]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269580"/>
                  </a:ext>
                </a:extLst>
              </a:tr>
              <a:tr h="3079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Imm[12|10:5]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[4:1|11]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317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Imm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[12|10:5]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[4:1|11]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1100011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53873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17CBA48-B6F4-4600-9198-C18C3E16DF2C}"/>
              </a:ext>
            </a:extLst>
          </p:cNvPr>
          <p:cNvSpPr txBox="1"/>
          <p:nvPr/>
        </p:nvSpPr>
        <p:spPr>
          <a:xfrm>
            <a:off x="2128795" y="154346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25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B20B63-6BF0-4BE2-9783-DD4995F4E315}"/>
              </a:ext>
            </a:extLst>
          </p:cNvPr>
          <p:cNvSpPr txBox="1"/>
          <p:nvPr/>
        </p:nvSpPr>
        <p:spPr>
          <a:xfrm>
            <a:off x="2609121" y="154346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24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D35111-5124-4896-A5FF-DD2AFB6B82C1}"/>
              </a:ext>
            </a:extLst>
          </p:cNvPr>
          <p:cNvSpPr txBox="1"/>
          <p:nvPr/>
        </p:nvSpPr>
        <p:spPr>
          <a:xfrm>
            <a:off x="3813837" y="154346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20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E9679E-39D6-45D3-A236-932710A26425}"/>
              </a:ext>
            </a:extLst>
          </p:cNvPr>
          <p:cNvSpPr txBox="1"/>
          <p:nvPr/>
        </p:nvSpPr>
        <p:spPr>
          <a:xfrm>
            <a:off x="4217027" y="154026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19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84FA32-C311-412B-8C6F-EC869D6CC23F}"/>
              </a:ext>
            </a:extLst>
          </p:cNvPr>
          <p:cNvSpPr txBox="1"/>
          <p:nvPr/>
        </p:nvSpPr>
        <p:spPr>
          <a:xfrm>
            <a:off x="5421743" y="154026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15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A5BF93-414B-4AF8-88D8-547C35906144}"/>
              </a:ext>
            </a:extLst>
          </p:cNvPr>
          <p:cNvSpPr txBox="1"/>
          <p:nvPr/>
        </p:nvSpPr>
        <p:spPr>
          <a:xfrm>
            <a:off x="5793027" y="154026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14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103060-3842-415E-92CC-ED626530448C}"/>
              </a:ext>
            </a:extLst>
          </p:cNvPr>
          <p:cNvSpPr txBox="1"/>
          <p:nvPr/>
        </p:nvSpPr>
        <p:spPr>
          <a:xfrm>
            <a:off x="6749918" y="154026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E8FD32-C82E-4C4C-AEB1-4F2D98211632}"/>
              </a:ext>
            </a:extLst>
          </p:cNvPr>
          <p:cNvSpPr txBox="1"/>
          <p:nvPr/>
        </p:nvSpPr>
        <p:spPr>
          <a:xfrm>
            <a:off x="7162116" y="154026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11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FB81D0-4519-4080-9FD5-FF4827044B85}"/>
              </a:ext>
            </a:extLst>
          </p:cNvPr>
          <p:cNvSpPr txBox="1"/>
          <p:nvPr/>
        </p:nvSpPr>
        <p:spPr>
          <a:xfrm>
            <a:off x="8641898" y="154026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7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A4CA82-D5CB-4CE1-9D68-47CE00DE4FB4}"/>
              </a:ext>
            </a:extLst>
          </p:cNvPr>
          <p:cNvSpPr txBox="1"/>
          <p:nvPr/>
        </p:nvSpPr>
        <p:spPr>
          <a:xfrm>
            <a:off x="10518458" y="154026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61E7C85-4728-4675-AAD3-95D969D3D1DD}"/>
              </a:ext>
            </a:extLst>
          </p:cNvPr>
          <p:cNvSpPr txBox="1"/>
          <p:nvPr/>
        </p:nvSpPr>
        <p:spPr>
          <a:xfrm>
            <a:off x="8999633" y="154025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6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4A0430-CCE6-4507-A73F-41D700CE4E68}"/>
              </a:ext>
            </a:extLst>
          </p:cNvPr>
          <p:cNvSpPr txBox="1"/>
          <p:nvPr/>
        </p:nvSpPr>
        <p:spPr>
          <a:xfrm>
            <a:off x="10838413" y="1962352"/>
            <a:ext cx="966931" cy="37709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lui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auipc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J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jal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jalr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beq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bne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blt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bge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bltu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bgeu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A02D97-8A03-42BF-896E-7E0E0040D70D}"/>
              </a:ext>
            </a:extLst>
          </p:cNvPr>
          <p:cNvSpPr txBox="1"/>
          <p:nvPr/>
        </p:nvSpPr>
        <p:spPr>
          <a:xfrm>
            <a:off x="195928" y="5686653"/>
            <a:ext cx="108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ea typeface="宋体" pitchFamily="2" charset="-122"/>
              </a:rPr>
              <a:t>这一页的指令除 </a:t>
            </a:r>
            <a:r>
              <a:rPr lang="en-US" altLang="zh-CN" b="1" dirty="0" err="1">
                <a:ea typeface="宋体" pitchFamily="2" charset="-122"/>
              </a:rPr>
              <a:t>lui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zh-CN" altLang="en-US" b="1" dirty="0">
                <a:ea typeface="宋体" pitchFamily="2" charset="-122"/>
              </a:rPr>
              <a:t>外与数据通路关系不大，主要负责控制程序计数器 </a:t>
            </a:r>
            <a:r>
              <a:rPr lang="en-US" altLang="zh-CN" b="1" dirty="0">
                <a:ea typeface="宋体" pitchFamily="2" charset="-122"/>
              </a:rPr>
              <a:t>(Program Counter, PC) </a:t>
            </a:r>
            <a:r>
              <a:rPr lang="zh-CN" altLang="en-US" b="1" dirty="0">
                <a:ea typeface="宋体" pitchFamily="2" charset="-122"/>
              </a:rPr>
              <a:t>的跳转。</a:t>
            </a:r>
            <a:endParaRPr lang="en-US" altLang="zh-CN" b="1" dirty="0">
              <a:ea typeface="宋体" pitchFamily="2" charset="-122"/>
            </a:endParaRPr>
          </a:p>
          <a:p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ea typeface="宋体" pitchFamily="2" charset="-122"/>
              </a:rPr>
              <a:t>本课程这部分指令不作为教学重点。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670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回顾：五级流水线 </a:t>
            </a:r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516DA3C-1940-4F14-BDDC-FDF13BB7D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352" y="1272330"/>
            <a:ext cx="6768752" cy="4547214"/>
          </a:xfrm>
          <a:prstGeom prst="rect">
            <a:avLst/>
          </a:prstGeom>
        </p:spPr>
      </p:pic>
      <p:sp>
        <p:nvSpPr>
          <p:cNvPr id="5" name="Rectangle 170">
            <a:extLst>
              <a:ext uri="{FF2B5EF4-FFF2-40B4-BE49-F238E27FC236}">
                <a16:creationId xmlns:a16="http://schemas.microsoft.com/office/drawing/2014/main" id="{B6EBB8E5-5E26-4A1E-945D-2D6CFE1C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316" y="228797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IF</a:t>
            </a:r>
          </a:p>
        </p:txBody>
      </p:sp>
      <p:sp>
        <p:nvSpPr>
          <p:cNvPr id="6" name="Rectangle 171">
            <a:extLst>
              <a:ext uri="{FF2B5EF4-FFF2-40B4-BE49-F238E27FC236}">
                <a16:creationId xmlns:a16="http://schemas.microsoft.com/office/drawing/2014/main" id="{7C29FE48-DED6-4DF4-AFE6-8A0B75B4E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576" y="228797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ID</a:t>
            </a:r>
          </a:p>
        </p:txBody>
      </p:sp>
      <p:sp>
        <p:nvSpPr>
          <p:cNvPr id="7" name="Rectangle 172">
            <a:extLst>
              <a:ext uri="{FF2B5EF4-FFF2-40B4-BE49-F238E27FC236}">
                <a16:creationId xmlns:a16="http://schemas.microsoft.com/office/drawing/2014/main" id="{BD999BF1-31AD-472E-9339-544BF5E7B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836" y="228797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EXE</a:t>
            </a:r>
          </a:p>
        </p:txBody>
      </p:sp>
      <p:sp>
        <p:nvSpPr>
          <p:cNvPr id="8" name="Rectangle 173">
            <a:extLst>
              <a:ext uri="{FF2B5EF4-FFF2-40B4-BE49-F238E27FC236}">
                <a16:creationId xmlns:a16="http://schemas.microsoft.com/office/drawing/2014/main" id="{9B03204A-5364-4010-A3AD-CB16F22A7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7096" y="228797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-10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MEM</a:t>
            </a:r>
          </a:p>
        </p:txBody>
      </p:sp>
      <p:sp>
        <p:nvSpPr>
          <p:cNvPr id="9" name="Rectangle 174">
            <a:extLst>
              <a:ext uri="{FF2B5EF4-FFF2-40B4-BE49-F238E27FC236}">
                <a16:creationId xmlns:a16="http://schemas.microsoft.com/office/drawing/2014/main" id="{F4579FE9-0194-4359-B3FA-E64827E6D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576" y="260609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IF</a:t>
            </a:r>
          </a:p>
        </p:txBody>
      </p:sp>
      <p:sp>
        <p:nvSpPr>
          <p:cNvPr id="10" name="Rectangle 175">
            <a:extLst>
              <a:ext uri="{FF2B5EF4-FFF2-40B4-BE49-F238E27FC236}">
                <a16:creationId xmlns:a16="http://schemas.microsoft.com/office/drawing/2014/main" id="{2EE11106-5401-436E-9FEE-273AD611D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836" y="260609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ID</a:t>
            </a:r>
          </a:p>
        </p:txBody>
      </p:sp>
      <p:sp>
        <p:nvSpPr>
          <p:cNvPr id="11" name="Rectangle 176">
            <a:extLst>
              <a:ext uri="{FF2B5EF4-FFF2-40B4-BE49-F238E27FC236}">
                <a16:creationId xmlns:a16="http://schemas.microsoft.com/office/drawing/2014/main" id="{E4118170-09F2-4770-8E4B-CDBEDA2E7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7096" y="260609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EXE</a:t>
            </a:r>
          </a:p>
        </p:txBody>
      </p:sp>
      <p:sp>
        <p:nvSpPr>
          <p:cNvPr id="12" name="Rectangle 177">
            <a:extLst>
              <a:ext uri="{FF2B5EF4-FFF2-40B4-BE49-F238E27FC236}">
                <a16:creationId xmlns:a16="http://schemas.microsoft.com/office/drawing/2014/main" id="{D93A7957-3D40-4D34-BC6A-ECBE11DDC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6356" y="260609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-10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MEM</a:t>
            </a:r>
          </a:p>
        </p:txBody>
      </p:sp>
      <p:sp>
        <p:nvSpPr>
          <p:cNvPr id="13" name="Rectangle 181">
            <a:extLst>
              <a:ext uri="{FF2B5EF4-FFF2-40B4-BE49-F238E27FC236}">
                <a16:creationId xmlns:a16="http://schemas.microsoft.com/office/drawing/2014/main" id="{A5B339CB-6EF5-40B4-8423-7DB6C3168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31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14" name="Rectangle 182">
            <a:extLst>
              <a:ext uri="{FF2B5EF4-FFF2-40B4-BE49-F238E27FC236}">
                <a16:creationId xmlns:a16="http://schemas.microsoft.com/office/drawing/2014/main" id="{6EBC5A1D-2170-4D03-B763-59CABDB8B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57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15" name="Rectangle 183">
            <a:extLst>
              <a:ext uri="{FF2B5EF4-FFF2-40B4-BE49-F238E27FC236}">
                <a16:creationId xmlns:a16="http://schemas.microsoft.com/office/drawing/2014/main" id="{0CE186F8-41BD-43B9-BE3A-5CBF99EF1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83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16" name="Rectangle 184">
            <a:extLst>
              <a:ext uri="{FF2B5EF4-FFF2-40B4-BE49-F238E27FC236}">
                <a16:creationId xmlns:a16="http://schemas.microsoft.com/office/drawing/2014/main" id="{855219C1-CED5-49F1-AFFB-A68647C34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709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17" name="Rectangle 185">
            <a:extLst>
              <a:ext uri="{FF2B5EF4-FFF2-40B4-BE49-F238E27FC236}">
                <a16:creationId xmlns:a16="http://schemas.microsoft.com/office/drawing/2014/main" id="{7070A830-6A4B-4B77-9537-C8866D940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635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4</a:t>
            </a:r>
          </a:p>
        </p:txBody>
      </p:sp>
      <p:sp>
        <p:nvSpPr>
          <p:cNvPr id="18" name="Rectangle 186">
            <a:extLst>
              <a:ext uri="{FF2B5EF4-FFF2-40B4-BE49-F238E27FC236}">
                <a16:creationId xmlns:a16="http://schemas.microsoft.com/office/drawing/2014/main" id="{74CD5E38-EE98-4EC2-A992-3961F4454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863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5</a:t>
            </a:r>
          </a:p>
        </p:txBody>
      </p:sp>
      <p:sp>
        <p:nvSpPr>
          <p:cNvPr id="19" name="Rectangle 191">
            <a:extLst>
              <a:ext uri="{FF2B5EF4-FFF2-40B4-BE49-F238E27FC236}">
                <a16:creationId xmlns:a16="http://schemas.microsoft.com/office/drawing/2014/main" id="{C4827C16-8D6C-4BA6-8E4B-D08857859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056" y="260609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Inst</a:t>
            </a:r>
            <a:r>
              <a:rPr lang="en-US" altLang="en-US" sz="20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j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" name="Rectangle 199">
            <a:extLst>
              <a:ext uri="{FF2B5EF4-FFF2-40B4-BE49-F238E27FC236}">
                <a16:creationId xmlns:a16="http://schemas.microsoft.com/office/drawing/2014/main" id="{4408AB69-D8C3-4317-A465-F65F3D740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6356" y="228797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WB</a:t>
            </a:r>
          </a:p>
        </p:txBody>
      </p:sp>
      <p:sp>
        <p:nvSpPr>
          <p:cNvPr id="21" name="Rectangle 200">
            <a:extLst>
              <a:ext uri="{FF2B5EF4-FFF2-40B4-BE49-F238E27FC236}">
                <a16:creationId xmlns:a16="http://schemas.microsoft.com/office/drawing/2014/main" id="{9153E9D2-13CC-440E-9208-D5B64093A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5616" y="260609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WB</a:t>
            </a:r>
          </a:p>
        </p:txBody>
      </p:sp>
      <p:sp>
        <p:nvSpPr>
          <p:cNvPr id="23" name="Rectangle 203">
            <a:extLst>
              <a:ext uri="{FF2B5EF4-FFF2-40B4-BE49-F238E27FC236}">
                <a16:creationId xmlns:a16="http://schemas.microsoft.com/office/drawing/2014/main" id="{3944E918-69C4-497C-8561-390218271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9264" y="1926134"/>
            <a:ext cx="80340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Rectangle 174">
            <a:extLst>
              <a:ext uri="{FF2B5EF4-FFF2-40B4-BE49-F238E27FC236}">
                <a16:creationId xmlns:a16="http://schemas.microsoft.com/office/drawing/2014/main" id="{A2AC2C04-A5A7-4452-B796-C7B9E31F7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836" y="292421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IF</a:t>
            </a:r>
          </a:p>
        </p:txBody>
      </p:sp>
      <p:sp>
        <p:nvSpPr>
          <p:cNvPr id="26" name="Rectangle 175">
            <a:extLst>
              <a:ext uri="{FF2B5EF4-FFF2-40B4-BE49-F238E27FC236}">
                <a16:creationId xmlns:a16="http://schemas.microsoft.com/office/drawing/2014/main" id="{B5B6BE33-0890-42E8-93BA-33C016328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7096" y="292421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ID</a:t>
            </a:r>
          </a:p>
        </p:txBody>
      </p:sp>
      <p:sp>
        <p:nvSpPr>
          <p:cNvPr id="27" name="Rectangle 176">
            <a:extLst>
              <a:ext uri="{FF2B5EF4-FFF2-40B4-BE49-F238E27FC236}">
                <a16:creationId xmlns:a16="http://schemas.microsoft.com/office/drawing/2014/main" id="{1781812B-4387-4884-8013-167F0D0A1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6356" y="292421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EXE</a:t>
            </a:r>
          </a:p>
        </p:txBody>
      </p:sp>
      <p:sp>
        <p:nvSpPr>
          <p:cNvPr id="28" name="Rectangle 177">
            <a:extLst>
              <a:ext uri="{FF2B5EF4-FFF2-40B4-BE49-F238E27FC236}">
                <a16:creationId xmlns:a16="http://schemas.microsoft.com/office/drawing/2014/main" id="{A23A713F-BD92-42EE-B8FA-6DC19283D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5616" y="292421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-10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MEM</a:t>
            </a: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39D10A81-F2A5-40F7-A69D-CE43DF3A2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056" y="292421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Inst</a:t>
            </a:r>
            <a:r>
              <a:rPr kumimoji="0" lang="en-US" alt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k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" name="Rectangle 200">
            <a:extLst>
              <a:ext uri="{FF2B5EF4-FFF2-40B4-BE49-F238E27FC236}">
                <a16:creationId xmlns:a16="http://schemas.microsoft.com/office/drawing/2014/main" id="{F0ADE0DC-6C2D-4153-AC46-4C6359CB2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4876" y="292421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WB</a:t>
            </a:r>
          </a:p>
        </p:txBody>
      </p:sp>
      <p:sp>
        <p:nvSpPr>
          <p:cNvPr id="31" name="AutoShape 187">
            <a:extLst>
              <a:ext uri="{FF2B5EF4-FFF2-40B4-BE49-F238E27FC236}">
                <a16:creationId xmlns:a16="http://schemas.microsoft.com/office/drawing/2014/main" id="{432CF8D8-EB56-43FC-9744-E1E80EF2B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5199" y="2261964"/>
            <a:ext cx="645568" cy="88032"/>
          </a:xfrm>
          <a:prstGeom prst="rightArrow">
            <a:avLst>
              <a:gd name="adj1" fmla="val 50000"/>
              <a:gd name="adj2" fmla="val 183333"/>
            </a:avLst>
          </a:prstGeom>
          <a:solidFill>
            <a:schemeClr val="tx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" name="Rectangle 203">
            <a:extLst>
              <a:ext uri="{FF2B5EF4-FFF2-40B4-BE49-F238E27FC236}">
                <a16:creationId xmlns:a16="http://schemas.microsoft.com/office/drawing/2014/main" id="{91A5EABB-1CBC-44A9-A22C-9B1C75ED4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056" y="2273643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Inst</a:t>
            </a:r>
            <a:r>
              <a:rPr lang="en-US" altLang="en-US" sz="20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0AA6053-8376-47C4-A3D5-96E21B3D912A}"/>
              </a:ext>
            </a:extLst>
          </p:cNvPr>
          <p:cNvSpPr txBox="1"/>
          <p:nvPr/>
        </p:nvSpPr>
        <p:spPr>
          <a:xfrm>
            <a:off x="6851476" y="3364617"/>
            <a:ext cx="47540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1">
              <a:spcBef>
                <a:spcPts val="672"/>
              </a:spcBef>
              <a:buFontTx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这一设计假定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操作均只需要一个周期完成。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5279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回顾：五级流水线 </a:t>
            </a:r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516DA3C-1940-4F14-BDDC-FDF13BB7D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352" y="1272330"/>
            <a:ext cx="6768752" cy="4547214"/>
          </a:xfrm>
          <a:prstGeom prst="rect">
            <a:avLst/>
          </a:prstGeom>
        </p:spPr>
      </p:pic>
      <p:sp>
        <p:nvSpPr>
          <p:cNvPr id="5" name="Rectangle 170">
            <a:extLst>
              <a:ext uri="{FF2B5EF4-FFF2-40B4-BE49-F238E27FC236}">
                <a16:creationId xmlns:a16="http://schemas.microsoft.com/office/drawing/2014/main" id="{B6EBB8E5-5E26-4A1E-945D-2D6CFE1C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316" y="228797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IF</a:t>
            </a:r>
          </a:p>
        </p:txBody>
      </p:sp>
      <p:sp>
        <p:nvSpPr>
          <p:cNvPr id="6" name="Rectangle 171">
            <a:extLst>
              <a:ext uri="{FF2B5EF4-FFF2-40B4-BE49-F238E27FC236}">
                <a16:creationId xmlns:a16="http://schemas.microsoft.com/office/drawing/2014/main" id="{7C29FE48-DED6-4DF4-AFE6-8A0B75B4E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576" y="228797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ID</a:t>
            </a:r>
          </a:p>
        </p:txBody>
      </p:sp>
      <p:sp>
        <p:nvSpPr>
          <p:cNvPr id="7" name="Rectangle 172">
            <a:extLst>
              <a:ext uri="{FF2B5EF4-FFF2-40B4-BE49-F238E27FC236}">
                <a16:creationId xmlns:a16="http://schemas.microsoft.com/office/drawing/2014/main" id="{BD999BF1-31AD-472E-9339-544BF5E7B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836" y="228797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EXE</a:t>
            </a:r>
          </a:p>
        </p:txBody>
      </p:sp>
      <p:sp>
        <p:nvSpPr>
          <p:cNvPr id="8" name="Rectangle 173">
            <a:extLst>
              <a:ext uri="{FF2B5EF4-FFF2-40B4-BE49-F238E27FC236}">
                <a16:creationId xmlns:a16="http://schemas.microsoft.com/office/drawing/2014/main" id="{9B03204A-5364-4010-A3AD-CB16F22A7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7096" y="228797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-10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MEM</a:t>
            </a:r>
          </a:p>
        </p:txBody>
      </p:sp>
      <p:sp>
        <p:nvSpPr>
          <p:cNvPr id="9" name="Rectangle 174">
            <a:extLst>
              <a:ext uri="{FF2B5EF4-FFF2-40B4-BE49-F238E27FC236}">
                <a16:creationId xmlns:a16="http://schemas.microsoft.com/office/drawing/2014/main" id="{F4579FE9-0194-4359-B3FA-E64827E6D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576" y="260609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IF</a:t>
            </a:r>
          </a:p>
        </p:txBody>
      </p:sp>
      <p:sp>
        <p:nvSpPr>
          <p:cNvPr id="10" name="Rectangle 175">
            <a:extLst>
              <a:ext uri="{FF2B5EF4-FFF2-40B4-BE49-F238E27FC236}">
                <a16:creationId xmlns:a16="http://schemas.microsoft.com/office/drawing/2014/main" id="{2EE11106-5401-436E-9FEE-273AD611D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836" y="260609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ID</a:t>
            </a:r>
          </a:p>
        </p:txBody>
      </p:sp>
      <p:sp>
        <p:nvSpPr>
          <p:cNvPr id="11" name="Rectangle 176">
            <a:extLst>
              <a:ext uri="{FF2B5EF4-FFF2-40B4-BE49-F238E27FC236}">
                <a16:creationId xmlns:a16="http://schemas.microsoft.com/office/drawing/2014/main" id="{E4118170-09F2-4770-8E4B-CDBEDA2E7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7096" y="260609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EXE</a:t>
            </a:r>
          </a:p>
        </p:txBody>
      </p:sp>
      <p:sp>
        <p:nvSpPr>
          <p:cNvPr id="12" name="Rectangle 177">
            <a:extLst>
              <a:ext uri="{FF2B5EF4-FFF2-40B4-BE49-F238E27FC236}">
                <a16:creationId xmlns:a16="http://schemas.microsoft.com/office/drawing/2014/main" id="{D93A7957-3D40-4D34-BC6A-ECBE11DDC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6356" y="260609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-10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MEM</a:t>
            </a:r>
          </a:p>
        </p:txBody>
      </p:sp>
      <p:sp>
        <p:nvSpPr>
          <p:cNvPr id="13" name="Rectangle 181">
            <a:extLst>
              <a:ext uri="{FF2B5EF4-FFF2-40B4-BE49-F238E27FC236}">
                <a16:creationId xmlns:a16="http://schemas.microsoft.com/office/drawing/2014/main" id="{A5B339CB-6EF5-40B4-8423-7DB6C3168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31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14" name="Rectangle 182">
            <a:extLst>
              <a:ext uri="{FF2B5EF4-FFF2-40B4-BE49-F238E27FC236}">
                <a16:creationId xmlns:a16="http://schemas.microsoft.com/office/drawing/2014/main" id="{6EBC5A1D-2170-4D03-B763-59CABDB8B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57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15" name="Rectangle 183">
            <a:extLst>
              <a:ext uri="{FF2B5EF4-FFF2-40B4-BE49-F238E27FC236}">
                <a16:creationId xmlns:a16="http://schemas.microsoft.com/office/drawing/2014/main" id="{0CE186F8-41BD-43B9-BE3A-5CBF99EF1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83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16" name="Rectangle 184">
            <a:extLst>
              <a:ext uri="{FF2B5EF4-FFF2-40B4-BE49-F238E27FC236}">
                <a16:creationId xmlns:a16="http://schemas.microsoft.com/office/drawing/2014/main" id="{855219C1-CED5-49F1-AFFB-A68647C34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709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17" name="Rectangle 185">
            <a:extLst>
              <a:ext uri="{FF2B5EF4-FFF2-40B4-BE49-F238E27FC236}">
                <a16:creationId xmlns:a16="http://schemas.microsoft.com/office/drawing/2014/main" id="{7070A830-6A4B-4B77-9537-C8866D940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635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4</a:t>
            </a:r>
          </a:p>
        </p:txBody>
      </p:sp>
      <p:sp>
        <p:nvSpPr>
          <p:cNvPr id="18" name="Rectangle 186">
            <a:extLst>
              <a:ext uri="{FF2B5EF4-FFF2-40B4-BE49-F238E27FC236}">
                <a16:creationId xmlns:a16="http://schemas.microsoft.com/office/drawing/2014/main" id="{74CD5E38-EE98-4EC2-A992-3961F4454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8636" y="191683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t</a:t>
            </a:r>
            <a:r>
              <a:rPr kumimoji="0" lang="en-US" alt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5</a:t>
            </a:r>
          </a:p>
        </p:txBody>
      </p:sp>
      <p:sp>
        <p:nvSpPr>
          <p:cNvPr id="19" name="Rectangle 191">
            <a:extLst>
              <a:ext uri="{FF2B5EF4-FFF2-40B4-BE49-F238E27FC236}">
                <a16:creationId xmlns:a16="http://schemas.microsoft.com/office/drawing/2014/main" id="{C4827C16-8D6C-4BA6-8E4B-D08857859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056" y="260609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Inst</a:t>
            </a:r>
            <a:r>
              <a:rPr lang="en-US" altLang="en-US" sz="20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j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" name="Rectangle 199">
            <a:extLst>
              <a:ext uri="{FF2B5EF4-FFF2-40B4-BE49-F238E27FC236}">
                <a16:creationId xmlns:a16="http://schemas.microsoft.com/office/drawing/2014/main" id="{4408AB69-D8C3-4317-A465-F65F3D740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6356" y="228797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WB</a:t>
            </a:r>
          </a:p>
        </p:txBody>
      </p:sp>
      <p:sp>
        <p:nvSpPr>
          <p:cNvPr id="21" name="Rectangle 200">
            <a:extLst>
              <a:ext uri="{FF2B5EF4-FFF2-40B4-BE49-F238E27FC236}">
                <a16:creationId xmlns:a16="http://schemas.microsoft.com/office/drawing/2014/main" id="{9153E9D2-13CC-440E-9208-D5B64093A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5616" y="260609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WB</a:t>
            </a:r>
          </a:p>
        </p:txBody>
      </p:sp>
      <p:sp>
        <p:nvSpPr>
          <p:cNvPr id="23" name="Rectangle 203">
            <a:extLst>
              <a:ext uri="{FF2B5EF4-FFF2-40B4-BE49-F238E27FC236}">
                <a16:creationId xmlns:a16="http://schemas.microsoft.com/office/drawing/2014/main" id="{3944E918-69C4-497C-8561-390218271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9264" y="1926134"/>
            <a:ext cx="80340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Rectangle 174">
            <a:extLst>
              <a:ext uri="{FF2B5EF4-FFF2-40B4-BE49-F238E27FC236}">
                <a16:creationId xmlns:a16="http://schemas.microsoft.com/office/drawing/2014/main" id="{A2AC2C04-A5A7-4452-B796-C7B9E31F7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836" y="292421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IF</a:t>
            </a:r>
          </a:p>
        </p:txBody>
      </p:sp>
      <p:sp>
        <p:nvSpPr>
          <p:cNvPr id="26" name="Rectangle 175">
            <a:extLst>
              <a:ext uri="{FF2B5EF4-FFF2-40B4-BE49-F238E27FC236}">
                <a16:creationId xmlns:a16="http://schemas.microsoft.com/office/drawing/2014/main" id="{B5B6BE33-0890-42E8-93BA-33C016328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7096" y="292421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ID</a:t>
            </a:r>
          </a:p>
        </p:txBody>
      </p:sp>
      <p:sp>
        <p:nvSpPr>
          <p:cNvPr id="27" name="Rectangle 176">
            <a:extLst>
              <a:ext uri="{FF2B5EF4-FFF2-40B4-BE49-F238E27FC236}">
                <a16:creationId xmlns:a16="http://schemas.microsoft.com/office/drawing/2014/main" id="{1781812B-4387-4884-8013-167F0D0A1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6356" y="292421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EXE</a:t>
            </a:r>
          </a:p>
        </p:txBody>
      </p:sp>
      <p:sp>
        <p:nvSpPr>
          <p:cNvPr id="28" name="Rectangle 177">
            <a:extLst>
              <a:ext uri="{FF2B5EF4-FFF2-40B4-BE49-F238E27FC236}">
                <a16:creationId xmlns:a16="http://schemas.microsoft.com/office/drawing/2014/main" id="{A23A713F-BD92-42EE-B8FA-6DC19283D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5616" y="292421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-10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MEM</a:t>
            </a: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39D10A81-F2A5-40F7-A69D-CE43DF3A2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056" y="2924212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Inst</a:t>
            </a:r>
            <a:r>
              <a:rPr kumimoji="0" lang="en-US" alt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k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" name="Rectangle 200">
            <a:extLst>
              <a:ext uri="{FF2B5EF4-FFF2-40B4-BE49-F238E27FC236}">
                <a16:creationId xmlns:a16="http://schemas.microsoft.com/office/drawing/2014/main" id="{F0ADE0DC-6C2D-4153-AC46-4C6359CB2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4876" y="2924212"/>
            <a:ext cx="636240" cy="2651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WB</a:t>
            </a:r>
          </a:p>
        </p:txBody>
      </p:sp>
      <p:sp>
        <p:nvSpPr>
          <p:cNvPr id="31" name="AutoShape 187">
            <a:extLst>
              <a:ext uri="{FF2B5EF4-FFF2-40B4-BE49-F238E27FC236}">
                <a16:creationId xmlns:a16="http://schemas.microsoft.com/office/drawing/2014/main" id="{432CF8D8-EB56-43FC-9744-E1E80EF2B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5199" y="2261964"/>
            <a:ext cx="645568" cy="88032"/>
          </a:xfrm>
          <a:prstGeom prst="rightArrow">
            <a:avLst>
              <a:gd name="adj1" fmla="val 50000"/>
              <a:gd name="adj2" fmla="val 183333"/>
            </a:avLst>
          </a:prstGeom>
          <a:solidFill>
            <a:schemeClr val="tx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" name="Rectangle 203">
            <a:extLst>
              <a:ext uri="{FF2B5EF4-FFF2-40B4-BE49-F238E27FC236}">
                <a16:creationId xmlns:a16="http://schemas.microsoft.com/office/drawing/2014/main" id="{91A5EABB-1CBC-44A9-A22C-9B1C75ED4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056" y="2273643"/>
            <a:ext cx="636240" cy="2651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Inst</a:t>
            </a:r>
            <a:r>
              <a:rPr lang="en-US" altLang="en-US" sz="20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AE1FE2F-B923-44D2-B127-D8903147B0F0}"/>
              </a:ext>
            </a:extLst>
          </p:cNvPr>
          <p:cNvSpPr txBox="1"/>
          <p:nvPr/>
        </p:nvSpPr>
        <p:spPr>
          <a:xfrm>
            <a:off x="6851476" y="3364617"/>
            <a:ext cx="4754029" cy="172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1">
              <a:spcBef>
                <a:spcPts val="672"/>
              </a:spcBef>
              <a:buFontTx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这一设计假定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操作均只需要一个周期完成。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spcBef>
                <a:spcPts val="672"/>
              </a:spcBef>
              <a:buFontTx/>
              <a:buChar char="•"/>
            </a:pP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真实的 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中，不同操作所需的时间是不同的。访存和一些逻辑复杂的操作往往需要</a:t>
            </a:r>
            <a:r>
              <a:rPr lang="zh-CN" altLang="en-US" sz="2000" b="1" u="sng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多个周期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完成！</a:t>
            </a:r>
            <a:endParaRPr lang="en-US" altLang="zh-CN" sz="24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9549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任务：添加自定义</a:t>
            </a:r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SAMV</a:t>
            </a:r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4400" dirty="0">
              <a:solidFill>
                <a:srgbClr val="19A1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AE1FE2F-B923-44D2-B127-D8903147B0F0}"/>
              </a:ext>
            </a:extLst>
          </p:cNvPr>
          <p:cNvSpPr txBox="1"/>
          <p:nvPr/>
        </p:nvSpPr>
        <p:spPr>
          <a:xfrm>
            <a:off x="335360" y="1772816"/>
            <a:ext cx="11089232" cy="417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芯片中，为了更高的能效比，往往会为特定的算子（如向量、矩阵操作、卷积、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attention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等）设计专门的计算单元、用单条指令支持一个特定计算。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7200" lvl="2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后续的课程将会对此进行详细的介绍。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其中，矩阵乘法操作在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中有着重要作用。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本实验的任务是为流水线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添加一条在</a:t>
            </a:r>
            <a:r>
              <a:rPr lang="zh-CN" altLang="en-US" sz="2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脉动阵列</a:t>
            </a:r>
            <a:r>
              <a:rPr lang="en-US" altLang="zh-CN" sz="2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(systolic array)</a:t>
            </a:r>
            <a:r>
              <a:rPr lang="zh-CN" altLang="en-US" sz="2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上运行的矩阵与向量乘积的计算</a:t>
            </a:r>
            <a:r>
              <a:rPr lang="en-US" altLang="zh-CN" sz="24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(SAMV)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指令，其中，我们可以利用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位数分别表示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的矩阵与向量，之后用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1X2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的向量与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2X2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的矩阵相乘。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3886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本实验的自定义指令</a:t>
            </a:r>
            <a:endParaRPr lang="en-US" altLang="zh-CN" sz="4400" dirty="0">
              <a:solidFill>
                <a:srgbClr val="19A1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FF0443-342A-4E37-95C9-EF9CF0E32A75}"/>
              </a:ext>
            </a:extLst>
          </p:cNvPr>
          <p:cNvSpPr txBox="1"/>
          <p:nvPr/>
        </p:nvSpPr>
        <p:spPr>
          <a:xfrm>
            <a:off x="195928" y="154346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31</a:t>
            </a:r>
            <a:endParaRPr lang="zh-CN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57D1EC7-E094-485B-88D3-27B6D412C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629992"/>
              </p:ext>
            </p:extLst>
          </p:nvPr>
        </p:nvGraphicFramePr>
        <p:xfrm>
          <a:off x="256587" y="2001928"/>
          <a:ext cx="10513170" cy="56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89975214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88156090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49177015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272508983"/>
                    </a:ext>
                  </a:extLst>
                </a:gridCol>
                <a:gridCol w="1776199">
                  <a:extLst>
                    <a:ext uri="{9D8B030D-6E8A-4147-A177-3AD203B41FA5}">
                      <a16:colId xmlns:a16="http://schemas.microsoft.com/office/drawing/2014/main" val="1296180533"/>
                    </a:ext>
                  </a:extLst>
                </a:gridCol>
                <a:gridCol w="1752195">
                  <a:extLst>
                    <a:ext uri="{9D8B030D-6E8A-4147-A177-3AD203B41FA5}">
                      <a16:colId xmlns:a16="http://schemas.microsoft.com/office/drawing/2014/main" val="2006375592"/>
                    </a:ext>
                  </a:extLst>
                </a:gridCol>
              </a:tblGrid>
              <a:tr h="569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0000000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rs2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rs1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000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/>
                        <a:t>rd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0101011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12423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23D43BB-C3D8-49A4-9BDA-B0EDDD648225}"/>
              </a:ext>
            </a:extLst>
          </p:cNvPr>
          <p:cNvSpPr txBox="1"/>
          <p:nvPr/>
        </p:nvSpPr>
        <p:spPr>
          <a:xfrm>
            <a:off x="2128795" y="154346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25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AF4DB9-A41D-4885-B015-5D99DB4848E6}"/>
              </a:ext>
            </a:extLst>
          </p:cNvPr>
          <p:cNvSpPr txBox="1"/>
          <p:nvPr/>
        </p:nvSpPr>
        <p:spPr>
          <a:xfrm>
            <a:off x="2609121" y="154346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24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B22F8E-8BEF-4E4E-990D-161ED450F7B3}"/>
              </a:ext>
            </a:extLst>
          </p:cNvPr>
          <p:cNvSpPr txBox="1"/>
          <p:nvPr/>
        </p:nvSpPr>
        <p:spPr>
          <a:xfrm>
            <a:off x="3813837" y="154346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20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80F6D8-10E6-451A-B6B6-0DCCDAD37A72}"/>
              </a:ext>
            </a:extLst>
          </p:cNvPr>
          <p:cNvSpPr txBox="1"/>
          <p:nvPr/>
        </p:nvSpPr>
        <p:spPr>
          <a:xfrm>
            <a:off x="4217027" y="154026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19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7E7FC2-858E-48EE-852B-385088A3B581}"/>
              </a:ext>
            </a:extLst>
          </p:cNvPr>
          <p:cNvSpPr txBox="1"/>
          <p:nvPr/>
        </p:nvSpPr>
        <p:spPr>
          <a:xfrm>
            <a:off x="5421743" y="154026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15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39CFBF-A21E-4351-9545-EB9758459ABD}"/>
              </a:ext>
            </a:extLst>
          </p:cNvPr>
          <p:cNvSpPr txBox="1"/>
          <p:nvPr/>
        </p:nvSpPr>
        <p:spPr>
          <a:xfrm>
            <a:off x="5793027" y="154026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14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BB532A4-433C-4EAE-A0B2-F81B44A6E57A}"/>
              </a:ext>
            </a:extLst>
          </p:cNvPr>
          <p:cNvSpPr txBox="1"/>
          <p:nvPr/>
        </p:nvSpPr>
        <p:spPr>
          <a:xfrm>
            <a:off x="6749918" y="154026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8F8B29C-0EAF-4BAA-B191-49586EC1FEAD}"/>
              </a:ext>
            </a:extLst>
          </p:cNvPr>
          <p:cNvSpPr txBox="1"/>
          <p:nvPr/>
        </p:nvSpPr>
        <p:spPr>
          <a:xfrm>
            <a:off x="7162116" y="154026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11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F5E560-7831-47AD-A810-74EE19ECCE54}"/>
              </a:ext>
            </a:extLst>
          </p:cNvPr>
          <p:cNvSpPr txBox="1"/>
          <p:nvPr/>
        </p:nvSpPr>
        <p:spPr>
          <a:xfrm>
            <a:off x="8641898" y="154026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7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9A07DE-B9F0-41D7-B14F-15126AB09F13}"/>
              </a:ext>
            </a:extLst>
          </p:cNvPr>
          <p:cNvSpPr txBox="1"/>
          <p:nvPr/>
        </p:nvSpPr>
        <p:spPr>
          <a:xfrm>
            <a:off x="10518458" y="154026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68AE21-358E-48B3-8E86-A6202436F3E8}"/>
              </a:ext>
            </a:extLst>
          </p:cNvPr>
          <p:cNvSpPr txBox="1"/>
          <p:nvPr/>
        </p:nvSpPr>
        <p:spPr>
          <a:xfrm>
            <a:off x="8999633" y="154025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6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389AFD-1154-4C50-BF1E-A9BA6F4E480E}"/>
              </a:ext>
            </a:extLst>
          </p:cNvPr>
          <p:cNvSpPr txBox="1"/>
          <p:nvPr/>
        </p:nvSpPr>
        <p:spPr>
          <a:xfrm>
            <a:off x="11151451" y="2048228"/>
            <a:ext cx="940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samv</a:t>
            </a:r>
            <a:endParaRPr lang="zh-CN" altLang="en-US" sz="28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E7A50EE-EEB9-4CBB-8396-AA20DE21B19E}"/>
              </a:ext>
            </a:extLst>
          </p:cNvPr>
          <p:cNvSpPr txBox="1"/>
          <p:nvPr/>
        </p:nvSpPr>
        <p:spPr>
          <a:xfrm>
            <a:off x="10849639" y="205797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  <a:endParaRPr lang="zh-CN" alt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458391EA-D0E2-46F5-98C9-716BDEF8878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593372" y="2802632"/>
            <a:ext cx="11263268" cy="1922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p"/>
              <a:defRPr sz="1800" b="0" kern="120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SzPct val="50000"/>
              <a:buFont typeface="Wingdings" pitchFamily="2" charset="2"/>
              <a:buChar char="n"/>
              <a:defRPr sz="1600" kern="120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1"/>
              </a:buClr>
              <a:buSzPct val="50000"/>
              <a:buFont typeface="Wingdings" pitchFamily="2" charset="2"/>
              <a:buChar char="p"/>
              <a:defRPr sz="1400" kern="120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SAMV </a:t>
            </a:r>
            <a:r>
              <a:rPr lang="en-US" altLang="zh-CN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rs1, rs2                x[</a:t>
            </a:r>
            <a:r>
              <a:rPr lang="en-US" altLang="zh-CN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= (x[r1][7:4]*x[r2][15:12]+ x[r1][3:0]*x[r2][7:4])&lt;&lt;16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	 + x[r1][7:4]*x[r2][11:8]+ x[r1][3:0]*x[r2][3:0]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中的数值视作包含 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uint4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元素的向量，将 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中的数值视作包含 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uint4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元素的矩阵，将向量与矩阵相乘的结果写回到 </a:t>
            </a:r>
            <a:r>
              <a:rPr lang="en-US" altLang="zh-CN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D59641-03A2-4A74-B9E6-F092E40FF4D3}"/>
              </a:ext>
            </a:extLst>
          </p:cNvPr>
          <p:cNvSpPr txBox="1"/>
          <p:nvPr/>
        </p:nvSpPr>
        <p:spPr>
          <a:xfrm>
            <a:off x="593372" y="5085184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我们将用多个周期实现向量的向量矩阵乘计算。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7B4E83-283B-932C-4EDD-FC66031BBB7C}"/>
                  </a:ext>
                </a:extLst>
              </p:cNvPr>
              <p:cNvSpPr txBox="1"/>
              <p:nvPr/>
            </p:nvSpPr>
            <p:spPr>
              <a:xfrm>
                <a:off x="6384032" y="4888405"/>
                <a:ext cx="4996111" cy="554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𝑏𝑟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𝑎𝑞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7B4E83-283B-932C-4EDD-FC66031BB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32" y="4888405"/>
                <a:ext cx="4996111" cy="5546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51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Multicycle Execution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AE1FE2F-B923-44D2-B127-D8903147B0F0}"/>
              </a:ext>
            </a:extLst>
          </p:cNvPr>
          <p:cNvSpPr txBox="1"/>
          <p:nvPr/>
        </p:nvSpPr>
        <p:spPr>
          <a:xfrm>
            <a:off x="335360" y="3879832"/>
            <a:ext cx="11089232" cy="177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思想：不同的指令在不同的单元上执行。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设计分为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个阶段，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IF/ID/WB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和五级流水线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一致，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操作、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load / store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内存和自定义的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42E4DD7-B53B-4837-8440-5A5A69B34A97}"/>
              </a:ext>
            </a:extLst>
          </p:cNvPr>
          <p:cNvGrpSpPr/>
          <p:nvPr/>
        </p:nvGrpSpPr>
        <p:grpSpPr>
          <a:xfrm>
            <a:off x="2783632" y="1426170"/>
            <a:ext cx="5946775" cy="2346325"/>
            <a:chOff x="356704" y="1426170"/>
            <a:chExt cx="5946775" cy="2346325"/>
          </a:xfrm>
        </p:grpSpPr>
        <p:grpSp>
          <p:nvGrpSpPr>
            <p:cNvPr id="82" name="Group 4">
              <a:extLst>
                <a:ext uri="{FF2B5EF4-FFF2-40B4-BE49-F238E27FC236}">
                  <a16:creationId xmlns:a16="http://schemas.microsoft.com/office/drawing/2014/main" id="{E45D922E-DF89-4991-8E42-68E2AC87D9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704" y="2377083"/>
              <a:ext cx="804863" cy="369887"/>
              <a:chOff x="1001099" y="4100530"/>
              <a:chExt cx="805656" cy="369887"/>
            </a:xfrm>
          </p:grpSpPr>
          <p:sp>
            <p:nvSpPr>
              <p:cNvPr id="126" name="Rectangle 10">
                <a:extLst>
                  <a:ext uri="{FF2B5EF4-FFF2-40B4-BE49-F238E27FC236}">
                    <a16:creationId xmlns:a16="http://schemas.microsoft.com/office/drawing/2014/main" id="{3D9873B2-171E-488E-AC3A-ABEEDF237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27" name="Rectangle 11">
                <a:extLst>
                  <a:ext uri="{FF2B5EF4-FFF2-40B4-BE49-F238E27FC236}">
                    <a16:creationId xmlns:a16="http://schemas.microsoft.com/office/drawing/2014/main" id="{863C9879-FE45-4D26-BCD4-B57BA9498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</a:t>
                </a:r>
              </a:p>
            </p:txBody>
          </p:sp>
        </p:grpSp>
        <p:sp>
          <p:nvSpPr>
            <p:cNvPr id="83" name="Rectangle 12">
              <a:extLst>
                <a:ext uri="{FF2B5EF4-FFF2-40B4-BE49-F238E27FC236}">
                  <a16:creationId xmlns:a16="http://schemas.microsoft.com/office/drawing/2014/main" id="{140CBBE0-983E-4422-9C82-26DDA7686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554" y="1515070"/>
              <a:ext cx="401638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84" name="Rectangle 13">
              <a:extLst>
                <a:ext uri="{FF2B5EF4-FFF2-40B4-BE49-F238E27FC236}">
                  <a16:creationId xmlns:a16="http://schemas.microsoft.com/office/drawing/2014/main" id="{2CD7FAEB-F897-49B9-AE61-450A870D8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0254" y="2213570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</a:t>
              </a:r>
            </a:p>
          </p:txBody>
        </p:sp>
        <p:grpSp>
          <p:nvGrpSpPr>
            <p:cNvPr id="85" name="Group 9">
              <a:extLst>
                <a:ext uri="{FF2B5EF4-FFF2-40B4-BE49-F238E27FC236}">
                  <a16:creationId xmlns:a16="http://schemas.microsoft.com/office/drawing/2014/main" id="{9AD0F440-3D1D-4589-B9BB-A0C7FF39D6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6554" y="2562820"/>
              <a:ext cx="3222625" cy="369888"/>
              <a:chOff x="2783717" y="3915586"/>
              <a:chExt cx="3222624" cy="369887"/>
            </a:xfrm>
          </p:grpSpPr>
          <p:sp>
            <p:nvSpPr>
              <p:cNvPr id="118" name="Rectangle 12">
                <a:extLst>
                  <a:ext uri="{FF2B5EF4-FFF2-40B4-BE49-F238E27FC236}">
                    <a16:creationId xmlns:a16="http://schemas.microsoft.com/office/drawing/2014/main" id="{88F43372-5E95-4309-A704-14E4994C2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19" name="Rectangle 12">
                <a:extLst>
                  <a:ext uri="{FF2B5EF4-FFF2-40B4-BE49-F238E27FC236}">
                    <a16:creationId xmlns:a16="http://schemas.microsoft.com/office/drawing/2014/main" id="{9F2540B0-6EEE-4256-8BC5-A804F572E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20" name="Rectangle 12">
                <a:extLst>
                  <a:ext uri="{FF2B5EF4-FFF2-40B4-BE49-F238E27FC236}">
                    <a16:creationId xmlns:a16="http://schemas.microsoft.com/office/drawing/2014/main" id="{631E75B7-4185-4210-8F8A-D0B725730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21" name="Rectangle 13">
                <a:extLst>
                  <a:ext uri="{FF2B5EF4-FFF2-40B4-BE49-F238E27FC236}">
                    <a16:creationId xmlns:a16="http://schemas.microsoft.com/office/drawing/2014/main" id="{60E81A80-F7BB-4C81-BC6F-4A0AB3497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22" name="Rectangle 12">
                <a:extLst>
                  <a:ext uri="{FF2B5EF4-FFF2-40B4-BE49-F238E27FC236}">
                    <a16:creationId xmlns:a16="http://schemas.microsoft.com/office/drawing/2014/main" id="{CFD0ABB7-FBE0-407F-B699-92974F728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5029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23" name="Rectangle 12">
                <a:extLst>
                  <a:ext uri="{FF2B5EF4-FFF2-40B4-BE49-F238E27FC236}">
                    <a16:creationId xmlns:a16="http://schemas.microsoft.com/office/drawing/2014/main" id="{FCCA49B9-F386-4B9C-B540-8DEC8CEF3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785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24" name="Rectangle 12">
                <a:extLst>
                  <a:ext uri="{FF2B5EF4-FFF2-40B4-BE49-F238E27FC236}">
                    <a16:creationId xmlns:a16="http://schemas.microsoft.com/office/drawing/2014/main" id="{CE960282-6A20-4C9B-91B5-1A9E946CA2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068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25" name="Rectangle 17">
                <a:extLst>
                  <a:ext uri="{FF2B5EF4-FFF2-40B4-BE49-F238E27FC236}">
                    <a16:creationId xmlns:a16="http://schemas.microsoft.com/office/drawing/2014/main" id="{95E11000-03A4-4364-9936-DC97291C4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351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</p:grpSp>
        <p:grpSp>
          <p:nvGrpSpPr>
            <p:cNvPr id="86" name="Group 18">
              <a:extLst>
                <a:ext uri="{FF2B5EF4-FFF2-40B4-BE49-F238E27FC236}">
                  <a16:creationId xmlns:a16="http://schemas.microsoft.com/office/drawing/2014/main" id="{D3B7A881-C73C-499B-BDB2-BB93794845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6554" y="2031008"/>
              <a:ext cx="1611313" cy="374650"/>
              <a:chOff x="2783717" y="3915586"/>
              <a:chExt cx="1611312" cy="374488"/>
            </a:xfrm>
          </p:grpSpPr>
          <p:sp>
            <p:nvSpPr>
              <p:cNvPr id="114" name="Rectangle 12">
                <a:extLst>
                  <a:ext uri="{FF2B5EF4-FFF2-40B4-BE49-F238E27FC236}">
                    <a16:creationId xmlns:a16="http://schemas.microsoft.com/office/drawing/2014/main" id="{4BD8EABA-B610-470C-ADB9-941840380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20187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15" name="Rectangle 12">
                <a:extLst>
                  <a:ext uri="{FF2B5EF4-FFF2-40B4-BE49-F238E27FC236}">
                    <a16:creationId xmlns:a16="http://schemas.microsoft.com/office/drawing/2014/main" id="{A906A63A-A8E6-4956-BF31-2A00F8FCA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16" name="Rectangle 12">
                <a:extLst>
                  <a:ext uri="{FF2B5EF4-FFF2-40B4-BE49-F238E27FC236}">
                    <a16:creationId xmlns:a16="http://schemas.microsoft.com/office/drawing/2014/main" id="{76AB5338-1A5C-44F8-AAF7-07ECF98577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17" name="Rectangle 12">
                <a:extLst>
                  <a:ext uri="{FF2B5EF4-FFF2-40B4-BE49-F238E27FC236}">
                    <a16:creationId xmlns:a16="http://schemas.microsoft.com/office/drawing/2014/main" id="{36A81B42-2894-4C53-A050-71E3EB4FD6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</p:grpSp>
        <p:grpSp>
          <p:nvGrpSpPr>
            <p:cNvPr id="87" name="Group 23">
              <a:extLst>
                <a:ext uri="{FF2B5EF4-FFF2-40B4-BE49-F238E27FC236}">
                  <a16:creationId xmlns:a16="http://schemas.microsoft.com/office/drawing/2014/main" id="{B41D3D93-C804-47B9-BFAF-6744EAE68C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6554" y="2932708"/>
              <a:ext cx="3903663" cy="523875"/>
              <a:chOff x="2783717" y="5184853"/>
              <a:chExt cx="3904221" cy="523220"/>
            </a:xfrm>
          </p:grpSpPr>
          <p:grpSp>
            <p:nvGrpSpPr>
              <p:cNvPr id="104" name="Group 24">
                <a:extLst>
                  <a:ext uri="{FF2B5EF4-FFF2-40B4-BE49-F238E27FC236}">
                    <a16:creationId xmlns:a16="http://schemas.microsoft.com/office/drawing/2014/main" id="{013087DF-51EC-4391-B54F-94D07F640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3717" y="5338186"/>
                <a:ext cx="3222624" cy="369887"/>
                <a:chOff x="2783717" y="3915586"/>
                <a:chExt cx="3222624" cy="369887"/>
              </a:xfrm>
            </p:grpSpPr>
            <p:sp>
              <p:nvSpPr>
                <p:cNvPr id="106" name="Rectangle 12">
                  <a:extLst>
                    <a:ext uri="{FF2B5EF4-FFF2-40B4-BE49-F238E27FC236}">
                      <a16:creationId xmlns:a16="http://schemas.microsoft.com/office/drawing/2014/main" id="{80381E74-C3AB-46E2-AD28-E322375EE9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3717" y="3915586"/>
                  <a:ext cx="402828" cy="36988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itchFamily="2" charset="2"/>
                    <a:buChar char="q"/>
                    <a:defRPr sz="22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q"/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E</a:t>
                  </a:r>
                </a:p>
              </p:txBody>
            </p:sp>
            <p:sp>
              <p:nvSpPr>
                <p:cNvPr id="107" name="Rectangle 12">
                  <a:extLst>
                    <a:ext uri="{FF2B5EF4-FFF2-40B4-BE49-F238E27FC236}">
                      <a16:creationId xmlns:a16="http://schemas.microsoft.com/office/drawing/2014/main" id="{F40AD0EE-1838-4182-A819-B41DF4AE54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6545" y="3915586"/>
                  <a:ext cx="402828" cy="36988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itchFamily="2" charset="2"/>
                    <a:buChar char="q"/>
                    <a:defRPr sz="22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q"/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E</a:t>
                  </a:r>
                </a:p>
              </p:txBody>
            </p:sp>
            <p:sp>
              <p:nvSpPr>
                <p:cNvPr id="108" name="Rectangle 12">
                  <a:extLst>
                    <a:ext uri="{FF2B5EF4-FFF2-40B4-BE49-F238E27FC236}">
                      <a16:creationId xmlns:a16="http://schemas.microsoft.com/office/drawing/2014/main" id="{62C3D374-B962-4924-936B-0E67AEA795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89373" y="3915586"/>
                  <a:ext cx="402828" cy="36988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itchFamily="2" charset="2"/>
                    <a:buChar char="q"/>
                    <a:defRPr sz="22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q"/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E</a:t>
                  </a:r>
                </a:p>
              </p:txBody>
            </p:sp>
            <p:sp>
              <p:nvSpPr>
                <p:cNvPr id="109" name="Rectangle 29">
                  <a:extLst>
                    <a:ext uri="{FF2B5EF4-FFF2-40B4-BE49-F238E27FC236}">
                      <a16:creationId xmlns:a16="http://schemas.microsoft.com/office/drawing/2014/main" id="{CF5AD2CB-FE02-476C-A818-1FD00957CF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2201" y="3915586"/>
                  <a:ext cx="402828" cy="36988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itchFamily="2" charset="2"/>
                    <a:buChar char="q"/>
                    <a:defRPr sz="22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q"/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E</a:t>
                  </a:r>
                </a:p>
              </p:txBody>
            </p:sp>
            <p:sp>
              <p:nvSpPr>
                <p:cNvPr id="110" name="Rectangle 12">
                  <a:extLst>
                    <a:ext uri="{FF2B5EF4-FFF2-40B4-BE49-F238E27FC236}">
                      <a16:creationId xmlns:a16="http://schemas.microsoft.com/office/drawing/2014/main" id="{9F1DEA39-5C26-4434-B53D-D34F1F6314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95029" y="3915586"/>
                  <a:ext cx="402828" cy="36988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itchFamily="2" charset="2"/>
                    <a:buChar char="q"/>
                    <a:defRPr sz="22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q"/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E</a:t>
                  </a:r>
                </a:p>
              </p:txBody>
            </p:sp>
            <p:sp>
              <p:nvSpPr>
                <p:cNvPr id="111" name="Rectangle 12">
                  <a:extLst>
                    <a:ext uri="{FF2B5EF4-FFF2-40B4-BE49-F238E27FC236}">
                      <a16:creationId xmlns:a16="http://schemas.microsoft.com/office/drawing/2014/main" id="{C4E0703C-7E24-4BD3-85B1-40B7BEC440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7857" y="3915586"/>
                  <a:ext cx="402828" cy="36988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itchFamily="2" charset="2"/>
                    <a:buChar char="q"/>
                    <a:defRPr sz="22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q"/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E</a:t>
                  </a:r>
                </a:p>
              </p:txBody>
            </p:sp>
            <p:sp>
              <p:nvSpPr>
                <p:cNvPr id="112" name="Rectangle 12">
                  <a:extLst>
                    <a:ext uri="{FF2B5EF4-FFF2-40B4-BE49-F238E27FC236}">
                      <a16:creationId xmlns:a16="http://schemas.microsoft.com/office/drawing/2014/main" id="{DFB884B1-483F-4D74-BA60-4DC0624E8C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00685" y="3915586"/>
                  <a:ext cx="402828" cy="36988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itchFamily="2" charset="2"/>
                    <a:buChar char="q"/>
                    <a:defRPr sz="22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q"/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E</a:t>
                  </a:r>
                </a:p>
              </p:txBody>
            </p:sp>
            <p:sp>
              <p:nvSpPr>
                <p:cNvPr id="113" name="Rectangle 33">
                  <a:extLst>
                    <a:ext uri="{FF2B5EF4-FFF2-40B4-BE49-F238E27FC236}">
                      <a16:creationId xmlns:a16="http://schemas.microsoft.com/office/drawing/2014/main" id="{BAA457BB-60C7-407C-B819-422956FE81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03513" y="3915586"/>
                  <a:ext cx="402828" cy="369887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itchFamily="2" charset="2"/>
                    <a:buChar char="q"/>
                    <a:defRPr sz="22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q"/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E</a:t>
                  </a:r>
                </a:p>
              </p:txBody>
            </p:sp>
          </p:grpSp>
          <p:sp>
            <p:nvSpPr>
              <p:cNvPr id="105" name="TextBox 25">
                <a:extLst>
                  <a:ext uri="{FF2B5EF4-FFF2-40B4-BE49-F238E27FC236}">
                    <a16:creationId xmlns:a16="http://schemas.microsoft.com/office/drawing/2014/main" id="{760C9645-A5FF-47D7-BF1C-86FDB26300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6341" y="5184853"/>
                <a:ext cx="68159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. . .</a:t>
                </a:r>
              </a:p>
            </p:txBody>
          </p:sp>
        </p:grpSp>
        <p:cxnSp>
          <p:nvCxnSpPr>
            <p:cNvPr id="88" name="Straight Connector 34">
              <a:extLst>
                <a:ext uri="{FF2B5EF4-FFF2-40B4-BE49-F238E27FC236}">
                  <a16:creationId xmlns:a16="http://schemas.microsoft.com/office/drawing/2014/main" id="{F80A66F7-2AF7-494B-8090-701CFDE8D8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61567" y="2562820"/>
              <a:ext cx="244475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Straight Connector 35">
              <a:extLst>
                <a:ext uri="{FF2B5EF4-FFF2-40B4-BE49-F238E27FC236}">
                  <a16:creationId xmlns:a16="http://schemas.microsoft.com/office/drawing/2014/main" id="{218796CF-56B2-4E08-BAAC-3DD652EE91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01973" y="2476301"/>
              <a:ext cx="16065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Straight Arrow Connector 36">
              <a:extLst>
                <a:ext uri="{FF2B5EF4-FFF2-40B4-BE49-F238E27FC236}">
                  <a16:creationId xmlns:a16="http://schemas.microsoft.com/office/drawing/2014/main" id="{DF34F3B9-E7B0-49DF-BB12-BB2BF710C7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06042" y="3280370"/>
              <a:ext cx="290512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1" name="Straight Arrow Connector 37">
              <a:extLst>
                <a:ext uri="{FF2B5EF4-FFF2-40B4-BE49-F238E27FC236}">
                  <a16:creationId xmlns:a16="http://schemas.microsoft.com/office/drawing/2014/main" id="{6FB784BB-3457-48FA-9137-FAE5B94CB9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06042" y="2746970"/>
              <a:ext cx="29051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" name="Straight Arrow Connector 38">
              <a:extLst>
                <a:ext uri="{FF2B5EF4-FFF2-40B4-BE49-F238E27FC236}">
                  <a16:creationId xmlns:a16="http://schemas.microsoft.com/office/drawing/2014/main" id="{2DA1D8BB-A00E-419F-932A-D3890D6524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13979" y="1673820"/>
              <a:ext cx="28892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" name="Straight Arrow Connector 39">
              <a:extLst>
                <a:ext uri="{FF2B5EF4-FFF2-40B4-BE49-F238E27FC236}">
                  <a16:creationId xmlns:a16="http://schemas.microsoft.com/office/drawing/2014/main" id="{499408DE-BFD0-4F45-B614-EAC4EE49C3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12392" y="2219920"/>
              <a:ext cx="28892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Straight Connector 40">
              <a:extLst>
                <a:ext uri="{FF2B5EF4-FFF2-40B4-BE49-F238E27FC236}">
                  <a16:creationId xmlns:a16="http://schemas.microsoft.com/office/drawing/2014/main" id="{42961F87-0544-47CF-B21D-6501BB6A0B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886636" y="2477889"/>
              <a:ext cx="160655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Straight Arrow Connector 41">
              <a:extLst>
                <a:ext uri="{FF2B5EF4-FFF2-40B4-BE49-F238E27FC236}">
                  <a16:creationId xmlns:a16="http://schemas.microsoft.com/office/drawing/2014/main" id="{50E8414E-5449-4C7A-8B99-A837BAFE4A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90704" y="2405658"/>
              <a:ext cx="234950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Straight Arrow Connector 42">
              <a:extLst>
                <a:ext uri="{FF2B5EF4-FFF2-40B4-BE49-F238E27FC236}">
                  <a16:creationId xmlns:a16="http://schemas.microsoft.com/office/drawing/2014/main" id="{043C0117-8969-4682-8360-E7432A236B10}"/>
                </a:ext>
              </a:extLst>
            </p:cNvPr>
            <p:cNvCxnSpPr>
              <a:cxnSpLocks noChangeShapeType="1"/>
              <a:stCxn id="83" idx="3"/>
            </p:cNvCxnSpPr>
            <p:nvPr/>
          </p:nvCxnSpPr>
          <p:spPr bwMode="auto">
            <a:xfrm>
              <a:off x="2098192" y="1700808"/>
              <a:ext cx="3592512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Straight Arrow Connector 43">
              <a:extLst>
                <a:ext uri="{FF2B5EF4-FFF2-40B4-BE49-F238E27FC236}">
                  <a16:creationId xmlns:a16="http://schemas.microsoft.com/office/drawing/2014/main" id="{4B287434-120E-45D2-987A-5C22EBA83D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07867" y="2215158"/>
              <a:ext cx="2382837" cy="4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Straight Arrow Connector 44">
              <a:extLst>
                <a:ext uri="{FF2B5EF4-FFF2-40B4-BE49-F238E27FC236}">
                  <a16:creationId xmlns:a16="http://schemas.microsoft.com/office/drawing/2014/main" id="{6B33D547-171F-4237-83A2-4DFD231A74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19179" y="2746970"/>
              <a:ext cx="77152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Straight Arrow Connector 45">
              <a:extLst>
                <a:ext uri="{FF2B5EF4-FFF2-40B4-BE49-F238E27FC236}">
                  <a16:creationId xmlns:a16="http://schemas.microsoft.com/office/drawing/2014/main" id="{B4B11B2B-E0A9-4CAD-8738-BDF8E70001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89092" y="3281958"/>
              <a:ext cx="201612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0" name="TextBox 46">
              <a:extLst>
                <a:ext uri="{FF2B5EF4-FFF2-40B4-BE49-F238E27FC236}">
                  <a16:creationId xmlns:a16="http://schemas.microsoft.com/office/drawing/2014/main" id="{2EEEF46B-8CCD-423D-9895-F47D16C1A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8367" y="1426170"/>
              <a:ext cx="108902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Integer add</a:t>
              </a:r>
            </a:p>
          </p:txBody>
        </p:sp>
        <p:sp>
          <p:nvSpPr>
            <p:cNvPr id="101" name="TextBox 47">
              <a:extLst>
                <a:ext uri="{FF2B5EF4-FFF2-40B4-BE49-F238E27FC236}">
                  <a16:creationId xmlns:a16="http://schemas.microsoft.com/office/drawing/2014/main" id="{53001134-2D6E-47D7-847E-6B05C0AB0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6929" y="1821458"/>
              <a:ext cx="10795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Integer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mul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Box 48">
              <a:extLst>
                <a:ext uri="{FF2B5EF4-FFF2-40B4-BE49-F238E27FC236}">
                  <a16:creationId xmlns:a16="http://schemas.microsoft.com/office/drawing/2014/main" id="{82029AE1-2E46-416C-97B9-3C1ACA3CA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9179" y="2377083"/>
              <a:ext cx="74771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FP mul</a:t>
              </a:r>
            </a:p>
          </p:txBody>
        </p:sp>
        <p:sp>
          <p:nvSpPr>
            <p:cNvPr id="103" name="TextBox 49">
              <a:extLst>
                <a:ext uri="{FF2B5EF4-FFF2-40B4-BE49-F238E27FC236}">
                  <a16:creationId xmlns:a16="http://schemas.microsoft.com/office/drawing/2014/main" id="{44411296-C611-4527-B1D9-467FA3519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404" y="3464520"/>
              <a:ext cx="122078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Load/store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6934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4A53C36-CD1D-403A-B901-ED45A249F58F}"/>
              </a:ext>
            </a:extLst>
          </p:cNvPr>
          <p:cNvSpPr/>
          <p:nvPr/>
        </p:nvSpPr>
        <p:spPr>
          <a:xfrm>
            <a:off x="8760296" y="4453745"/>
            <a:ext cx="1512168" cy="991479"/>
          </a:xfrm>
          <a:prstGeom prst="roundRect">
            <a:avLst>
              <a:gd name="adj" fmla="val 918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833A7FE-CD68-4DAC-95D3-0CAE345C8622}"/>
              </a:ext>
            </a:extLst>
          </p:cNvPr>
          <p:cNvSpPr/>
          <p:nvPr/>
        </p:nvSpPr>
        <p:spPr>
          <a:xfrm>
            <a:off x="9552384" y="4021697"/>
            <a:ext cx="1224136" cy="415415"/>
          </a:xfrm>
          <a:prstGeom prst="roundRect">
            <a:avLst>
              <a:gd name="adj" fmla="val 918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F619F1B-9BFC-4B61-AF41-AD55BB7011C9}"/>
              </a:ext>
            </a:extLst>
          </p:cNvPr>
          <p:cNvSpPr/>
          <p:nvPr/>
        </p:nvSpPr>
        <p:spPr>
          <a:xfrm>
            <a:off x="9552384" y="2924944"/>
            <a:ext cx="1224136" cy="1080120"/>
          </a:xfrm>
          <a:prstGeom prst="roundRect">
            <a:avLst>
              <a:gd name="adj" fmla="val 918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0E68E6A-CDC0-4856-9359-B0F685F61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392" y="332656"/>
            <a:ext cx="9340619" cy="954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Multicycle Execution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C24482B-02E1-4176-8831-F72A71762E8F}"/>
              </a:ext>
            </a:extLst>
          </p:cNvPr>
          <p:cNvSpPr txBox="1"/>
          <p:nvPr/>
        </p:nvSpPr>
        <p:spPr>
          <a:xfrm>
            <a:off x="9964011" y="488056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内存</a:t>
            </a:r>
            <a:endParaRPr lang="en-US" altLang="zh-CN" dirty="0">
              <a:solidFill>
                <a:schemeClr val="accent4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访存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34CD77A-58B8-4534-8C94-EBC33FD79B37}"/>
              </a:ext>
            </a:extLst>
          </p:cNvPr>
          <p:cNvSpPr txBox="1"/>
          <p:nvPr/>
        </p:nvSpPr>
        <p:spPr>
          <a:xfrm>
            <a:off x="335359" y="1506063"/>
            <a:ext cx="4896545" cy="288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ALU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load/store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乘均放在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阶段完成。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图中冒险检测和转发模块的输入均省略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本实验冒险检测和转发模块均已给出，无需实现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D2865D-22E4-43EB-A307-C5E0E398A117}"/>
              </a:ext>
            </a:extLst>
          </p:cNvPr>
          <p:cNvSpPr txBox="1"/>
          <p:nvPr/>
        </p:nvSpPr>
        <p:spPr>
          <a:xfrm>
            <a:off x="10378115" y="2854067"/>
            <a:ext cx="55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ALU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A905ED5E-831A-C31E-799F-B39A819BB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9976" y="1704776"/>
            <a:ext cx="5419725" cy="460057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FD302AD-7948-405C-A923-D7B3EF205EF3}"/>
              </a:ext>
            </a:extLst>
          </p:cNvPr>
          <p:cNvSpPr txBox="1"/>
          <p:nvPr/>
        </p:nvSpPr>
        <p:spPr>
          <a:xfrm>
            <a:off x="10168998" y="4365104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3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SAMV</a:t>
            </a:r>
            <a:endParaRPr lang="zh-CN" altLang="en-US" dirty="0">
              <a:solidFill>
                <a:schemeClr val="accent3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216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833A7FE-CD68-4DAC-95D3-0CAE345C8622}"/>
              </a:ext>
            </a:extLst>
          </p:cNvPr>
          <p:cNvSpPr/>
          <p:nvPr/>
        </p:nvSpPr>
        <p:spPr>
          <a:xfrm>
            <a:off x="9552384" y="4021697"/>
            <a:ext cx="1224136" cy="487423"/>
          </a:xfrm>
          <a:prstGeom prst="roundRect">
            <a:avLst>
              <a:gd name="adj" fmla="val 918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D302AD-7948-405C-A923-D7B3EF205EF3}"/>
              </a:ext>
            </a:extLst>
          </p:cNvPr>
          <p:cNvSpPr txBox="1"/>
          <p:nvPr/>
        </p:nvSpPr>
        <p:spPr>
          <a:xfrm>
            <a:off x="10168998" y="4365104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3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SAMV</a:t>
            </a:r>
            <a:endParaRPr lang="zh-CN" altLang="en-US" dirty="0">
              <a:solidFill>
                <a:schemeClr val="accent3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34CD77A-58B8-4534-8C94-EBC33FD79B37}"/>
              </a:ext>
            </a:extLst>
          </p:cNvPr>
          <p:cNvSpPr txBox="1"/>
          <p:nvPr/>
        </p:nvSpPr>
        <p:spPr>
          <a:xfrm>
            <a:off x="335360" y="1506063"/>
            <a:ext cx="4945360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1">
              <a:spcBef>
                <a:spcPts val="672"/>
              </a:spcBef>
            </a:pPr>
            <a:r>
              <a:rPr lang="en-US" altLang="zh-CN" sz="2400" b="1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SAMV</a:t>
            </a:r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en-US" altLang="zh-CN" sz="2400" b="1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矩阵乘法操作由脉动阵列模块完成。但是，针对一次矩阵乘法，要通过多个时钟周期将数据传入脉动阵列进行计算。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本实验将采用一个 </a:t>
            </a:r>
            <a:r>
              <a:rPr lang="en-US" altLang="zh-CN" sz="24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操作的设计。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360F788-C5C1-44AD-8EE5-57FD8A53A5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392" y="332656"/>
            <a:ext cx="9340619" cy="954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Multicycle Execution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DF05A20C-5FA6-3E63-4A0A-B1BB688D6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5960" y="1575409"/>
            <a:ext cx="5763717" cy="489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963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777" y="242392"/>
            <a:ext cx="4420072" cy="954360"/>
          </a:xfrm>
        </p:spPr>
        <p:txBody>
          <a:bodyPr>
            <a:noAutofit/>
          </a:bodyPr>
          <a:lstStyle/>
          <a:p>
            <a:r>
              <a:rPr lang="zh-CN" altLang="en-US" sz="4400" dirty="0">
                <a:solidFill>
                  <a:srgbClr val="00B0F0"/>
                </a:solidFill>
                <a:effectLst/>
              </a:rPr>
              <a:t>脉动阵列：引入</a:t>
            </a:r>
            <a:endParaRPr lang="en-US" altLang="en-US" sz="4400" dirty="0">
              <a:solidFill>
                <a:srgbClr val="00B0F0"/>
              </a:solidFill>
              <a:effectLst/>
            </a:endParaRPr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64B3072C-F7E8-8F4D-824A-0BFB371E0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5445224"/>
            <a:ext cx="7658100" cy="527050"/>
          </a:xfrm>
        </p:spPr>
        <p:txBody>
          <a:bodyPr>
            <a:normAutofit fontScale="92500"/>
          </a:bodyPr>
          <a:lstStyle/>
          <a:p>
            <a:pPr marL="342900" lvl="1" indent="-342900">
              <a:buClr>
                <a:schemeClr val="accent1"/>
              </a:buClr>
              <a:buSzPct val="65000"/>
            </a:pPr>
            <a:r>
              <a:rPr lang="en-US" altLang="en-US" sz="1800" dirty="0">
                <a:ea typeface="ＭＳ Ｐゴシック" panose="020B0600070205080204" pitchFamily="34" charset="-128"/>
              </a:rPr>
              <a:t>H. T. Kung, “</a:t>
            </a:r>
            <a:r>
              <a:rPr lang="en-US" altLang="ja-JP" sz="1800" dirty="0">
                <a:ea typeface="ＭＳ Ｐゴシック" panose="020B0600070205080204" pitchFamily="34" charset="-128"/>
              </a:rPr>
              <a:t>Why Systolic Architectures?,</a:t>
            </a:r>
            <a:r>
              <a:rPr lang="en-US" altLang="en-US" sz="1800" dirty="0">
                <a:ea typeface="ＭＳ Ｐゴシック" panose="020B0600070205080204" pitchFamily="34" charset="-128"/>
              </a:rPr>
              <a:t>”</a:t>
            </a:r>
            <a:r>
              <a:rPr lang="en-US" altLang="ja-JP" sz="1800" dirty="0">
                <a:ea typeface="ＭＳ Ｐゴシック" panose="020B0600070205080204" pitchFamily="34" charset="-128"/>
              </a:rPr>
              <a:t> IEEE Computer 1982.</a:t>
            </a:r>
          </a:p>
          <a:p>
            <a:endParaRPr lang="en-US" altLang="en-US" sz="1800" dirty="0">
              <a:ea typeface="ＭＳ Ｐゴシック" panose="020B0600070205080204" pitchFamily="34" charset="-128"/>
            </a:endParaRPr>
          </a:p>
          <a:p>
            <a:endParaRPr lang="en-US" altLang="en-US" sz="1800" dirty="0">
              <a:ea typeface="ＭＳ Ｐゴシック" panose="020B0600070205080204" pitchFamily="34" charset="-128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7582F4-97F1-4FF7-9EB4-B319FCC29EE8}"/>
              </a:ext>
            </a:extLst>
          </p:cNvPr>
          <p:cNvSpPr/>
          <p:nvPr/>
        </p:nvSpPr>
        <p:spPr>
          <a:xfrm>
            <a:off x="3125674" y="2803629"/>
            <a:ext cx="1410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Bahnschrift Condensed" panose="020B0502040204020203" pitchFamily="34" charset="0"/>
              </a:rPr>
              <a:t>普通</a:t>
            </a:r>
            <a:r>
              <a:rPr lang="en-US" altLang="zh-CN" dirty="0">
                <a:solidFill>
                  <a:srgbClr val="C00000"/>
                </a:solidFill>
                <a:latin typeface="Bahnschrift Condensed" panose="020B0502040204020203" pitchFamily="34" charset="0"/>
              </a:rPr>
              <a:t>CPU</a:t>
            </a:r>
            <a:r>
              <a:rPr lang="zh-CN" altLang="en-US" dirty="0">
                <a:solidFill>
                  <a:srgbClr val="C00000"/>
                </a:solidFill>
                <a:latin typeface="Bahnschrift Condensed" panose="020B0502040204020203" pitchFamily="34" charset="0"/>
              </a:rPr>
              <a:t>结构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312FC4-0844-4DF9-8CB7-1BF9C392D6B9}"/>
              </a:ext>
            </a:extLst>
          </p:cNvPr>
          <p:cNvSpPr/>
          <p:nvPr/>
        </p:nvSpPr>
        <p:spPr>
          <a:xfrm>
            <a:off x="7360444" y="2804458"/>
            <a:ext cx="1590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Bahnschrift Condensed" panose="020B0502040204020203" pitchFamily="34" charset="0"/>
              </a:rPr>
              <a:t>脉动阵列架构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7CCD8EB-9256-4CB1-B54A-27CCA402E09D}"/>
              </a:ext>
            </a:extLst>
          </p:cNvPr>
          <p:cNvSpPr/>
          <p:nvPr/>
        </p:nvSpPr>
        <p:spPr bwMode="auto">
          <a:xfrm>
            <a:off x="3297756" y="1681595"/>
            <a:ext cx="1066800" cy="382089"/>
          </a:xfrm>
          <a:prstGeom prst="roundRect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Bahnschrift Condensed" panose="020B0502040204020203" pitchFamily="34" charset="0"/>
              </a:rPr>
              <a:t>Memory</a:t>
            </a:r>
            <a:endParaRPr lang="zh-CN" altLang="en-US" dirty="0">
              <a:latin typeface="Bahnschrift Condensed" panose="020B0502040204020203" pitchFamily="34" charset="0"/>
            </a:endParaRPr>
          </a:p>
        </p:txBody>
      </p:sp>
      <p:sp>
        <p:nvSpPr>
          <p:cNvPr id="67" name="Rectangle 9">
            <a:extLst>
              <a:ext uri="{FF2B5EF4-FFF2-40B4-BE49-F238E27FC236}">
                <a16:creationId xmlns:a16="http://schemas.microsoft.com/office/drawing/2014/main" id="{89C3F42F-29D9-41C6-95FA-5BC3FE57C9A6}"/>
              </a:ext>
            </a:extLst>
          </p:cNvPr>
          <p:cNvSpPr/>
          <p:nvPr/>
        </p:nvSpPr>
        <p:spPr>
          <a:xfrm>
            <a:off x="3584445" y="2323513"/>
            <a:ext cx="438338" cy="30588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PE</a:t>
            </a:r>
            <a:endParaRPr lang="en-CN" sz="1400" dirty="0">
              <a:solidFill>
                <a:schemeClr val="tx1"/>
              </a:solidFill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AF1980B8-71F8-4E91-83E7-6ADB80CDE205}"/>
              </a:ext>
            </a:extLst>
          </p:cNvPr>
          <p:cNvCxnSpPr>
            <a:stCxn id="5" idx="1"/>
            <a:endCxn id="67" idx="1"/>
          </p:cNvCxnSpPr>
          <p:nvPr/>
        </p:nvCxnSpPr>
        <p:spPr bwMode="auto">
          <a:xfrm rot="10800000" flipH="1" flipV="1">
            <a:off x="3297756" y="1872639"/>
            <a:ext cx="286689" cy="603818"/>
          </a:xfrm>
          <a:prstGeom prst="bentConnector3">
            <a:avLst>
              <a:gd name="adj1" fmla="val -79738"/>
            </a:avLst>
          </a:prstGeom>
          <a:solidFill>
            <a:srgbClr val="C0C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3A8CAB06-62DD-44CD-9453-DB6EC9863C3E}"/>
              </a:ext>
            </a:extLst>
          </p:cNvPr>
          <p:cNvCxnSpPr>
            <a:cxnSpLocks/>
            <a:endCxn id="5" idx="3"/>
          </p:cNvCxnSpPr>
          <p:nvPr/>
        </p:nvCxnSpPr>
        <p:spPr bwMode="auto">
          <a:xfrm rot="5400000" flipH="1" flipV="1">
            <a:off x="3900817" y="2012716"/>
            <a:ext cx="603816" cy="323662"/>
          </a:xfrm>
          <a:prstGeom prst="bentConnector4">
            <a:avLst>
              <a:gd name="adj1" fmla="val 676"/>
              <a:gd name="adj2" fmla="val 170629"/>
            </a:avLst>
          </a:prstGeom>
          <a:solidFill>
            <a:srgbClr val="C0C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E281D0F7-DB8A-4885-AFA9-9660D94B3FBA}"/>
              </a:ext>
            </a:extLst>
          </p:cNvPr>
          <p:cNvSpPr/>
          <p:nvPr/>
        </p:nvSpPr>
        <p:spPr bwMode="auto">
          <a:xfrm>
            <a:off x="7622294" y="1675365"/>
            <a:ext cx="1066800" cy="382089"/>
          </a:xfrm>
          <a:prstGeom prst="roundRect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Bahnschrift Condensed" panose="020B0502040204020203" pitchFamily="34" charset="0"/>
              </a:rPr>
              <a:t>Memory</a:t>
            </a:r>
            <a:endParaRPr lang="zh-CN" altLang="en-US" dirty="0">
              <a:latin typeface="Bahnschrift Condensed" panose="020B0502040204020203" pitchFamily="34" charset="0"/>
            </a:endParaRPr>
          </a:p>
        </p:txBody>
      </p:sp>
      <p:sp>
        <p:nvSpPr>
          <p:cNvPr id="75" name="Rectangle 9">
            <a:extLst>
              <a:ext uri="{FF2B5EF4-FFF2-40B4-BE49-F238E27FC236}">
                <a16:creationId xmlns:a16="http://schemas.microsoft.com/office/drawing/2014/main" id="{67C93470-2A92-42F7-A33B-11A5F6A07D36}"/>
              </a:ext>
            </a:extLst>
          </p:cNvPr>
          <p:cNvSpPr/>
          <p:nvPr/>
        </p:nvSpPr>
        <p:spPr>
          <a:xfrm>
            <a:off x="8348722" y="2280665"/>
            <a:ext cx="438338" cy="30588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PE3</a:t>
            </a:r>
            <a:endParaRPr lang="en-CN" sz="1400" dirty="0">
              <a:solidFill>
                <a:schemeClr val="tx1"/>
              </a:solidFill>
            </a:endParaRPr>
          </a:p>
        </p:txBody>
      </p: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01CF2923-9CEB-4075-AA30-FDA18DCE529C}"/>
              </a:ext>
            </a:extLst>
          </p:cNvPr>
          <p:cNvCxnSpPr>
            <a:cxnSpLocks/>
            <a:stCxn id="74" idx="1"/>
            <a:endCxn id="79" idx="1"/>
          </p:cNvCxnSpPr>
          <p:nvPr/>
        </p:nvCxnSpPr>
        <p:spPr bwMode="auto">
          <a:xfrm rot="10800000" flipV="1">
            <a:off x="7478574" y="1866409"/>
            <a:ext cx="143720" cy="565838"/>
          </a:xfrm>
          <a:prstGeom prst="bentConnector3">
            <a:avLst>
              <a:gd name="adj1" fmla="val 278766"/>
            </a:avLst>
          </a:prstGeom>
          <a:solidFill>
            <a:srgbClr val="C0C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4DB70C89-3FD9-4885-B985-4975E601FB3F}"/>
              </a:ext>
            </a:extLst>
          </p:cNvPr>
          <p:cNvCxnSpPr>
            <a:cxnSpLocks/>
            <a:stCxn id="75" idx="3"/>
            <a:endCxn id="74" idx="3"/>
          </p:cNvCxnSpPr>
          <p:nvPr/>
        </p:nvCxnSpPr>
        <p:spPr bwMode="auto">
          <a:xfrm flipH="1" flipV="1">
            <a:off x="8689094" y="1866409"/>
            <a:ext cx="97966" cy="567200"/>
          </a:xfrm>
          <a:prstGeom prst="bentConnector3">
            <a:avLst>
              <a:gd name="adj1" fmla="val -233346"/>
            </a:avLst>
          </a:prstGeom>
          <a:solidFill>
            <a:srgbClr val="C0C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8" name="Rectangle 9">
            <a:extLst>
              <a:ext uri="{FF2B5EF4-FFF2-40B4-BE49-F238E27FC236}">
                <a16:creationId xmlns:a16="http://schemas.microsoft.com/office/drawing/2014/main" id="{AA444D11-E5DF-4145-BB40-DB234CE2C34F}"/>
              </a:ext>
            </a:extLst>
          </p:cNvPr>
          <p:cNvSpPr/>
          <p:nvPr/>
        </p:nvSpPr>
        <p:spPr>
          <a:xfrm>
            <a:off x="7910384" y="2279984"/>
            <a:ext cx="438338" cy="30588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PE2</a:t>
            </a:r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79" name="Rectangle 9">
            <a:extLst>
              <a:ext uri="{FF2B5EF4-FFF2-40B4-BE49-F238E27FC236}">
                <a16:creationId xmlns:a16="http://schemas.microsoft.com/office/drawing/2014/main" id="{E98A6666-A24A-4582-87A8-48E6CEE6B141}"/>
              </a:ext>
            </a:extLst>
          </p:cNvPr>
          <p:cNvSpPr/>
          <p:nvPr/>
        </p:nvSpPr>
        <p:spPr>
          <a:xfrm>
            <a:off x="7478574" y="2279303"/>
            <a:ext cx="438338" cy="30588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PE1</a:t>
            </a:r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A68E0EB9-E9EC-4BAF-8850-59AFED946832}"/>
              </a:ext>
            </a:extLst>
          </p:cNvPr>
          <p:cNvSpPr txBox="1">
            <a:spLocks/>
          </p:cNvSpPr>
          <p:nvPr/>
        </p:nvSpPr>
        <p:spPr bwMode="auto">
          <a:xfrm>
            <a:off x="1828800" y="3348847"/>
            <a:ext cx="8299648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altLang="en-US" kern="0" dirty="0">
              <a:ea typeface="ＭＳ Ｐゴシック" panose="020B0600070205080204" pitchFamily="34" charset="-128"/>
            </a:endParaRPr>
          </a:p>
          <a:p>
            <a:r>
              <a:rPr lang="zh-CN" altLang="en-US" b="1" kern="0" dirty="0">
                <a:solidFill>
                  <a:schemeClr val="bg1">
                    <a:lumMod val="50000"/>
                  </a:schemeClr>
                </a:solidFill>
                <a:ea typeface="ＭＳ Ｐゴシック" panose="020B0600070205080204" pitchFamily="34" charset="-128"/>
              </a:rPr>
              <a:t>模拟</a:t>
            </a:r>
            <a:r>
              <a:rPr lang="en-US" altLang="en-US" kern="0" dirty="0">
                <a:ea typeface="ＭＳ Ｐゴシック" panose="020B0600070205080204" pitchFamily="34" charset="-128"/>
              </a:rPr>
              <a:t>: </a:t>
            </a:r>
            <a:r>
              <a:rPr lang="zh-CN" altLang="en-US" kern="0" dirty="0">
                <a:ea typeface="ＭＳ Ｐゴシック" panose="020B0600070205080204" pitchFamily="34" charset="-128"/>
              </a:rPr>
              <a:t>血流</a:t>
            </a:r>
            <a:r>
              <a:rPr lang="en-US" altLang="en-US" kern="0" dirty="0">
                <a:ea typeface="ＭＳ Ｐゴシック" panose="020B0600070205080204" pitchFamily="34" charset="-128"/>
              </a:rPr>
              <a:t> (</a:t>
            </a:r>
            <a:r>
              <a:rPr lang="zh-CN" altLang="en-US" kern="0" dirty="0">
                <a:ea typeface="ＭＳ Ｐゴシック" panose="020B0600070205080204" pitchFamily="34" charset="-128"/>
              </a:rPr>
              <a:t>心脏</a:t>
            </a:r>
            <a:r>
              <a:rPr lang="en-US" altLang="en-US" kern="0" dirty="0">
                <a:ea typeface="ＭＳ Ｐゴシック" panose="020B0600070205080204" pitchFamily="34" charset="-128"/>
              </a:rPr>
              <a:t> </a:t>
            </a:r>
            <a:r>
              <a:rPr lang="en-US" altLang="en-US" kern="0" dirty="0"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zh-CN" altLang="en-US" kern="0" dirty="0">
                <a:ea typeface="ＭＳ Ｐゴシック" panose="020B0600070205080204" pitchFamily="34" charset="-128"/>
                <a:sym typeface="Wingdings" pitchFamily="2" charset="2"/>
              </a:rPr>
              <a:t>细胞</a:t>
            </a:r>
            <a:r>
              <a:rPr lang="en-US" altLang="en-US" kern="0" dirty="0">
                <a:ea typeface="ＭＳ Ｐゴシック" panose="020B0600070205080204" pitchFamily="34" charset="-128"/>
              </a:rPr>
              <a:t> </a:t>
            </a:r>
            <a:r>
              <a:rPr lang="en-US" altLang="en-US" kern="0" dirty="0"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zh-CN" altLang="en-US" kern="0" dirty="0">
                <a:ea typeface="ＭＳ Ｐゴシック" panose="020B0600070205080204" pitchFamily="34" charset="-128"/>
                <a:sym typeface="Wingdings" pitchFamily="2" charset="2"/>
              </a:rPr>
              <a:t>心脏</a:t>
            </a:r>
            <a:r>
              <a:rPr lang="en-US" altLang="en-US" kern="0" dirty="0">
                <a:ea typeface="ＭＳ Ｐゴシック" panose="020B0600070205080204" pitchFamily="34" charset="-128"/>
                <a:sym typeface="Wingdings" pitchFamily="2" charset="2"/>
              </a:rPr>
              <a:t>)</a:t>
            </a:r>
            <a:endParaRPr lang="en-US" altLang="en-US" kern="0" dirty="0">
              <a:ea typeface="ＭＳ Ｐゴシック" panose="020B0600070205080204" pitchFamily="34" charset="-128"/>
            </a:endParaRPr>
          </a:p>
          <a:p>
            <a:pPr lvl="1"/>
            <a:r>
              <a:rPr lang="zh-CN" altLang="en-US" kern="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内存</a:t>
            </a:r>
            <a:r>
              <a:rPr lang="en-US" altLang="en-US" kern="0" dirty="0">
                <a:ea typeface="ＭＳ Ｐゴシック" panose="020B0600070205080204" pitchFamily="34" charset="-128"/>
              </a:rPr>
              <a:t>: </a:t>
            </a:r>
            <a:r>
              <a:rPr lang="zh-CN" altLang="en-US" kern="0" dirty="0">
                <a:ea typeface="ＭＳ Ｐゴシック" panose="020B0600070205080204" pitchFamily="34" charset="-128"/>
              </a:rPr>
              <a:t>心脏</a:t>
            </a:r>
            <a:r>
              <a:rPr lang="en-US" altLang="en-US" kern="0" dirty="0">
                <a:ea typeface="ＭＳ Ｐゴシック" panose="020B0600070205080204" pitchFamily="34" charset="-128"/>
              </a:rPr>
              <a:t>, </a:t>
            </a:r>
            <a:r>
              <a:rPr lang="zh-CN" altLang="en-US" kern="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数据</a:t>
            </a:r>
            <a:r>
              <a:rPr lang="en-US" altLang="en-US" kern="0" dirty="0">
                <a:ea typeface="ＭＳ Ｐゴシック" panose="020B0600070205080204" pitchFamily="34" charset="-128"/>
              </a:rPr>
              <a:t>: </a:t>
            </a:r>
            <a:r>
              <a:rPr lang="zh-CN" altLang="en-US" kern="0" dirty="0">
                <a:ea typeface="ＭＳ Ｐゴシック" panose="020B0600070205080204" pitchFamily="34" charset="-128"/>
              </a:rPr>
              <a:t>血</a:t>
            </a:r>
            <a:r>
              <a:rPr lang="en-US" altLang="en-US" kern="0" dirty="0">
                <a:ea typeface="ＭＳ Ｐゴシック" panose="020B0600070205080204" pitchFamily="34" charset="-128"/>
              </a:rPr>
              <a:t>,</a:t>
            </a:r>
            <a:r>
              <a:rPr lang="en-US" altLang="en-US" kern="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kern="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PE</a:t>
            </a:r>
            <a:r>
              <a:rPr lang="en-US" altLang="en-US" kern="0" dirty="0">
                <a:ea typeface="ＭＳ Ｐゴシック" panose="020B0600070205080204" pitchFamily="34" charset="-128"/>
              </a:rPr>
              <a:t>: </a:t>
            </a:r>
            <a:r>
              <a:rPr lang="zh-CN" altLang="en-US" kern="0" dirty="0">
                <a:ea typeface="ＭＳ Ｐゴシック" panose="020B0600070205080204" pitchFamily="34" charset="-128"/>
              </a:rPr>
              <a:t>细胞</a:t>
            </a:r>
            <a:endParaRPr lang="en-US" altLang="en-US" kern="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zh-CN" altLang="en-US" dirty="0">
                <a:solidFill>
                  <a:srgbClr val="00B0F0"/>
                </a:solidFill>
              </a:rPr>
              <a:t>内存通过脉冲将数据推送穿过各个处理单元（</a:t>
            </a:r>
            <a:r>
              <a:rPr lang="en-US" altLang="zh-CN" dirty="0">
                <a:solidFill>
                  <a:srgbClr val="00B0F0"/>
                </a:solidFill>
              </a:rPr>
              <a:t>PEs</a:t>
            </a:r>
            <a:r>
              <a:rPr lang="zh-CN" altLang="en-US" dirty="0">
                <a:solidFill>
                  <a:srgbClr val="00B0F0"/>
                </a:solidFill>
              </a:rPr>
              <a:t>）</a:t>
            </a:r>
            <a:r>
              <a:rPr lang="zh-CN" altLang="en-US" dirty="0"/>
              <a:t>：就像心脏通过脉搏把血液推送给全身不同细胞进行“并行处理”一样。</a:t>
            </a:r>
          </a:p>
          <a:p>
            <a:pPr lvl="1"/>
            <a:endParaRPr lang="en-US" altLang="en-US" kern="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637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3">
            <a:extLst>
              <a:ext uri="{FF2B5EF4-FFF2-40B4-BE49-F238E27FC236}">
                <a16:creationId xmlns:a16="http://schemas.microsoft.com/office/drawing/2014/main" id="{24377124-2622-481B-9E9C-C8D492E60E22}"/>
              </a:ext>
            </a:extLst>
          </p:cNvPr>
          <p:cNvGrpSpPr/>
          <p:nvPr/>
        </p:nvGrpSpPr>
        <p:grpSpPr>
          <a:xfrm>
            <a:off x="2742448" y="4489313"/>
            <a:ext cx="2191691" cy="305889"/>
            <a:chOff x="1214284" y="2020529"/>
            <a:chExt cx="4768645" cy="486697"/>
          </a:xfrm>
        </p:grpSpPr>
        <p:sp>
          <p:nvSpPr>
            <p:cNvPr id="24" name="Rectangle 2">
              <a:extLst>
                <a:ext uri="{FF2B5EF4-FFF2-40B4-BE49-F238E27FC236}">
                  <a16:creationId xmlns:a16="http://schemas.microsoft.com/office/drawing/2014/main" id="{3A32A051-0743-4A75-8E54-85F475C2CA30}"/>
                </a:ext>
              </a:extLst>
            </p:cNvPr>
            <p:cNvSpPr/>
            <p:nvPr/>
          </p:nvSpPr>
          <p:spPr>
            <a:xfrm>
              <a:off x="1214284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IF</a:t>
              </a:r>
            </a:p>
          </p:txBody>
        </p:sp>
        <p:sp>
          <p:nvSpPr>
            <p:cNvPr id="25" name="Rectangle 8">
              <a:extLst>
                <a:ext uri="{FF2B5EF4-FFF2-40B4-BE49-F238E27FC236}">
                  <a16:creationId xmlns:a16="http://schemas.microsoft.com/office/drawing/2014/main" id="{B1A14156-337A-453B-B31F-93BF4EE235C8}"/>
                </a:ext>
              </a:extLst>
            </p:cNvPr>
            <p:cNvSpPr/>
            <p:nvPr/>
          </p:nvSpPr>
          <p:spPr>
            <a:xfrm>
              <a:off x="2168013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ID</a:t>
              </a:r>
            </a:p>
          </p:txBody>
        </p:sp>
        <p:sp>
          <p:nvSpPr>
            <p:cNvPr id="26" name="Rectangle 9">
              <a:extLst>
                <a:ext uri="{FF2B5EF4-FFF2-40B4-BE49-F238E27FC236}">
                  <a16:creationId xmlns:a16="http://schemas.microsoft.com/office/drawing/2014/main" id="{56B77AC8-A494-46CD-AED8-F556F76674E8}"/>
                </a:ext>
              </a:extLst>
            </p:cNvPr>
            <p:cNvSpPr/>
            <p:nvPr/>
          </p:nvSpPr>
          <p:spPr>
            <a:xfrm>
              <a:off x="3121742" y="2020529"/>
              <a:ext cx="953729" cy="486697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SUB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10">
              <a:extLst>
                <a:ext uri="{FF2B5EF4-FFF2-40B4-BE49-F238E27FC236}">
                  <a16:creationId xmlns:a16="http://schemas.microsoft.com/office/drawing/2014/main" id="{DCB4C9E3-E146-4EB4-98C1-03A54FBACA6F}"/>
                </a:ext>
              </a:extLst>
            </p:cNvPr>
            <p:cNvSpPr/>
            <p:nvPr/>
          </p:nvSpPr>
          <p:spPr>
            <a:xfrm>
              <a:off x="4075471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MEM</a:t>
              </a:r>
            </a:p>
          </p:txBody>
        </p:sp>
        <p:sp>
          <p:nvSpPr>
            <p:cNvPr id="28" name="Rectangle 11">
              <a:extLst>
                <a:ext uri="{FF2B5EF4-FFF2-40B4-BE49-F238E27FC236}">
                  <a16:creationId xmlns:a16="http://schemas.microsoft.com/office/drawing/2014/main" id="{1C04C1F4-60A1-4790-A07A-D2B3C523FD82}"/>
                </a:ext>
              </a:extLst>
            </p:cNvPr>
            <p:cNvSpPr/>
            <p:nvPr/>
          </p:nvSpPr>
          <p:spPr>
            <a:xfrm>
              <a:off x="5029200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WB</a:t>
              </a:r>
            </a:p>
          </p:txBody>
        </p:sp>
      </p:grpSp>
      <p:grpSp>
        <p:nvGrpSpPr>
          <p:cNvPr id="29" name="Group 3">
            <a:extLst>
              <a:ext uri="{FF2B5EF4-FFF2-40B4-BE49-F238E27FC236}">
                <a16:creationId xmlns:a16="http://schemas.microsoft.com/office/drawing/2014/main" id="{B6E49B21-8F52-404E-B391-3C8E9B158F43}"/>
              </a:ext>
            </a:extLst>
          </p:cNvPr>
          <p:cNvGrpSpPr/>
          <p:nvPr/>
        </p:nvGrpSpPr>
        <p:grpSpPr>
          <a:xfrm>
            <a:off x="3180786" y="4792967"/>
            <a:ext cx="2191691" cy="305889"/>
            <a:chOff x="1214284" y="2020529"/>
            <a:chExt cx="4768645" cy="486697"/>
          </a:xfrm>
        </p:grpSpPr>
        <p:sp>
          <p:nvSpPr>
            <p:cNvPr id="30" name="Rectangle 2">
              <a:extLst>
                <a:ext uri="{FF2B5EF4-FFF2-40B4-BE49-F238E27FC236}">
                  <a16:creationId xmlns:a16="http://schemas.microsoft.com/office/drawing/2014/main" id="{F5A3371A-3F9F-48E4-B1A8-95A591589A3E}"/>
                </a:ext>
              </a:extLst>
            </p:cNvPr>
            <p:cNvSpPr/>
            <p:nvPr/>
          </p:nvSpPr>
          <p:spPr>
            <a:xfrm>
              <a:off x="1214284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IF</a:t>
              </a: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803054BD-473D-48FC-86BB-B47AC52D1068}"/>
                </a:ext>
              </a:extLst>
            </p:cNvPr>
            <p:cNvSpPr/>
            <p:nvPr/>
          </p:nvSpPr>
          <p:spPr>
            <a:xfrm>
              <a:off x="2168013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ID</a:t>
              </a: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60390E1D-3240-403B-A4EA-69F4109D0DB4}"/>
                </a:ext>
              </a:extLst>
            </p:cNvPr>
            <p:cNvSpPr/>
            <p:nvPr/>
          </p:nvSpPr>
          <p:spPr>
            <a:xfrm>
              <a:off x="3121742" y="2020529"/>
              <a:ext cx="953729" cy="486697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MUL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18A3DDCC-DB6C-4328-A299-BB5387ABD35F}"/>
                </a:ext>
              </a:extLst>
            </p:cNvPr>
            <p:cNvSpPr/>
            <p:nvPr/>
          </p:nvSpPr>
          <p:spPr>
            <a:xfrm>
              <a:off x="4075471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MEM</a:t>
              </a: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7F5F32DF-A8B5-4B34-9783-9270465A228E}"/>
                </a:ext>
              </a:extLst>
            </p:cNvPr>
            <p:cNvSpPr/>
            <p:nvPr/>
          </p:nvSpPr>
          <p:spPr>
            <a:xfrm>
              <a:off x="5029200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WB</a:t>
              </a:r>
            </a:p>
          </p:txBody>
        </p:sp>
      </p:grpSp>
      <p:grpSp>
        <p:nvGrpSpPr>
          <p:cNvPr id="35" name="Group 3">
            <a:extLst>
              <a:ext uri="{FF2B5EF4-FFF2-40B4-BE49-F238E27FC236}">
                <a16:creationId xmlns:a16="http://schemas.microsoft.com/office/drawing/2014/main" id="{6BD30118-0135-49A6-BA95-27CD8D59BED0}"/>
              </a:ext>
            </a:extLst>
          </p:cNvPr>
          <p:cNvGrpSpPr/>
          <p:nvPr/>
        </p:nvGrpSpPr>
        <p:grpSpPr>
          <a:xfrm>
            <a:off x="3619123" y="5104246"/>
            <a:ext cx="2191691" cy="305889"/>
            <a:chOff x="1214284" y="2020529"/>
            <a:chExt cx="4768645" cy="486697"/>
          </a:xfrm>
        </p:grpSpPr>
        <p:sp>
          <p:nvSpPr>
            <p:cNvPr id="36" name="Rectangle 2">
              <a:extLst>
                <a:ext uri="{FF2B5EF4-FFF2-40B4-BE49-F238E27FC236}">
                  <a16:creationId xmlns:a16="http://schemas.microsoft.com/office/drawing/2014/main" id="{5326F4DD-CCDF-4497-8EDA-D4CAC916B9CA}"/>
                </a:ext>
              </a:extLst>
            </p:cNvPr>
            <p:cNvSpPr/>
            <p:nvPr/>
          </p:nvSpPr>
          <p:spPr>
            <a:xfrm>
              <a:off x="1214284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IF</a:t>
              </a: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31D53515-DC0E-454B-862E-B38FA7F9993A}"/>
                </a:ext>
              </a:extLst>
            </p:cNvPr>
            <p:cNvSpPr/>
            <p:nvPr/>
          </p:nvSpPr>
          <p:spPr>
            <a:xfrm>
              <a:off x="2168013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ID</a:t>
              </a: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29D341B5-D414-4735-95DA-C2A1FA472F78}"/>
                </a:ext>
              </a:extLst>
            </p:cNvPr>
            <p:cNvSpPr/>
            <p:nvPr/>
          </p:nvSpPr>
          <p:spPr>
            <a:xfrm>
              <a:off x="3121742" y="2020529"/>
              <a:ext cx="953729" cy="486697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ADD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F665B019-3A7D-41A8-B431-4F4E9BEEB202}"/>
                </a:ext>
              </a:extLst>
            </p:cNvPr>
            <p:cNvSpPr/>
            <p:nvPr/>
          </p:nvSpPr>
          <p:spPr>
            <a:xfrm>
              <a:off x="4075471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MEM</a:t>
              </a:r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0F7B2F04-4F11-436A-B96F-0B4FC5D43678}"/>
                </a:ext>
              </a:extLst>
            </p:cNvPr>
            <p:cNvSpPr/>
            <p:nvPr/>
          </p:nvSpPr>
          <p:spPr>
            <a:xfrm>
              <a:off x="5029200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WB</a:t>
              </a:r>
            </a:p>
          </p:txBody>
        </p:sp>
      </p:grpSp>
      <p:grpSp>
        <p:nvGrpSpPr>
          <p:cNvPr id="41" name="Group 3">
            <a:extLst>
              <a:ext uri="{FF2B5EF4-FFF2-40B4-BE49-F238E27FC236}">
                <a16:creationId xmlns:a16="http://schemas.microsoft.com/office/drawing/2014/main" id="{E42A72F4-5C31-4898-9534-E8B4822F3C46}"/>
              </a:ext>
            </a:extLst>
          </p:cNvPr>
          <p:cNvGrpSpPr/>
          <p:nvPr/>
        </p:nvGrpSpPr>
        <p:grpSpPr>
          <a:xfrm>
            <a:off x="4057461" y="5409591"/>
            <a:ext cx="2191691" cy="305889"/>
            <a:chOff x="1214284" y="2020529"/>
            <a:chExt cx="4768645" cy="486697"/>
          </a:xfrm>
        </p:grpSpPr>
        <p:sp>
          <p:nvSpPr>
            <p:cNvPr id="42" name="Rectangle 2">
              <a:extLst>
                <a:ext uri="{FF2B5EF4-FFF2-40B4-BE49-F238E27FC236}">
                  <a16:creationId xmlns:a16="http://schemas.microsoft.com/office/drawing/2014/main" id="{43D886C8-FA66-4CF7-AA6A-C4F8F1EB43E1}"/>
                </a:ext>
              </a:extLst>
            </p:cNvPr>
            <p:cNvSpPr/>
            <p:nvPr/>
          </p:nvSpPr>
          <p:spPr>
            <a:xfrm>
              <a:off x="1214284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IF</a:t>
              </a:r>
            </a:p>
          </p:txBody>
        </p:sp>
        <p:sp>
          <p:nvSpPr>
            <p:cNvPr id="43" name="Rectangle 8">
              <a:extLst>
                <a:ext uri="{FF2B5EF4-FFF2-40B4-BE49-F238E27FC236}">
                  <a16:creationId xmlns:a16="http://schemas.microsoft.com/office/drawing/2014/main" id="{0CFC985B-D4F0-45CD-8455-C18AE28A1B1D}"/>
                </a:ext>
              </a:extLst>
            </p:cNvPr>
            <p:cNvSpPr/>
            <p:nvPr/>
          </p:nvSpPr>
          <p:spPr>
            <a:xfrm>
              <a:off x="2168013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ID</a:t>
              </a:r>
            </a:p>
          </p:txBody>
        </p:sp>
        <p:sp>
          <p:nvSpPr>
            <p:cNvPr id="44" name="Rectangle 9">
              <a:extLst>
                <a:ext uri="{FF2B5EF4-FFF2-40B4-BE49-F238E27FC236}">
                  <a16:creationId xmlns:a16="http://schemas.microsoft.com/office/drawing/2014/main" id="{14A96FD8-7BA1-4D5D-9960-A451C6D1B17B}"/>
                </a:ext>
              </a:extLst>
            </p:cNvPr>
            <p:cNvSpPr/>
            <p:nvPr/>
          </p:nvSpPr>
          <p:spPr>
            <a:xfrm>
              <a:off x="3121742" y="2020529"/>
              <a:ext cx="953729" cy="486697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SUB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10">
              <a:extLst>
                <a:ext uri="{FF2B5EF4-FFF2-40B4-BE49-F238E27FC236}">
                  <a16:creationId xmlns:a16="http://schemas.microsoft.com/office/drawing/2014/main" id="{0B8F611D-874C-49E8-9882-44AE7C85E61E}"/>
                </a:ext>
              </a:extLst>
            </p:cNvPr>
            <p:cNvSpPr/>
            <p:nvPr/>
          </p:nvSpPr>
          <p:spPr>
            <a:xfrm>
              <a:off x="4075471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MEM</a:t>
              </a:r>
            </a:p>
          </p:txBody>
        </p:sp>
        <p:sp>
          <p:nvSpPr>
            <p:cNvPr id="46" name="Rectangle 11">
              <a:extLst>
                <a:ext uri="{FF2B5EF4-FFF2-40B4-BE49-F238E27FC236}">
                  <a16:creationId xmlns:a16="http://schemas.microsoft.com/office/drawing/2014/main" id="{53C87D8C-EC96-4F4D-A1A2-7A78FD50B8B0}"/>
                </a:ext>
              </a:extLst>
            </p:cNvPr>
            <p:cNvSpPr/>
            <p:nvPr/>
          </p:nvSpPr>
          <p:spPr>
            <a:xfrm>
              <a:off x="5029200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WB</a:t>
              </a:r>
            </a:p>
          </p:txBody>
        </p:sp>
      </p:grpSp>
      <p:grpSp>
        <p:nvGrpSpPr>
          <p:cNvPr id="47" name="Group 3">
            <a:extLst>
              <a:ext uri="{FF2B5EF4-FFF2-40B4-BE49-F238E27FC236}">
                <a16:creationId xmlns:a16="http://schemas.microsoft.com/office/drawing/2014/main" id="{1BBE23C7-29E5-4EAC-A18F-5A843C6C54D8}"/>
              </a:ext>
            </a:extLst>
          </p:cNvPr>
          <p:cNvGrpSpPr/>
          <p:nvPr/>
        </p:nvGrpSpPr>
        <p:grpSpPr>
          <a:xfrm>
            <a:off x="4495799" y="5713245"/>
            <a:ext cx="2191691" cy="305889"/>
            <a:chOff x="1214284" y="2020529"/>
            <a:chExt cx="4768645" cy="486697"/>
          </a:xfrm>
        </p:grpSpPr>
        <p:sp>
          <p:nvSpPr>
            <p:cNvPr id="48" name="Rectangle 2">
              <a:extLst>
                <a:ext uri="{FF2B5EF4-FFF2-40B4-BE49-F238E27FC236}">
                  <a16:creationId xmlns:a16="http://schemas.microsoft.com/office/drawing/2014/main" id="{31084965-61CC-49D2-88C0-4675249EB43A}"/>
                </a:ext>
              </a:extLst>
            </p:cNvPr>
            <p:cNvSpPr/>
            <p:nvPr/>
          </p:nvSpPr>
          <p:spPr>
            <a:xfrm>
              <a:off x="1214284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IF</a:t>
              </a:r>
            </a:p>
          </p:txBody>
        </p:sp>
        <p:sp>
          <p:nvSpPr>
            <p:cNvPr id="49" name="Rectangle 8">
              <a:extLst>
                <a:ext uri="{FF2B5EF4-FFF2-40B4-BE49-F238E27FC236}">
                  <a16:creationId xmlns:a16="http://schemas.microsoft.com/office/drawing/2014/main" id="{F06FB36D-A6D7-4A7E-A85D-341F788D4448}"/>
                </a:ext>
              </a:extLst>
            </p:cNvPr>
            <p:cNvSpPr/>
            <p:nvPr/>
          </p:nvSpPr>
          <p:spPr>
            <a:xfrm>
              <a:off x="2168013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ID</a:t>
              </a:r>
            </a:p>
          </p:txBody>
        </p:sp>
        <p:sp>
          <p:nvSpPr>
            <p:cNvPr id="50" name="Rectangle 9">
              <a:extLst>
                <a:ext uri="{FF2B5EF4-FFF2-40B4-BE49-F238E27FC236}">
                  <a16:creationId xmlns:a16="http://schemas.microsoft.com/office/drawing/2014/main" id="{7A87CE1D-4CFE-4DAB-B06B-54F6BD001F8A}"/>
                </a:ext>
              </a:extLst>
            </p:cNvPr>
            <p:cNvSpPr/>
            <p:nvPr/>
          </p:nvSpPr>
          <p:spPr>
            <a:xfrm>
              <a:off x="3121742" y="2020529"/>
              <a:ext cx="953729" cy="486697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MUL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10">
              <a:extLst>
                <a:ext uri="{FF2B5EF4-FFF2-40B4-BE49-F238E27FC236}">
                  <a16:creationId xmlns:a16="http://schemas.microsoft.com/office/drawing/2014/main" id="{8278012D-2642-42F4-B779-11FC5B5F166F}"/>
                </a:ext>
              </a:extLst>
            </p:cNvPr>
            <p:cNvSpPr/>
            <p:nvPr/>
          </p:nvSpPr>
          <p:spPr>
            <a:xfrm>
              <a:off x="4075471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MEM</a:t>
              </a:r>
            </a:p>
          </p:txBody>
        </p:sp>
        <p:sp>
          <p:nvSpPr>
            <p:cNvPr id="52" name="Rectangle 11">
              <a:extLst>
                <a:ext uri="{FF2B5EF4-FFF2-40B4-BE49-F238E27FC236}">
                  <a16:creationId xmlns:a16="http://schemas.microsoft.com/office/drawing/2014/main" id="{0507FE4C-14A9-42CA-B0BF-4C39B33505B2}"/>
                </a:ext>
              </a:extLst>
            </p:cNvPr>
            <p:cNvSpPr/>
            <p:nvPr/>
          </p:nvSpPr>
          <p:spPr>
            <a:xfrm>
              <a:off x="5029200" y="2020529"/>
              <a:ext cx="953729" cy="4866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WB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A988F2C-4C11-48B4-A1E5-7A7056946AAC}"/>
              </a:ext>
            </a:extLst>
          </p:cNvPr>
          <p:cNvGrpSpPr/>
          <p:nvPr/>
        </p:nvGrpSpPr>
        <p:grpSpPr>
          <a:xfrm>
            <a:off x="7074913" y="4182420"/>
            <a:ext cx="3052244" cy="306434"/>
            <a:chOff x="5532804" y="3705922"/>
            <a:chExt cx="3052244" cy="306434"/>
          </a:xfrm>
        </p:grpSpPr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8341A9C0-8C84-46A1-AA83-CCC041EFE47B}"/>
                </a:ext>
              </a:extLst>
            </p:cNvPr>
            <p:cNvSpPr/>
            <p:nvPr/>
          </p:nvSpPr>
          <p:spPr>
            <a:xfrm>
              <a:off x="5532804" y="3706467"/>
              <a:ext cx="438338" cy="305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IF</a:t>
              </a:r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BDD3FCB7-2E93-4912-A44E-6544DF70C83F}"/>
                </a:ext>
              </a:extLst>
            </p:cNvPr>
            <p:cNvSpPr/>
            <p:nvPr/>
          </p:nvSpPr>
          <p:spPr>
            <a:xfrm>
              <a:off x="5971142" y="3706467"/>
              <a:ext cx="438338" cy="305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ID</a:t>
              </a: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CC1FB8AE-9036-4A1F-9CBD-3C4583DC9660}"/>
                </a:ext>
              </a:extLst>
            </p:cNvPr>
            <p:cNvSpPr/>
            <p:nvPr/>
          </p:nvSpPr>
          <p:spPr>
            <a:xfrm>
              <a:off x="6409480" y="3706467"/>
              <a:ext cx="438338" cy="305889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ADD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10">
              <a:extLst>
                <a:ext uri="{FF2B5EF4-FFF2-40B4-BE49-F238E27FC236}">
                  <a16:creationId xmlns:a16="http://schemas.microsoft.com/office/drawing/2014/main" id="{8FB0B9F9-987F-41B6-AEC7-030661737135}"/>
                </a:ext>
              </a:extLst>
            </p:cNvPr>
            <p:cNvSpPr/>
            <p:nvPr/>
          </p:nvSpPr>
          <p:spPr>
            <a:xfrm>
              <a:off x="7708372" y="3705922"/>
              <a:ext cx="438338" cy="305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MEM</a:t>
              </a:r>
            </a:p>
          </p:txBody>
        </p:sp>
        <p:sp>
          <p:nvSpPr>
            <p:cNvPr id="22" name="Rectangle 11">
              <a:extLst>
                <a:ext uri="{FF2B5EF4-FFF2-40B4-BE49-F238E27FC236}">
                  <a16:creationId xmlns:a16="http://schemas.microsoft.com/office/drawing/2014/main" id="{B5925A77-9DC2-4E16-82D3-5A310815DE2C}"/>
                </a:ext>
              </a:extLst>
            </p:cNvPr>
            <p:cNvSpPr/>
            <p:nvPr/>
          </p:nvSpPr>
          <p:spPr>
            <a:xfrm>
              <a:off x="8146710" y="3705922"/>
              <a:ext cx="438338" cy="305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WB</a:t>
              </a:r>
            </a:p>
          </p:txBody>
        </p:sp>
        <p:sp>
          <p:nvSpPr>
            <p:cNvPr id="53" name="Rectangle 9">
              <a:extLst>
                <a:ext uri="{FF2B5EF4-FFF2-40B4-BE49-F238E27FC236}">
                  <a16:creationId xmlns:a16="http://schemas.microsoft.com/office/drawing/2014/main" id="{A8DDA2D3-5AA1-42FA-A0D3-05B0659924FC}"/>
                </a:ext>
              </a:extLst>
            </p:cNvPr>
            <p:cNvSpPr/>
            <p:nvPr/>
          </p:nvSpPr>
          <p:spPr>
            <a:xfrm>
              <a:off x="6847818" y="3706466"/>
              <a:ext cx="438338" cy="305889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SUB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9">
              <a:extLst>
                <a:ext uri="{FF2B5EF4-FFF2-40B4-BE49-F238E27FC236}">
                  <a16:creationId xmlns:a16="http://schemas.microsoft.com/office/drawing/2014/main" id="{180B9B39-AB4A-4993-A356-430D5F06CA3D}"/>
                </a:ext>
              </a:extLst>
            </p:cNvPr>
            <p:cNvSpPr/>
            <p:nvPr/>
          </p:nvSpPr>
          <p:spPr>
            <a:xfrm>
              <a:off x="7269094" y="3705922"/>
              <a:ext cx="438338" cy="305889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MUL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2352485-2A78-4FE9-9A36-EBD8AEA64235}"/>
              </a:ext>
            </a:extLst>
          </p:cNvPr>
          <p:cNvGrpSpPr/>
          <p:nvPr/>
        </p:nvGrpSpPr>
        <p:grpSpPr>
          <a:xfrm>
            <a:off x="7513251" y="4486947"/>
            <a:ext cx="3052244" cy="306434"/>
            <a:chOff x="5971142" y="4010449"/>
            <a:chExt cx="3052244" cy="306434"/>
          </a:xfrm>
        </p:grpSpPr>
        <p:sp>
          <p:nvSpPr>
            <p:cNvPr id="55" name="Rectangle 2">
              <a:extLst>
                <a:ext uri="{FF2B5EF4-FFF2-40B4-BE49-F238E27FC236}">
                  <a16:creationId xmlns:a16="http://schemas.microsoft.com/office/drawing/2014/main" id="{8CD18163-F9E3-47C3-B895-E52B8EA6B5EF}"/>
                </a:ext>
              </a:extLst>
            </p:cNvPr>
            <p:cNvSpPr/>
            <p:nvPr/>
          </p:nvSpPr>
          <p:spPr>
            <a:xfrm>
              <a:off x="5971142" y="4010994"/>
              <a:ext cx="438338" cy="305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IF</a:t>
              </a:r>
            </a:p>
          </p:txBody>
        </p:sp>
        <p:sp>
          <p:nvSpPr>
            <p:cNvPr id="56" name="Rectangle 8">
              <a:extLst>
                <a:ext uri="{FF2B5EF4-FFF2-40B4-BE49-F238E27FC236}">
                  <a16:creationId xmlns:a16="http://schemas.microsoft.com/office/drawing/2014/main" id="{8E966C5C-0714-4C6E-A9BB-B445A9136BF9}"/>
                </a:ext>
              </a:extLst>
            </p:cNvPr>
            <p:cNvSpPr/>
            <p:nvPr/>
          </p:nvSpPr>
          <p:spPr>
            <a:xfrm>
              <a:off x="6409480" y="4010994"/>
              <a:ext cx="438338" cy="305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ID</a:t>
              </a:r>
            </a:p>
          </p:txBody>
        </p:sp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00FCDE06-1003-4C00-B804-8308C90B05E8}"/>
                </a:ext>
              </a:extLst>
            </p:cNvPr>
            <p:cNvSpPr/>
            <p:nvPr/>
          </p:nvSpPr>
          <p:spPr>
            <a:xfrm>
              <a:off x="6847818" y="4010994"/>
              <a:ext cx="438338" cy="305889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ADD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10">
              <a:extLst>
                <a:ext uri="{FF2B5EF4-FFF2-40B4-BE49-F238E27FC236}">
                  <a16:creationId xmlns:a16="http://schemas.microsoft.com/office/drawing/2014/main" id="{CC61346A-AF08-4BC7-AE8E-D1C4DA8F699E}"/>
                </a:ext>
              </a:extLst>
            </p:cNvPr>
            <p:cNvSpPr/>
            <p:nvPr/>
          </p:nvSpPr>
          <p:spPr>
            <a:xfrm>
              <a:off x="8146710" y="4010449"/>
              <a:ext cx="438338" cy="305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MEM</a:t>
              </a:r>
            </a:p>
          </p:txBody>
        </p:sp>
        <p:sp>
          <p:nvSpPr>
            <p:cNvPr id="59" name="Rectangle 11">
              <a:extLst>
                <a:ext uri="{FF2B5EF4-FFF2-40B4-BE49-F238E27FC236}">
                  <a16:creationId xmlns:a16="http://schemas.microsoft.com/office/drawing/2014/main" id="{D221C06B-83ED-451E-8963-CF4BBB57A54D}"/>
                </a:ext>
              </a:extLst>
            </p:cNvPr>
            <p:cNvSpPr/>
            <p:nvPr/>
          </p:nvSpPr>
          <p:spPr>
            <a:xfrm>
              <a:off x="8585048" y="4010449"/>
              <a:ext cx="438338" cy="30588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900" dirty="0">
                  <a:solidFill>
                    <a:schemeClr val="tx1"/>
                  </a:solidFill>
                </a:rPr>
                <a:t>WB</a:t>
              </a:r>
            </a:p>
          </p:txBody>
        </p:sp>
        <p:sp>
          <p:nvSpPr>
            <p:cNvPr id="60" name="Rectangle 9">
              <a:extLst>
                <a:ext uri="{FF2B5EF4-FFF2-40B4-BE49-F238E27FC236}">
                  <a16:creationId xmlns:a16="http://schemas.microsoft.com/office/drawing/2014/main" id="{3E8BB719-3A54-48FF-AA7A-77E1E4B8C327}"/>
                </a:ext>
              </a:extLst>
            </p:cNvPr>
            <p:cNvSpPr/>
            <p:nvPr/>
          </p:nvSpPr>
          <p:spPr>
            <a:xfrm>
              <a:off x="7286156" y="4010993"/>
              <a:ext cx="438338" cy="305889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SUB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9">
              <a:extLst>
                <a:ext uri="{FF2B5EF4-FFF2-40B4-BE49-F238E27FC236}">
                  <a16:creationId xmlns:a16="http://schemas.microsoft.com/office/drawing/2014/main" id="{D2093AD2-E3BD-4481-8014-2D444512E8FE}"/>
                </a:ext>
              </a:extLst>
            </p:cNvPr>
            <p:cNvSpPr/>
            <p:nvPr/>
          </p:nvSpPr>
          <p:spPr>
            <a:xfrm>
              <a:off x="7707432" y="4010449"/>
              <a:ext cx="438338" cy="305889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MUL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7CCD8EB-9256-4CB1-B54A-27CCA402E09D}"/>
              </a:ext>
            </a:extLst>
          </p:cNvPr>
          <p:cNvSpPr/>
          <p:nvPr/>
        </p:nvSpPr>
        <p:spPr bwMode="auto">
          <a:xfrm>
            <a:off x="3752662" y="1573283"/>
            <a:ext cx="1066800" cy="382089"/>
          </a:xfrm>
          <a:prstGeom prst="roundRect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Bahnschrift Condensed" panose="020B0502040204020203" pitchFamily="34" charset="0"/>
              </a:rPr>
              <a:t>Memory</a:t>
            </a:r>
            <a:endParaRPr lang="zh-CN" altLang="en-US" dirty="0">
              <a:latin typeface="Bahnschrift Condensed" panose="020B0502040204020203" pitchFamily="34" charset="0"/>
            </a:endParaRPr>
          </a:p>
        </p:txBody>
      </p:sp>
      <p:sp>
        <p:nvSpPr>
          <p:cNvPr id="67" name="Rectangle 9">
            <a:extLst>
              <a:ext uri="{FF2B5EF4-FFF2-40B4-BE49-F238E27FC236}">
                <a16:creationId xmlns:a16="http://schemas.microsoft.com/office/drawing/2014/main" id="{89C3F42F-29D9-41C6-95FA-5BC3FE57C9A6}"/>
              </a:ext>
            </a:extLst>
          </p:cNvPr>
          <p:cNvSpPr/>
          <p:nvPr/>
        </p:nvSpPr>
        <p:spPr>
          <a:xfrm>
            <a:off x="4039351" y="2215201"/>
            <a:ext cx="438338" cy="30588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PE</a:t>
            </a:r>
            <a:endParaRPr lang="en-CN" sz="1400" dirty="0">
              <a:solidFill>
                <a:schemeClr val="tx1"/>
              </a:solidFill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AF1980B8-71F8-4E91-83E7-6ADB80CDE205}"/>
              </a:ext>
            </a:extLst>
          </p:cNvPr>
          <p:cNvCxnSpPr>
            <a:stCxn id="5" idx="1"/>
            <a:endCxn id="67" idx="1"/>
          </p:cNvCxnSpPr>
          <p:nvPr/>
        </p:nvCxnSpPr>
        <p:spPr bwMode="auto">
          <a:xfrm rot="10800000" flipH="1" flipV="1">
            <a:off x="3752662" y="1764327"/>
            <a:ext cx="286689" cy="603818"/>
          </a:xfrm>
          <a:prstGeom prst="bentConnector3">
            <a:avLst>
              <a:gd name="adj1" fmla="val -79738"/>
            </a:avLst>
          </a:prstGeom>
          <a:solidFill>
            <a:srgbClr val="C0C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3A8CAB06-62DD-44CD-9453-DB6EC9863C3E}"/>
              </a:ext>
            </a:extLst>
          </p:cNvPr>
          <p:cNvCxnSpPr>
            <a:cxnSpLocks/>
            <a:endCxn id="5" idx="3"/>
          </p:cNvCxnSpPr>
          <p:nvPr/>
        </p:nvCxnSpPr>
        <p:spPr bwMode="auto">
          <a:xfrm rot="5400000" flipH="1" flipV="1">
            <a:off x="4355723" y="1904404"/>
            <a:ext cx="603816" cy="323662"/>
          </a:xfrm>
          <a:prstGeom prst="bentConnector4">
            <a:avLst>
              <a:gd name="adj1" fmla="val 676"/>
              <a:gd name="adj2" fmla="val 170629"/>
            </a:avLst>
          </a:prstGeom>
          <a:solidFill>
            <a:srgbClr val="C0C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E281D0F7-DB8A-4885-AFA9-9660D94B3FBA}"/>
              </a:ext>
            </a:extLst>
          </p:cNvPr>
          <p:cNvSpPr/>
          <p:nvPr/>
        </p:nvSpPr>
        <p:spPr bwMode="auto">
          <a:xfrm>
            <a:off x="8077200" y="1567053"/>
            <a:ext cx="1066800" cy="382089"/>
          </a:xfrm>
          <a:prstGeom prst="roundRect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Bahnschrift Condensed" panose="020B0502040204020203" pitchFamily="34" charset="0"/>
              </a:rPr>
              <a:t>Memory</a:t>
            </a:r>
            <a:endParaRPr lang="zh-CN" altLang="en-US" dirty="0">
              <a:latin typeface="Bahnschrift Condensed" panose="020B0502040204020203" pitchFamily="34" charset="0"/>
            </a:endParaRPr>
          </a:p>
        </p:txBody>
      </p:sp>
      <p:sp>
        <p:nvSpPr>
          <p:cNvPr id="75" name="Rectangle 9">
            <a:extLst>
              <a:ext uri="{FF2B5EF4-FFF2-40B4-BE49-F238E27FC236}">
                <a16:creationId xmlns:a16="http://schemas.microsoft.com/office/drawing/2014/main" id="{67C93470-2A92-42F7-A33B-11A5F6A07D36}"/>
              </a:ext>
            </a:extLst>
          </p:cNvPr>
          <p:cNvSpPr/>
          <p:nvPr/>
        </p:nvSpPr>
        <p:spPr>
          <a:xfrm>
            <a:off x="8803628" y="2172353"/>
            <a:ext cx="438338" cy="30588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PE3</a:t>
            </a:r>
            <a:endParaRPr lang="en-CN" sz="1400" dirty="0">
              <a:solidFill>
                <a:schemeClr val="tx1"/>
              </a:solidFill>
            </a:endParaRPr>
          </a:p>
        </p:txBody>
      </p: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01CF2923-9CEB-4075-AA30-FDA18DCE529C}"/>
              </a:ext>
            </a:extLst>
          </p:cNvPr>
          <p:cNvCxnSpPr>
            <a:cxnSpLocks/>
            <a:stCxn id="74" idx="1"/>
            <a:endCxn id="79" idx="1"/>
          </p:cNvCxnSpPr>
          <p:nvPr/>
        </p:nvCxnSpPr>
        <p:spPr bwMode="auto">
          <a:xfrm rot="10800000" flipV="1">
            <a:off x="7933480" y="1758097"/>
            <a:ext cx="143720" cy="565838"/>
          </a:xfrm>
          <a:prstGeom prst="bentConnector3">
            <a:avLst>
              <a:gd name="adj1" fmla="val 278766"/>
            </a:avLst>
          </a:prstGeom>
          <a:solidFill>
            <a:srgbClr val="C0C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4DB70C89-3FD9-4885-B985-4975E601FB3F}"/>
              </a:ext>
            </a:extLst>
          </p:cNvPr>
          <p:cNvCxnSpPr>
            <a:cxnSpLocks/>
            <a:stCxn id="75" idx="3"/>
            <a:endCxn id="74" idx="3"/>
          </p:cNvCxnSpPr>
          <p:nvPr/>
        </p:nvCxnSpPr>
        <p:spPr bwMode="auto">
          <a:xfrm flipH="1" flipV="1">
            <a:off x="9144000" y="1758097"/>
            <a:ext cx="97966" cy="567200"/>
          </a:xfrm>
          <a:prstGeom prst="bentConnector3">
            <a:avLst>
              <a:gd name="adj1" fmla="val -233346"/>
            </a:avLst>
          </a:prstGeom>
          <a:solidFill>
            <a:srgbClr val="C0C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8" name="Rectangle 9">
            <a:extLst>
              <a:ext uri="{FF2B5EF4-FFF2-40B4-BE49-F238E27FC236}">
                <a16:creationId xmlns:a16="http://schemas.microsoft.com/office/drawing/2014/main" id="{AA444D11-E5DF-4145-BB40-DB234CE2C34F}"/>
              </a:ext>
            </a:extLst>
          </p:cNvPr>
          <p:cNvSpPr/>
          <p:nvPr/>
        </p:nvSpPr>
        <p:spPr>
          <a:xfrm>
            <a:off x="8365290" y="2171672"/>
            <a:ext cx="438338" cy="30588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PE2</a:t>
            </a:r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79" name="Rectangle 9">
            <a:extLst>
              <a:ext uri="{FF2B5EF4-FFF2-40B4-BE49-F238E27FC236}">
                <a16:creationId xmlns:a16="http://schemas.microsoft.com/office/drawing/2014/main" id="{E98A6666-A24A-4582-87A8-48E6CEE6B141}"/>
              </a:ext>
            </a:extLst>
          </p:cNvPr>
          <p:cNvSpPr/>
          <p:nvPr/>
        </p:nvSpPr>
        <p:spPr>
          <a:xfrm>
            <a:off x="7933480" y="2170991"/>
            <a:ext cx="438338" cy="30588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PE1</a:t>
            </a:r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107529" name="矩形 107528">
            <a:extLst>
              <a:ext uri="{FF2B5EF4-FFF2-40B4-BE49-F238E27FC236}">
                <a16:creationId xmlns:a16="http://schemas.microsoft.com/office/drawing/2014/main" id="{00C15E63-8833-49AD-9AC0-121F5982ADB1}"/>
              </a:ext>
            </a:extLst>
          </p:cNvPr>
          <p:cNvSpPr/>
          <p:nvPr/>
        </p:nvSpPr>
        <p:spPr>
          <a:xfrm>
            <a:off x="1828801" y="2714231"/>
            <a:ext cx="869149" cy="1200329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Bahnschrift Condensed" panose="020B0502040204020203" pitchFamily="34" charset="0"/>
              </a:rPr>
              <a:t>For Loop:</a:t>
            </a:r>
          </a:p>
          <a:p>
            <a:r>
              <a:rPr lang="en-US" altLang="zh-CN" dirty="0">
                <a:latin typeface="Bahnschrift Condensed" panose="020B0502040204020203" pitchFamily="34" charset="0"/>
              </a:rPr>
              <a:t>    ADD</a:t>
            </a:r>
          </a:p>
          <a:p>
            <a:r>
              <a:rPr lang="en-US" altLang="zh-CN" dirty="0">
                <a:latin typeface="Bahnschrift Condensed" panose="020B0502040204020203" pitchFamily="34" charset="0"/>
              </a:rPr>
              <a:t>    SUB</a:t>
            </a:r>
          </a:p>
          <a:p>
            <a:r>
              <a:rPr lang="en-US" altLang="zh-CN" dirty="0">
                <a:latin typeface="Bahnschrift Condensed" panose="020B0502040204020203" pitchFamily="34" charset="0"/>
              </a:rPr>
              <a:t>    MUL</a:t>
            </a:r>
            <a:endParaRPr lang="zh-CN" altLang="en-US" dirty="0"/>
          </a:p>
        </p:txBody>
      </p:sp>
      <p:grpSp>
        <p:nvGrpSpPr>
          <p:cNvPr id="107532" name="组合 107531">
            <a:extLst>
              <a:ext uri="{FF2B5EF4-FFF2-40B4-BE49-F238E27FC236}">
                <a16:creationId xmlns:a16="http://schemas.microsoft.com/office/drawing/2014/main" id="{9183C2B2-C2F2-4DA5-9B3B-0882F48A1758}"/>
              </a:ext>
            </a:extLst>
          </p:cNvPr>
          <p:cNvGrpSpPr/>
          <p:nvPr/>
        </p:nvGrpSpPr>
        <p:grpSpPr>
          <a:xfrm>
            <a:off x="1622756" y="4150698"/>
            <a:ext cx="2873044" cy="369332"/>
            <a:chOff x="98756" y="4150698"/>
            <a:chExt cx="2873044" cy="369332"/>
          </a:xfrm>
        </p:grpSpPr>
        <p:grpSp>
          <p:nvGrpSpPr>
            <p:cNvPr id="9" name="Group 3">
              <a:extLst>
                <a:ext uri="{FF2B5EF4-FFF2-40B4-BE49-F238E27FC236}">
                  <a16:creationId xmlns:a16="http://schemas.microsoft.com/office/drawing/2014/main" id="{14303782-84DB-4787-B8CD-5892E0BAC137}"/>
                </a:ext>
              </a:extLst>
            </p:cNvPr>
            <p:cNvGrpSpPr/>
            <p:nvPr/>
          </p:nvGrpSpPr>
          <p:grpSpPr>
            <a:xfrm>
              <a:off x="780109" y="4183967"/>
              <a:ext cx="2191691" cy="305889"/>
              <a:chOff x="1214284" y="2020529"/>
              <a:chExt cx="4768645" cy="486697"/>
            </a:xfrm>
          </p:grpSpPr>
          <p:sp>
            <p:nvSpPr>
              <p:cNvPr id="11" name="Rectangle 2">
                <a:extLst>
                  <a:ext uri="{FF2B5EF4-FFF2-40B4-BE49-F238E27FC236}">
                    <a16:creationId xmlns:a16="http://schemas.microsoft.com/office/drawing/2014/main" id="{255A45AE-3212-49CE-8D40-4414634DDACC}"/>
                  </a:ext>
                </a:extLst>
              </p:cNvPr>
              <p:cNvSpPr/>
              <p:nvPr/>
            </p:nvSpPr>
            <p:spPr>
              <a:xfrm>
                <a:off x="1214284" y="2020529"/>
                <a:ext cx="953729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900" dirty="0">
                    <a:solidFill>
                      <a:schemeClr val="tx1"/>
                    </a:solidFill>
                  </a:rPr>
                  <a:t>IF</a:t>
                </a:r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15F66202-06FE-4E3F-8E96-0A0F2DAF6CEC}"/>
                  </a:ext>
                </a:extLst>
              </p:cNvPr>
              <p:cNvSpPr/>
              <p:nvPr/>
            </p:nvSpPr>
            <p:spPr>
              <a:xfrm>
                <a:off x="2168013" y="2020529"/>
                <a:ext cx="953729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900" dirty="0">
                    <a:solidFill>
                      <a:schemeClr val="tx1"/>
                    </a:solidFill>
                  </a:rPr>
                  <a:t>ID</a:t>
                </a:r>
              </a:p>
            </p:txBody>
          </p:sp>
          <p:sp>
            <p:nvSpPr>
              <p:cNvPr id="13" name="Rectangle 9">
                <a:extLst>
                  <a:ext uri="{FF2B5EF4-FFF2-40B4-BE49-F238E27FC236}">
                    <a16:creationId xmlns:a16="http://schemas.microsoft.com/office/drawing/2014/main" id="{D8CAEC16-73E2-4727-AD42-F60478B3E3D3}"/>
                  </a:ext>
                </a:extLst>
              </p:cNvPr>
              <p:cNvSpPr/>
              <p:nvPr/>
            </p:nvSpPr>
            <p:spPr>
              <a:xfrm>
                <a:off x="3121742" y="2020529"/>
                <a:ext cx="953729" cy="486697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</a:rPr>
                  <a:t>ADD</a:t>
                </a:r>
                <a:endParaRPr lang="en-CN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0">
                <a:extLst>
                  <a:ext uri="{FF2B5EF4-FFF2-40B4-BE49-F238E27FC236}">
                    <a16:creationId xmlns:a16="http://schemas.microsoft.com/office/drawing/2014/main" id="{DDD6DB30-062D-43D1-B6B7-E536E6210DEB}"/>
                  </a:ext>
                </a:extLst>
              </p:cNvPr>
              <p:cNvSpPr/>
              <p:nvPr/>
            </p:nvSpPr>
            <p:spPr>
              <a:xfrm>
                <a:off x="4075471" y="2020529"/>
                <a:ext cx="953729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900" dirty="0">
                    <a:solidFill>
                      <a:schemeClr val="tx1"/>
                    </a:solidFill>
                  </a:rPr>
                  <a:t>MEM</a:t>
                </a:r>
              </a:p>
            </p:txBody>
          </p:sp>
          <p:sp>
            <p:nvSpPr>
              <p:cNvPr id="15" name="Rectangle 11">
                <a:extLst>
                  <a:ext uri="{FF2B5EF4-FFF2-40B4-BE49-F238E27FC236}">
                    <a16:creationId xmlns:a16="http://schemas.microsoft.com/office/drawing/2014/main" id="{026F089F-ECFD-4A12-AD74-181879C42F29}"/>
                  </a:ext>
                </a:extLst>
              </p:cNvPr>
              <p:cNvSpPr/>
              <p:nvPr/>
            </p:nvSpPr>
            <p:spPr>
              <a:xfrm>
                <a:off x="5029200" y="2020529"/>
                <a:ext cx="953729" cy="486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900" dirty="0">
                    <a:solidFill>
                      <a:schemeClr val="tx1"/>
                    </a:solidFill>
                  </a:rPr>
                  <a:t>WB</a:t>
                </a:r>
              </a:p>
            </p:txBody>
          </p:sp>
        </p:grpSp>
        <p:sp>
          <p:nvSpPr>
            <p:cNvPr id="107530" name="矩形 107529">
              <a:extLst>
                <a:ext uri="{FF2B5EF4-FFF2-40B4-BE49-F238E27FC236}">
                  <a16:creationId xmlns:a16="http://schemas.microsoft.com/office/drawing/2014/main" id="{98D54CF0-73E8-42FC-9E80-E7468A860E2E}"/>
                </a:ext>
              </a:extLst>
            </p:cNvPr>
            <p:cNvSpPr/>
            <p:nvPr/>
          </p:nvSpPr>
          <p:spPr>
            <a:xfrm>
              <a:off x="98756" y="4150698"/>
              <a:ext cx="3658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Bahnschrift Condensed" panose="020B0502040204020203" pitchFamily="34" charset="0"/>
                </a:rPr>
                <a:t>T1:</a:t>
              </a:r>
              <a:endParaRPr lang="zh-CN" altLang="en-US" dirty="0"/>
            </a:p>
          </p:txBody>
        </p:sp>
      </p:grpSp>
      <p:sp>
        <p:nvSpPr>
          <p:cNvPr id="107531" name="矩形 107530">
            <a:extLst>
              <a:ext uri="{FF2B5EF4-FFF2-40B4-BE49-F238E27FC236}">
                <a16:creationId xmlns:a16="http://schemas.microsoft.com/office/drawing/2014/main" id="{63A48678-A586-459D-BAC1-01EC782E2149}"/>
              </a:ext>
            </a:extLst>
          </p:cNvPr>
          <p:cNvSpPr/>
          <p:nvPr/>
        </p:nvSpPr>
        <p:spPr>
          <a:xfrm>
            <a:off x="1622756" y="4473941"/>
            <a:ext cx="396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Bahnschrift Condensed" panose="020B0502040204020203" pitchFamily="34" charset="0"/>
              </a:rPr>
              <a:t>T2:</a:t>
            </a:r>
            <a:endParaRPr lang="zh-CN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143003E-C73D-4774-8290-8FE493F680D9}"/>
              </a:ext>
            </a:extLst>
          </p:cNvPr>
          <p:cNvSpPr/>
          <p:nvPr/>
        </p:nvSpPr>
        <p:spPr>
          <a:xfrm>
            <a:off x="1622756" y="4782191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Bahnschrift Condensed" panose="020B0502040204020203" pitchFamily="34" charset="0"/>
              </a:rPr>
              <a:t>T3:</a:t>
            </a:r>
            <a:endParaRPr lang="zh-CN" altLang="en-US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BA35B36-4C14-4C58-8875-4A1FAEB1D103}"/>
              </a:ext>
            </a:extLst>
          </p:cNvPr>
          <p:cNvSpPr/>
          <p:nvPr/>
        </p:nvSpPr>
        <p:spPr>
          <a:xfrm>
            <a:off x="1631470" y="5105434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Bahnschrift Condensed" panose="020B0502040204020203" pitchFamily="34" charset="0"/>
              </a:rPr>
              <a:t>T4:</a:t>
            </a:r>
            <a:endParaRPr lang="zh-CN" altLang="en-US" dirty="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5583518-54CD-4BB7-A1D3-F0E663ADAB8C}"/>
              </a:ext>
            </a:extLst>
          </p:cNvPr>
          <p:cNvSpPr/>
          <p:nvPr/>
        </p:nvSpPr>
        <p:spPr>
          <a:xfrm>
            <a:off x="1631470" y="5386009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Bahnschrift Condensed" panose="020B0502040204020203" pitchFamily="34" charset="0"/>
              </a:rPr>
              <a:t>T5:</a:t>
            </a:r>
            <a:endParaRPr lang="zh-CN" altLang="en-US" dirty="0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DA45B492-2018-4E82-8A59-06FBC0B084E6}"/>
              </a:ext>
            </a:extLst>
          </p:cNvPr>
          <p:cNvSpPr/>
          <p:nvPr/>
        </p:nvSpPr>
        <p:spPr>
          <a:xfrm>
            <a:off x="1631470" y="5681522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Bahnschrift Condensed" panose="020B0502040204020203" pitchFamily="34" charset="0"/>
              </a:rPr>
              <a:t>T6:</a:t>
            </a:r>
            <a:endParaRPr lang="zh-CN" altLang="en-US" dirty="0"/>
          </a:p>
        </p:txBody>
      </p:sp>
      <p:sp>
        <p:nvSpPr>
          <p:cNvPr id="95" name="Rectangle">
            <a:extLst>
              <a:ext uri="{FF2B5EF4-FFF2-40B4-BE49-F238E27FC236}">
                <a16:creationId xmlns:a16="http://schemas.microsoft.com/office/drawing/2014/main" id="{B673EA3F-90AF-4EB6-ADEF-12BD582E52E1}"/>
              </a:ext>
            </a:extLst>
          </p:cNvPr>
          <p:cNvSpPr/>
          <p:nvPr/>
        </p:nvSpPr>
        <p:spPr>
          <a:xfrm>
            <a:off x="2133601" y="1344096"/>
            <a:ext cx="8385317" cy="1200329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cxnSp>
        <p:nvCxnSpPr>
          <p:cNvPr id="107534" name="直接连接符 107533">
            <a:extLst>
              <a:ext uri="{FF2B5EF4-FFF2-40B4-BE49-F238E27FC236}">
                <a16:creationId xmlns:a16="http://schemas.microsoft.com/office/drawing/2014/main" id="{6F614A79-57FE-4115-B301-79EE5F6615D6}"/>
              </a:ext>
            </a:extLst>
          </p:cNvPr>
          <p:cNvCxnSpPr/>
          <p:nvPr/>
        </p:nvCxnSpPr>
        <p:spPr bwMode="auto">
          <a:xfrm>
            <a:off x="6858001" y="1066800"/>
            <a:ext cx="18111" cy="5251450"/>
          </a:xfrm>
          <a:prstGeom prst="line">
            <a:avLst/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107535" name="文本框 107534">
            <a:extLst>
              <a:ext uri="{FF2B5EF4-FFF2-40B4-BE49-F238E27FC236}">
                <a16:creationId xmlns:a16="http://schemas.microsoft.com/office/drawing/2014/main" id="{76E6B6FE-B0A2-42FA-861A-6BD984D6DC30}"/>
              </a:ext>
            </a:extLst>
          </p:cNvPr>
          <p:cNvSpPr txBox="1"/>
          <p:nvPr/>
        </p:nvSpPr>
        <p:spPr>
          <a:xfrm>
            <a:off x="3604142" y="5696735"/>
            <a:ext cx="12010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…</a:t>
            </a:r>
            <a:endParaRPr lang="zh-CN" altLang="en-US" sz="44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66669ACC-1C30-4532-A6A7-2359DBAAB201}"/>
              </a:ext>
            </a:extLst>
          </p:cNvPr>
          <p:cNvSpPr txBox="1"/>
          <p:nvPr/>
        </p:nvSpPr>
        <p:spPr>
          <a:xfrm>
            <a:off x="8474101" y="4486948"/>
            <a:ext cx="12010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…</a:t>
            </a:r>
            <a:endParaRPr lang="zh-CN" altLang="en-US" sz="4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AE8FBD-ACD4-43AA-2F68-B081B1B38AB0}"/>
              </a:ext>
            </a:extLst>
          </p:cNvPr>
          <p:cNvSpPr/>
          <p:nvPr/>
        </p:nvSpPr>
        <p:spPr>
          <a:xfrm>
            <a:off x="3587271" y="2651886"/>
            <a:ext cx="1410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Bahnschrift Condensed" panose="020B0502040204020203" pitchFamily="34" charset="0"/>
              </a:rPr>
              <a:t>普通</a:t>
            </a:r>
            <a:r>
              <a:rPr lang="en-US" altLang="zh-CN" dirty="0">
                <a:solidFill>
                  <a:srgbClr val="C00000"/>
                </a:solidFill>
                <a:latin typeface="Bahnschrift Condensed" panose="020B0502040204020203" pitchFamily="34" charset="0"/>
              </a:rPr>
              <a:t>CPU</a:t>
            </a:r>
            <a:r>
              <a:rPr lang="zh-CN" altLang="en-US" dirty="0">
                <a:solidFill>
                  <a:srgbClr val="C00000"/>
                </a:solidFill>
                <a:latin typeface="Bahnschrift Condensed" panose="020B0502040204020203" pitchFamily="34" charset="0"/>
              </a:rPr>
              <a:t>结构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9F2BF2-42D3-13A9-B90C-03319F82234E}"/>
              </a:ext>
            </a:extLst>
          </p:cNvPr>
          <p:cNvSpPr/>
          <p:nvPr/>
        </p:nvSpPr>
        <p:spPr>
          <a:xfrm>
            <a:off x="7818423" y="2655378"/>
            <a:ext cx="1590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Bahnschrift Condensed" panose="020B0502040204020203" pitchFamily="34" charset="0"/>
              </a:rPr>
              <a:t>脉动阵列架构</a:t>
            </a:r>
            <a:endParaRPr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1FBAB-5365-F928-4BA2-F191B09FFA11}"/>
              </a:ext>
            </a:extLst>
          </p:cNvPr>
          <p:cNvSpPr txBox="1">
            <a:spLocks/>
          </p:cNvSpPr>
          <p:nvPr/>
        </p:nvSpPr>
        <p:spPr>
          <a:xfrm>
            <a:off x="294896" y="237508"/>
            <a:ext cx="4420072" cy="954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sz="4400" dirty="0">
                <a:solidFill>
                  <a:srgbClr val="00B0F0"/>
                </a:solidFill>
                <a:effectLst/>
              </a:rPr>
              <a:t>脉动阵列：优势</a:t>
            </a:r>
            <a:endParaRPr lang="en-US" altLang="en-US" sz="4400" dirty="0">
              <a:solidFill>
                <a:srgbClr val="00B0F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5437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9" grpId="0" animBg="1"/>
      <p:bldP spid="107531" grpId="0"/>
      <p:bldP spid="90" grpId="0"/>
      <p:bldP spid="91" grpId="0"/>
      <p:bldP spid="92" grpId="0"/>
      <p:bldP spid="93" grpId="0"/>
      <p:bldP spid="107535" grpId="0"/>
      <p:bldP spid="10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776" y="242392"/>
            <a:ext cx="5788223" cy="954360"/>
          </a:xfrm>
          <a:effectLst/>
        </p:spPr>
        <p:txBody>
          <a:bodyPr>
            <a:noAutofit/>
          </a:bodyPr>
          <a:lstStyle/>
          <a:p>
            <a:r>
              <a:rPr lang="en-US" altLang="zh-CN" sz="4400" dirty="0">
                <a:solidFill>
                  <a:srgbClr val="00B0F0"/>
                </a:solidFill>
                <a:effectLst/>
              </a:rPr>
              <a:t>AI</a:t>
            </a:r>
            <a:r>
              <a:rPr lang="zh-CN" altLang="en-US" sz="4400" dirty="0">
                <a:solidFill>
                  <a:srgbClr val="00B0F0"/>
                </a:solidFill>
                <a:effectLst/>
              </a:rPr>
              <a:t>加速器中的脉动阵列</a:t>
            </a:r>
            <a:endParaRPr lang="en-US" altLang="en-US" sz="4400" dirty="0">
              <a:solidFill>
                <a:srgbClr val="00B0F0"/>
              </a:solidFill>
              <a:effectLst/>
            </a:endParaRP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A68E0EB9-E9EC-4BAF-8850-59AFED946832}"/>
              </a:ext>
            </a:extLst>
          </p:cNvPr>
          <p:cNvSpPr txBox="1">
            <a:spLocks/>
          </p:cNvSpPr>
          <p:nvPr/>
        </p:nvSpPr>
        <p:spPr bwMode="auto">
          <a:xfrm>
            <a:off x="1631504" y="1165495"/>
            <a:ext cx="6048670" cy="912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 dirty="0">
                <a:ea typeface="ＭＳ Ｐゴシック" panose="020B0600070205080204" pitchFamily="34" charset="-128"/>
              </a:rPr>
              <a:t>脉动阵列可以是多维的</a:t>
            </a:r>
            <a:endParaRPr lang="en-US" altLang="en-US" kern="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zh-CN" kern="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AI</a:t>
            </a:r>
            <a:r>
              <a:rPr lang="zh-CN" altLang="en-US" kern="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加速器中最常用是二维形式的脉动阵列</a:t>
            </a:r>
            <a:endParaRPr lang="en-US" altLang="en-US" kern="0" dirty="0">
              <a:ea typeface="ＭＳ Ｐゴシック" panose="020B0600070205080204" pitchFamily="34" charset="-128"/>
            </a:endParaRPr>
          </a:p>
          <a:p>
            <a:pPr lvl="1"/>
            <a:endParaRPr lang="en-US" altLang="en-US" kern="0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42BCF23-5BBC-48FB-B912-899C23EE0D2E}"/>
              </a:ext>
            </a:extLst>
          </p:cNvPr>
          <p:cNvGrpSpPr/>
          <p:nvPr/>
        </p:nvGrpSpPr>
        <p:grpSpPr>
          <a:xfrm>
            <a:off x="5450840" y="2298205"/>
            <a:ext cx="5029200" cy="3941998"/>
            <a:chOff x="3926840" y="2298205"/>
            <a:chExt cx="5029200" cy="394199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71842F9-7C22-4E6A-A8E9-24CF9CFBFE21}"/>
                </a:ext>
              </a:extLst>
            </p:cNvPr>
            <p:cNvSpPr/>
            <p:nvPr/>
          </p:nvSpPr>
          <p:spPr bwMode="auto">
            <a:xfrm>
              <a:off x="4536440" y="2621907"/>
              <a:ext cx="1066800" cy="9144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000000"/>
                </a:solidFill>
              </a:endParaRPr>
            </a:p>
            <a:p>
              <a:endParaRPr lang="zh-CN" altLang="en-US" dirty="0">
                <a:latin typeface="Arial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DE57696-C471-41AD-A436-0AEE86EA6E0C}"/>
                </a:ext>
              </a:extLst>
            </p:cNvPr>
            <p:cNvSpPr/>
            <p:nvPr/>
          </p:nvSpPr>
          <p:spPr bwMode="auto">
            <a:xfrm>
              <a:off x="6212840" y="2621907"/>
              <a:ext cx="1066800" cy="9144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Arial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A0538A2-A27A-4DC2-B951-D5FFC3D76CC8}"/>
                </a:ext>
              </a:extLst>
            </p:cNvPr>
            <p:cNvSpPr/>
            <p:nvPr/>
          </p:nvSpPr>
          <p:spPr bwMode="auto">
            <a:xfrm>
              <a:off x="7889240" y="2621907"/>
              <a:ext cx="1066800" cy="9144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Arial" pitchFamily="34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F31F298-6345-4827-9FA0-2CB9EB08B76E}"/>
                </a:ext>
              </a:extLst>
            </p:cNvPr>
            <p:cNvSpPr/>
            <p:nvPr/>
          </p:nvSpPr>
          <p:spPr bwMode="auto">
            <a:xfrm>
              <a:off x="4536440" y="3980582"/>
              <a:ext cx="1066800" cy="9144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000000"/>
                </a:solidFill>
              </a:endParaRPr>
            </a:p>
            <a:p>
              <a:endParaRPr lang="zh-CN" altLang="en-US" dirty="0">
                <a:latin typeface="Arial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9E9EEE3-E623-40E0-95F7-1FB410D485DA}"/>
                </a:ext>
              </a:extLst>
            </p:cNvPr>
            <p:cNvSpPr/>
            <p:nvPr/>
          </p:nvSpPr>
          <p:spPr bwMode="auto">
            <a:xfrm>
              <a:off x="6212840" y="3980582"/>
              <a:ext cx="1066800" cy="9144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000000"/>
                </a:solidFill>
              </a:endParaRPr>
            </a:p>
            <a:p>
              <a:endParaRPr lang="zh-CN" altLang="en-US" dirty="0">
                <a:latin typeface="Arial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463B354-D3A1-4212-83C4-F81791526E99}"/>
                </a:ext>
              </a:extLst>
            </p:cNvPr>
            <p:cNvSpPr/>
            <p:nvPr/>
          </p:nvSpPr>
          <p:spPr bwMode="auto">
            <a:xfrm>
              <a:off x="7889240" y="3980582"/>
              <a:ext cx="1066800" cy="9144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Arial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1CDCD51-4B4D-42F7-BB0D-5FFC8779FF15}"/>
                </a:ext>
              </a:extLst>
            </p:cNvPr>
            <p:cNvSpPr/>
            <p:nvPr/>
          </p:nvSpPr>
          <p:spPr bwMode="auto">
            <a:xfrm>
              <a:off x="4536440" y="5325803"/>
              <a:ext cx="1066800" cy="9144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Arial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7C9B240-FA10-4295-88B5-04F167103312}"/>
                </a:ext>
              </a:extLst>
            </p:cNvPr>
            <p:cNvSpPr/>
            <p:nvPr/>
          </p:nvSpPr>
          <p:spPr bwMode="auto">
            <a:xfrm>
              <a:off x="6212840" y="5325803"/>
              <a:ext cx="1066800" cy="9144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000000"/>
                </a:solidFill>
              </a:endParaRPr>
            </a:p>
            <a:p>
              <a:endParaRPr lang="zh-CN" altLang="en-US" dirty="0">
                <a:latin typeface="Arial" pitchFamily="34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A60CF42-E486-48CD-BDFA-2F76C08D6AA2}"/>
                </a:ext>
              </a:extLst>
            </p:cNvPr>
            <p:cNvSpPr/>
            <p:nvPr/>
          </p:nvSpPr>
          <p:spPr bwMode="auto">
            <a:xfrm>
              <a:off x="7889240" y="5325803"/>
              <a:ext cx="1066800" cy="9144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000000"/>
                </a:solidFill>
              </a:endParaRPr>
            </a:p>
            <a:p>
              <a:endParaRPr lang="zh-CN" altLang="en-US" dirty="0">
                <a:latin typeface="Arial" pitchFamily="34" charset="0"/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48293CA6-86B0-42D4-AD45-E1922F1BD6C3}"/>
                </a:ext>
              </a:extLst>
            </p:cNvPr>
            <p:cNvCxnSpPr>
              <a:endCxn id="18" idx="0"/>
            </p:cNvCxnSpPr>
            <p:nvPr/>
          </p:nvCxnSpPr>
          <p:spPr bwMode="auto">
            <a:xfrm>
              <a:off x="5069840" y="2298205"/>
              <a:ext cx="0" cy="323702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0EB5C297-CF7B-4A7D-A7E8-F5CE6989A531}"/>
                </a:ext>
              </a:extLst>
            </p:cNvPr>
            <p:cNvCxnSpPr/>
            <p:nvPr/>
          </p:nvCxnSpPr>
          <p:spPr bwMode="auto">
            <a:xfrm>
              <a:off x="6746240" y="2298205"/>
              <a:ext cx="0" cy="323702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3C6ADAA-7432-45E5-B579-0977FC978F63}"/>
                </a:ext>
              </a:extLst>
            </p:cNvPr>
            <p:cNvCxnSpPr/>
            <p:nvPr/>
          </p:nvCxnSpPr>
          <p:spPr bwMode="auto">
            <a:xfrm>
              <a:off x="8422640" y="2298205"/>
              <a:ext cx="0" cy="323702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D037A792-5726-41B2-8C38-3CFA1DEC0D82}"/>
                </a:ext>
              </a:extLst>
            </p:cNvPr>
            <p:cNvCxnSpPr>
              <a:cxnSpLocks/>
              <a:stCxn id="18" idx="2"/>
              <a:endCxn id="21" idx="0"/>
            </p:cNvCxnSpPr>
            <p:nvPr/>
          </p:nvCxnSpPr>
          <p:spPr bwMode="auto">
            <a:xfrm>
              <a:off x="5069840" y="3536307"/>
              <a:ext cx="0" cy="444275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E0DB49F-7E40-49CF-8C7C-5AEE2EB2A5EC}"/>
                </a:ext>
              </a:extLst>
            </p:cNvPr>
            <p:cNvCxnSpPr>
              <a:cxnSpLocks/>
              <a:stCxn id="19" idx="2"/>
              <a:endCxn id="22" idx="0"/>
            </p:cNvCxnSpPr>
            <p:nvPr/>
          </p:nvCxnSpPr>
          <p:spPr bwMode="auto">
            <a:xfrm>
              <a:off x="6746240" y="3536307"/>
              <a:ext cx="0" cy="444275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58DC1D15-ADAC-439D-B594-A95394510E76}"/>
                </a:ext>
              </a:extLst>
            </p:cNvPr>
            <p:cNvCxnSpPr>
              <a:cxnSpLocks/>
              <a:stCxn id="20" idx="2"/>
              <a:endCxn id="23" idx="0"/>
            </p:cNvCxnSpPr>
            <p:nvPr/>
          </p:nvCxnSpPr>
          <p:spPr bwMode="auto">
            <a:xfrm>
              <a:off x="8422640" y="3536307"/>
              <a:ext cx="0" cy="444275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676C24BA-9E39-4449-A402-D4E0EA0AB24D}"/>
                </a:ext>
              </a:extLst>
            </p:cNvPr>
            <p:cNvCxnSpPr>
              <a:cxnSpLocks/>
              <a:stCxn id="21" idx="2"/>
              <a:endCxn id="24" idx="0"/>
            </p:cNvCxnSpPr>
            <p:nvPr/>
          </p:nvCxnSpPr>
          <p:spPr bwMode="auto">
            <a:xfrm>
              <a:off x="5069840" y="4894982"/>
              <a:ext cx="0" cy="430821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64F4FAD-0C5D-4BBD-9F99-B095DFF654C7}"/>
                </a:ext>
              </a:extLst>
            </p:cNvPr>
            <p:cNvCxnSpPr>
              <a:cxnSpLocks/>
              <a:stCxn id="22" idx="2"/>
              <a:endCxn id="25" idx="0"/>
            </p:cNvCxnSpPr>
            <p:nvPr/>
          </p:nvCxnSpPr>
          <p:spPr bwMode="auto">
            <a:xfrm>
              <a:off x="6746240" y="4894982"/>
              <a:ext cx="0" cy="430821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B9DDBEC7-5303-46BB-AA31-FDE49AEAD3B0}"/>
                </a:ext>
              </a:extLst>
            </p:cNvPr>
            <p:cNvCxnSpPr>
              <a:cxnSpLocks/>
              <a:stCxn id="23" idx="2"/>
              <a:endCxn id="26" idx="0"/>
            </p:cNvCxnSpPr>
            <p:nvPr/>
          </p:nvCxnSpPr>
          <p:spPr bwMode="auto">
            <a:xfrm>
              <a:off x="8422640" y="4894982"/>
              <a:ext cx="0" cy="430821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0451F71-1B74-4A18-B57F-32F5DB992804}"/>
                </a:ext>
              </a:extLst>
            </p:cNvPr>
            <p:cNvCxnSpPr>
              <a:cxnSpLocks/>
              <a:stCxn id="18" idx="3"/>
              <a:endCxn id="19" idx="1"/>
            </p:cNvCxnSpPr>
            <p:nvPr/>
          </p:nvCxnSpPr>
          <p:spPr bwMode="auto">
            <a:xfrm>
              <a:off x="5603240" y="3079107"/>
              <a:ext cx="609600" cy="0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EE417655-5D1B-4E9C-A68D-E858A41E24BB}"/>
                </a:ext>
              </a:extLst>
            </p:cNvPr>
            <p:cNvCxnSpPr>
              <a:cxnSpLocks/>
              <a:stCxn id="21" idx="3"/>
              <a:endCxn id="22" idx="1"/>
            </p:cNvCxnSpPr>
            <p:nvPr/>
          </p:nvCxnSpPr>
          <p:spPr bwMode="auto">
            <a:xfrm>
              <a:off x="5603240" y="4437782"/>
              <a:ext cx="609600" cy="0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1257D017-5C31-40D9-819F-D4BF137FC11B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 bwMode="auto">
            <a:xfrm>
              <a:off x="5603240" y="5783003"/>
              <a:ext cx="609600" cy="0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5C1A2485-9CFA-41F3-95BE-053DC3DEB42A}"/>
                </a:ext>
              </a:extLst>
            </p:cNvPr>
            <p:cNvCxnSpPr>
              <a:cxnSpLocks/>
              <a:stCxn id="19" idx="3"/>
              <a:endCxn id="20" idx="1"/>
            </p:cNvCxnSpPr>
            <p:nvPr/>
          </p:nvCxnSpPr>
          <p:spPr bwMode="auto">
            <a:xfrm>
              <a:off x="7279640" y="3079107"/>
              <a:ext cx="609600" cy="0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F5B3BD2F-D45A-47CD-84F3-4F4BDC111EE9}"/>
                </a:ext>
              </a:extLst>
            </p:cNvPr>
            <p:cNvCxnSpPr>
              <a:cxnSpLocks/>
              <a:stCxn id="22" idx="3"/>
              <a:endCxn id="23" idx="1"/>
            </p:cNvCxnSpPr>
            <p:nvPr/>
          </p:nvCxnSpPr>
          <p:spPr bwMode="auto">
            <a:xfrm>
              <a:off x="7279640" y="4437782"/>
              <a:ext cx="609600" cy="0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32C20070-4E0E-4B8A-8474-241CB8F778B8}"/>
                </a:ext>
              </a:extLst>
            </p:cNvPr>
            <p:cNvCxnSpPr>
              <a:cxnSpLocks/>
              <a:stCxn id="25" idx="3"/>
              <a:endCxn id="26" idx="1"/>
            </p:cNvCxnSpPr>
            <p:nvPr/>
          </p:nvCxnSpPr>
          <p:spPr bwMode="auto">
            <a:xfrm>
              <a:off x="7279640" y="5783003"/>
              <a:ext cx="609600" cy="0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9B4E34F6-A795-49C9-B62B-9DE1CA600FC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926840" y="3085181"/>
              <a:ext cx="609600" cy="0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74482EAE-FDA0-4291-B316-E0884CC804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926840" y="4437782"/>
              <a:ext cx="609600" cy="0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79291BF5-6582-4651-A390-0F2D03A1FD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926840" y="5783003"/>
              <a:ext cx="609600" cy="0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8A1D24D2-530E-4B99-9CD2-BC92152D4CD9}"/>
              </a:ext>
            </a:extLst>
          </p:cNvPr>
          <p:cNvSpPr/>
          <p:nvPr/>
        </p:nvSpPr>
        <p:spPr>
          <a:xfrm>
            <a:off x="6323585" y="2827886"/>
            <a:ext cx="49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Bahnschrift Condensed" panose="020B0502040204020203" pitchFamily="34" charset="0"/>
              </a:rPr>
              <a:t> PE</a:t>
            </a:r>
            <a:endParaRPr lang="zh-CN" altLang="en-US" sz="2400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D96C689-CF81-459D-94D7-033E92F1D112}"/>
              </a:ext>
            </a:extLst>
          </p:cNvPr>
          <p:cNvSpPr/>
          <p:nvPr/>
        </p:nvSpPr>
        <p:spPr>
          <a:xfrm>
            <a:off x="8020813" y="2839580"/>
            <a:ext cx="49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Bahnschrift Condensed" panose="020B0502040204020203" pitchFamily="34" charset="0"/>
              </a:rPr>
              <a:t> PE</a:t>
            </a:r>
            <a:endParaRPr lang="zh-CN" altLang="en-US" sz="2400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415C4D4-AADC-481E-A5A9-C87744ED115A}"/>
              </a:ext>
            </a:extLst>
          </p:cNvPr>
          <p:cNvSpPr/>
          <p:nvPr/>
        </p:nvSpPr>
        <p:spPr>
          <a:xfrm>
            <a:off x="9677401" y="2846266"/>
            <a:ext cx="49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Bahnschrift Condensed" panose="020B0502040204020203" pitchFamily="34" charset="0"/>
              </a:rPr>
              <a:t> PE</a:t>
            </a:r>
            <a:endParaRPr lang="zh-CN" altLang="en-US" sz="2400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95ADDA1-ECAE-4E77-9644-CD1739DCB4ED}"/>
              </a:ext>
            </a:extLst>
          </p:cNvPr>
          <p:cNvSpPr/>
          <p:nvPr/>
        </p:nvSpPr>
        <p:spPr>
          <a:xfrm>
            <a:off x="6328157" y="4194025"/>
            <a:ext cx="49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Bahnschrift Condensed" panose="020B0502040204020203" pitchFamily="34" charset="0"/>
              </a:rPr>
              <a:t> PE</a:t>
            </a:r>
            <a:endParaRPr lang="zh-CN" altLang="en-US" sz="240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4C3F119-57BC-4932-A170-B8F715D16940}"/>
              </a:ext>
            </a:extLst>
          </p:cNvPr>
          <p:cNvSpPr/>
          <p:nvPr/>
        </p:nvSpPr>
        <p:spPr>
          <a:xfrm>
            <a:off x="7999986" y="4194024"/>
            <a:ext cx="49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Bahnschrift Condensed" panose="020B0502040204020203" pitchFamily="34" charset="0"/>
              </a:rPr>
              <a:t> PE</a:t>
            </a:r>
            <a:endParaRPr lang="zh-CN" altLang="en-US" sz="240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AFA5A78-D986-44D5-8419-401BC6FE89E9}"/>
              </a:ext>
            </a:extLst>
          </p:cNvPr>
          <p:cNvSpPr/>
          <p:nvPr/>
        </p:nvSpPr>
        <p:spPr>
          <a:xfrm>
            <a:off x="9677400" y="4205567"/>
            <a:ext cx="49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Bahnschrift Condensed" panose="020B0502040204020203" pitchFamily="34" charset="0"/>
              </a:rPr>
              <a:t> PE</a:t>
            </a:r>
            <a:endParaRPr lang="zh-CN" altLang="en-US" sz="2400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E3A237F-4804-4765-AFAF-7B7D7289F1E2}"/>
              </a:ext>
            </a:extLst>
          </p:cNvPr>
          <p:cNvSpPr/>
          <p:nvPr/>
        </p:nvSpPr>
        <p:spPr>
          <a:xfrm>
            <a:off x="6344413" y="5552171"/>
            <a:ext cx="49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Bahnschrift Condensed" panose="020B0502040204020203" pitchFamily="34" charset="0"/>
              </a:rPr>
              <a:t> PE</a:t>
            </a:r>
            <a:endParaRPr lang="zh-CN" altLang="en-US" sz="2400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A1B2E2A-5260-4459-BC3F-F4F16BB868D3}"/>
              </a:ext>
            </a:extLst>
          </p:cNvPr>
          <p:cNvSpPr/>
          <p:nvPr/>
        </p:nvSpPr>
        <p:spPr>
          <a:xfrm>
            <a:off x="8020812" y="5525792"/>
            <a:ext cx="49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Bahnschrift Condensed" panose="020B0502040204020203" pitchFamily="34" charset="0"/>
              </a:rPr>
              <a:t> PE</a:t>
            </a:r>
            <a:endParaRPr lang="zh-CN" altLang="en-US" sz="2400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2DFD547-EAFE-4C59-9090-F252D06CEEDE}"/>
              </a:ext>
            </a:extLst>
          </p:cNvPr>
          <p:cNvSpPr/>
          <p:nvPr/>
        </p:nvSpPr>
        <p:spPr>
          <a:xfrm>
            <a:off x="9707373" y="5552171"/>
            <a:ext cx="498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Bahnschrift Condensed" panose="020B0502040204020203" pitchFamily="34" charset="0"/>
              </a:rPr>
              <a:t> PE</a:t>
            </a:r>
            <a:endParaRPr lang="zh-CN" altLang="en-US" sz="2400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D49CAD0-9997-4DC2-871D-DD492B22DE18}"/>
              </a:ext>
            </a:extLst>
          </p:cNvPr>
          <p:cNvGrpSpPr/>
          <p:nvPr/>
        </p:nvGrpSpPr>
        <p:grpSpPr>
          <a:xfrm>
            <a:off x="1881975" y="2157882"/>
            <a:ext cx="2635137" cy="2232949"/>
            <a:chOff x="357974" y="1996119"/>
            <a:chExt cx="2635137" cy="2232949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545D4780-1188-4E08-B1FE-EE30CA8A6721}"/>
                </a:ext>
              </a:extLst>
            </p:cNvPr>
            <p:cNvSpPr/>
            <p:nvPr/>
          </p:nvSpPr>
          <p:spPr bwMode="auto">
            <a:xfrm>
              <a:off x="1305559" y="2870393"/>
              <a:ext cx="1066800" cy="9144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000000"/>
                </a:solidFill>
              </a:endParaRPr>
            </a:p>
            <a:p>
              <a:pPr algn="ctr"/>
              <a:r>
                <a:rPr lang="en-US" altLang="zh-CN" dirty="0"/>
                <a:t>Cell</a:t>
              </a:r>
              <a:endParaRPr lang="zh-CN" altLang="en-US" dirty="0">
                <a:latin typeface="Arial" pitchFamily="34" charset="0"/>
              </a:endParaRP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39E0DC76-040A-4B16-8CC5-56FA743BC91C}"/>
                </a:ext>
              </a:extLst>
            </p:cNvPr>
            <p:cNvCxnSpPr>
              <a:endCxn id="49" idx="0"/>
            </p:cNvCxnSpPr>
            <p:nvPr/>
          </p:nvCxnSpPr>
          <p:spPr bwMode="auto">
            <a:xfrm>
              <a:off x="1838959" y="2546691"/>
              <a:ext cx="0" cy="323702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C667647C-5DB0-48E9-9412-0DE95A95F3C1}"/>
                </a:ext>
              </a:extLst>
            </p:cNvPr>
            <p:cNvCxnSpPr>
              <a:cxnSpLocks/>
              <a:stCxn id="49" idx="2"/>
            </p:cNvCxnSpPr>
            <p:nvPr/>
          </p:nvCxnSpPr>
          <p:spPr bwMode="auto">
            <a:xfrm>
              <a:off x="1838959" y="3784793"/>
              <a:ext cx="0" cy="444275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5DFFBD0D-FD0B-4DB2-AA47-9D202AB50DB5}"/>
                </a:ext>
              </a:extLst>
            </p:cNvPr>
            <p:cNvCxnSpPr>
              <a:cxnSpLocks/>
              <a:stCxn id="49" idx="3"/>
            </p:cNvCxnSpPr>
            <p:nvPr/>
          </p:nvCxnSpPr>
          <p:spPr bwMode="auto">
            <a:xfrm>
              <a:off x="2372359" y="3327593"/>
              <a:ext cx="609600" cy="0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CB25935D-17EF-44D8-A974-4A6602DC6B6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5959" y="3333667"/>
              <a:ext cx="609600" cy="0"/>
            </a:xfrm>
            <a:prstGeom prst="straightConnector1">
              <a:avLst/>
            </a:prstGeom>
            <a:solidFill>
              <a:srgbClr val="C0C0C0"/>
            </a:solidFill>
            <a:ln w="222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DD2151E-2560-4021-87C4-EA13AC7C5B2F}"/>
                </a:ext>
              </a:extLst>
            </p:cNvPr>
            <p:cNvSpPr/>
            <p:nvPr/>
          </p:nvSpPr>
          <p:spPr>
            <a:xfrm>
              <a:off x="695959" y="2958261"/>
              <a:ext cx="5245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Bahnschrift Condensed" panose="020B0502040204020203" pitchFamily="34" charset="0"/>
                </a:rPr>
                <a:t> Left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63FE4957-B77F-4803-AB66-245089A5B4F4}"/>
                </a:ext>
              </a:extLst>
            </p:cNvPr>
            <p:cNvSpPr/>
            <p:nvPr/>
          </p:nvSpPr>
          <p:spPr>
            <a:xfrm>
              <a:off x="2361207" y="2958261"/>
              <a:ext cx="6319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Bahnschrift Condensed" panose="020B0502040204020203" pitchFamily="34" charset="0"/>
                </a:rPr>
                <a:t> Right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A2866A3-FAFC-490E-A651-0568BD324905}"/>
                </a:ext>
              </a:extLst>
            </p:cNvPr>
            <p:cNvSpPr/>
            <p:nvPr/>
          </p:nvSpPr>
          <p:spPr>
            <a:xfrm>
              <a:off x="1775459" y="2438816"/>
              <a:ext cx="6735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Bahnschrift Condensed" panose="020B0502040204020203" pitchFamily="34" charset="0"/>
                </a:rPr>
                <a:t>Upper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3467EF16-2C1E-443C-9B25-6B6790F3E84C}"/>
                </a:ext>
              </a:extLst>
            </p:cNvPr>
            <p:cNvSpPr/>
            <p:nvPr/>
          </p:nvSpPr>
          <p:spPr>
            <a:xfrm>
              <a:off x="1775459" y="3784793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Bahnschrift Condensed" panose="020B0502040204020203" pitchFamily="34" charset="0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Bahnschrift Condensed" panose="020B0502040204020203" pitchFamily="34" charset="0"/>
                </a:rPr>
                <a:t>Down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501C483E-BEFD-4E96-A38C-446A742DD11F}"/>
                </a:ext>
              </a:extLst>
            </p:cNvPr>
            <p:cNvSpPr/>
            <p:nvPr/>
          </p:nvSpPr>
          <p:spPr>
            <a:xfrm>
              <a:off x="357974" y="1996119"/>
              <a:ext cx="26148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Bahnschrift Condensed" panose="020B0502040204020203" pitchFamily="34" charset="0"/>
                </a:rPr>
                <a:t> Processing engine (PE):</a:t>
              </a:r>
              <a:endParaRPr lang="zh-CN" altLang="en-US" sz="2400" dirty="0"/>
            </a:p>
          </p:txBody>
        </p:sp>
      </p:grpSp>
      <p:sp>
        <p:nvSpPr>
          <p:cNvPr id="69" name="矩形 68">
            <a:extLst>
              <a:ext uri="{FF2B5EF4-FFF2-40B4-BE49-F238E27FC236}">
                <a16:creationId xmlns:a16="http://schemas.microsoft.com/office/drawing/2014/main" id="{23CD3BC5-64DB-47EA-B9E9-653DD42A07F7}"/>
              </a:ext>
            </a:extLst>
          </p:cNvPr>
          <p:cNvSpPr/>
          <p:nvPr/>
        </p:nvSpPr>
        <p:spPr>
          <a:xfrm>
            <a:off x="1881975" y="4443478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Bahnschrift Condensed" panose="020B0502040204020203" pitchFamily="34" charset="0"/>
              </a:rPr>
              <a:t>How a PE updates:</a:t>
            </a:r>
            <a:endParaRPr lang="zh-CN" altLang="en-US" sz="24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8F0F9F2-B263-41AC-9AFB-92B76C2FD798}"/>
              </a:ext>
            </a:extLst>
          </p:cNvPr>
          <p:cNvSpPr/>
          <p:nvPr/>
        </p:nvSpPr>
        <p:spPr>
          <a:xfrm>
            <a:off x="2524760" y="4934885"/>
            <a:ext cx="1128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Bahnschrift Condensed" panose="020B0502040204020203" pitchFamily="34" charset="0"/>
              </a:rPr>
              <a:t> Right  = Left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6595D74-6667-4487-8FB1-29861B60406B}"/>
              </a:ext>
            </a:extLst>
          </p:cNvPr>
          <p:cNvSpPr/>
          <p:nvPr/>
        </p:nvSpPr>
        <p:spPr>
          <a:xfrm>
            <a:off x="2507416" y="5410345"/>
            <a:ext cx="1292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Bahnschrift Condensed" panose="020B0502040204020203" pitchFamily="34" charset="0"/>
              </a:rPr>
              <a:t> </a:t>
            </a:r>
            <a:r>
              <a:rPr lang="en-US" altLang="zh-CN" dirty="0">
                <a:solidFill>
                  <a:srgbClr val="0432FF"/>
                </a:solidFill>
                <a:latin typeface="Bahnschrift Condensed" panose="020B0502040204020203" pitchFamily="34" charset="0"/>
              </a:rPr>
              <a:t>Down  = Upper</a:t>
            </a:r>
            <a:endParaRPr lang="zh-CN" altLang="en-US" dirty="0">
              <a:solidFill>
                <a:srgbClr val="0432FF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729B3D-747E-4E1B-941C-B9322B7D06C3}"/>
              </a:ext>
            </a:extLst>
          </p:cNvPr>
          <p:cNvSpPr/>
          <p:nvPr/>
        </p:nvSpPr>
        <p:spPr>
          <a:xfrm>
            <a:off x="2538454" y="5858847"/>
            <a:ext cx="2260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Cell = Cell + </a:t>
            </a:r>
            <a:r>
              <a:rPr lang="en-US" altLang="zh-CN" dirty="0">
                <a:solidFill>
                  <a:srgbClr val="0432FF"/>
                </a:solidFill>
                <a:latin typeface="Bahnschrift Condensed" panose="020B0502040204020203" pitchFamily="34" charset="0"/>
              </a:rPr>
              <a:t>Upper </a:t>
            </a:r>
            <a:r>
              <a:rPr lang="en-US" altLang="zh-CN" dirty="0"/>
              <a:t>*</a:t>
            </a:r>
            <a:r>
              <a:rPr lang="en-US" altLang="zh-CN" dirty="0">
                <a:solidFill>
                  <a:srgbClr val="C00000"/>
                </a:solidFill>
                <a:latin typeface="Bahnschrift Condensed" panose="020B0502040204020203" pitchFamily="34" charset="0"/>
              </a:rPr>
              <a:t> Left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707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9" grpId="0"/>
      <p:bldP spid="71" grpId="0"/>
      <p:bldP spid="72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89B80B-DD87-3240-931D-CBBCFF2D6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062" y="1412776"/>
            <a:ext cx="5033368" cy="519372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8A7DB-7452-DD40-841C-AE9715578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2" y="1201933"/>
            <a:ext cx="5288437" cy="1133475"/>
          </a:xfrm>
        </p:spPr>
        <p:txBody>
          <a:bodyPr/>
          <a:lstStyle/>
          <a:p>
            <a:r>
              <a:rPr lang="zh-CN" altLang="en-US" dirty="0"/>
              <a:t>两个</a:t>
            </a:r>
            <a:r>
              <a:rPr lang="en-US" altLang="zh-CN" dirty="0"/>
              <a:t>3X3</a:t>
            </a:r>
            <a:r>
              <a:rPr lang="zh-CN" altLang="en-US" dirty="0"/>
              <a:t>的矩阵相乘</a:t>
            </a:r>
            <a:endParaRPr lang="en-US" dirty="0"/>
          </a:p>
          <a:p>
            <a:pPr lvl="1"/>
            <a:r>
              <a:rPr lang="en-US" altLang="zh-CN" dirty="0"/>
              <a:t>PE</a:t>
            </a:r>
            <a:r>
              <a:rPr lang="zh-CN" altLang="en-US" dirty="0"/>
              <a:t>单元中会保存计算结果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20FD403-2419-4D4B-9C13-59C1837A730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33880" y="2320926"/>
              <a:ext cx="1538364" cy="11334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788">
                      <a:extLst>
                        <a:ext uri="{9D8B030D-6E8A-4147-A177-3AD203B41FA5}">
                          <a16:colId xmlns:a16="http://schemas.microsoft.com/office/drawing/2014/main" val="566893465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4131509296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37862122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1757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80602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575089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20FD403-2419-4D4B-9C13-59C1837A730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33880" y="2320926"/>
              <a:ext cx="1538364" cy="11334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788">
                      <a:extLst>
                        <a:ext uri="{9D8B030D-6E8A-4147-A177-3AD203B41FA5}">
                          <a16:colId xmlns:a16="http://schemas.microsoft.com/office/drawing/2014/main" val="566893465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4131509296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3786212250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6" t="-1613" r="-201176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381" t="-1613" r="-103571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613" r="-2353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175714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6" t="-100000" r="-201176" b="-10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381" t="-100000" r="-103571" b="-10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0000" r="-2353" b="-1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806024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6" t="-203226" r="-201176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381" t="-203226" r="-103571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03226" r="-2353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75089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C4FA9AD5-13F3-4D03-93C8-FD82F88EBE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826616" y="2320924"/>
              <a:ext cx="1538364" cy="11334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788">
                      <a:extLst>
                        <a:ext uri="{9D8B030D-6E8A-4147-A177-3AD203B41FA5}">
                          <a16:colId xmlns:a16="http://schemas.microsoft.com/office/drawing/2014/main" val="566893465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4131509296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37862122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1757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80602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575089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C4FA9AD5-13F3-4D03-93C8-FD82F88EBE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826616" y="2320924"/>
              <a:ext cx="1538364" cy="11334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788">
                      <a:extLst>
                        <a:ext uri="{9D8B030D-6E8A-4147-A177-3AD203B41FA5}">
                          <a16:colId xmlns:a16="http://schemas.microsoft.com/office/drawing/2014/main" val="566893465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4131509296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3786212250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6" t="-1613" r="-201176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81" t="-1613" r="-103571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613" r="-2353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175714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6" t="-100000" r="-201176" b="-10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81" t="-100000" r="-103571" b="-10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0000" r="-2353" b="-1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806024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6" t="-203226" r="-201176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81" t="-203226" r="-103571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03226" r="-2353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75089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0B268538-2107-4073-AB16-892B36B4551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43880" y="2320924"/>
              <a:ext cx="1538364" cy="11334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788">
                      <a:extLst>
                        <a:ext uri="{9D8B030D-6E8A-4147-A177-3AD203B41FA5}">
                          <a16:colId xmlns:a16="http://schemas.microsoft.com/office/drawing/2014/main" val="566893465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4131509296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37862122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1757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80602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575089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0B268538-2107-4073-AB16-892B36B4551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43880" y="2320924"/>
              <a:ext cx="1538364" cy="11334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2788">
                      <a:extLst>
                        <a:ext uri="{9D8B030D-6E8A-4147-A177-3AD203B41FA5}">
                          <a16:colId xmlns:a16="http://schemas.microsoft.com/office/drawing/2014/main" val="566893465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4131509296"/>
                        </a:ext>
                      </a:extLst>
                    </a:gridCol>
                    <a:gridCol w="512788">
                      <a:extLst>
                        <a:ext uri="{9D8B030D-6E8A-4147-A177-3AD203B41FA5}">
                          <a16:colId xmlns:a16="http://schemas.microsoft.com/office/drawing/2014/main" val="3786212250"/>
                        </a:ext>
                      </a:extLst>
                    </a:gridCol>
                  </a:tblGrid>
                  <a:tr h="377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6" t="-1613" r="-201176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381" t="-1613" r="-103571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613" r="-2353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175714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6" t="-100000" r="-201176" b="-10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381" t="-100000" r="-103571" b="-10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00000" r="-2353" b="-1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806024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6" t="-203226" r="-201176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381" t="-203226" r="-103571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203226" r="-2353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75089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12E674C8-86EB-4A24-BA3E-9765354182B6}"/>
              </a:ext>
            </a:extLst>
          </p:cNvPr>
          <p:cNvSpPr txBox="1"/>
          <p:nvPr/>
        </p:nvSpPr>
        <p:spPr>
          <a:xfrm>
            <a:off x="3423965" y="26870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=</a:t>
            </a:r>
            <a:endParaRPr lang="zh-CN" altLang="en-US" sz="2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BAEA6B-B1CD-4B0E-A21C-049311364B6B}"/>
              </a:ext>
            </a:extLst>
          </p:cNvPr>
          <p:cNvSpPr txBox="1"/>
          <p:nvPr/>
        </p:nvSpPr>
        <p:spPr>
          <a:xfrm>
            <a:off x="5295259" y="266986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×</a:t>
            </a:r>
            <a:endParaRPr lang="zh-CN" alt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96FB6E-6FD9-2A41-D172-25E99BEEBEA9}"/>
              </a:ext>
            </a:extLst>
          </p:cNvPr>
          <p:cNvSpPr txBox="1">
            <a:spLocks/>
          </p:cNvSpPr>
          <p:nvPr/>
        </p:nvSpPr>
        <p:spPr>
          <a:xfrm>
            <a:off x="307776" y="242392"/>
            <a:ext cx="9748664" cy="95436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sz="4400" dirty="0">
                <a:solidFill>
                  <a:srgbClr val="00B0F0"/>
                </a:solidFill>
                <a:effectLst/>
              </a:rPr>
              <a:t>例子：用于矩阵乘法的二维脉动阵列</a:t>
            </a:r>
            <a:endParaRPr lang="en-US" altLang="en-US" sz="4400" dirty="0">
              <a:solidFill>
                <a:srgbClr val="00B0F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610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0E9CF-A639-C84A-F8DF-DA36EDAB3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2866FBCA-1C72-B181-D7E5-D2B0C979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53" y="195999"/>
            <a:ext cx="4317507" cy="1066800"/>
          </a:xfrm>
        </p:spPr>
        <p:txBody>
          <a:bodyPr>
            <a:noAutofit/>
          </a:bodyPr>
          <a:lstStyle/>
          <a:p>
            <a:r>
              <a:rPr lang="en-US" altLang="zh-CN" sz="4400" dirty="0">
                <a:solidFill>
                  <a:srgbClr val="00B0F0"/>
                </a:solidFill>
                <a:effectLst/>
                <a:ea typeface="ＭＳ Ｐゴシック" panose="020B0600070205080204" pitchFamily="34" charset="-128"/>
              </a:rPr>
              <a:t>SAMV</a:t>
            </a:r>
            <a:r>
              <a:rPr lang="zh-CN" altLang="en-US" sz="4400" dirty="0">
                <a:solidFill>
                  <a:srgbClr val="00B0F0"/>
                </a:solidFill>
                <a:effectLst/>
                <a:ea typeface="ＭＳ Ｐゴシック" panose="020B0600070205080204" pitchFamily="34" charset="-128"/>
              </a:rPr>
              <a:t>脉动阵列</a:t>
            </a:r>
            <a:endParaRPr lang="en-US" altLang="en-US" sz="4400" dirty="0">
              <a:solidFill>
                <a:srgbClr val="00B0F0"/>
              </a:solidFill>
              <a:effectLst/>
              <a:ea typeface="ＭＳ Ｐゴシック" panose="020B0600070205080204" pitchFamily="34" charset="-128"/>
            </a:endParaRPr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D2178240-655D-BFCF-64B2-20A2ACD06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5943600"/>
            <a:ext cx="8610600" cy="527050"/>
          </a:xfrm>
        </p:spPr>
        <p:txBody>
          <a:bodyPr/>
          <a:lstStyle/>
          <a:p>
            <a:pPr marL="342900" lvl="1" indent="-342900">
              <a:buClr>
                <a:schemeClr val="accent1"/>
              </a:buClr>
              <a:buSzPct val="65000"/>
            </a:pPr>
            <a:r>
              <a:rPr lang="en-US" altLang="en-US" dirty="0">
                <a:ea typeface="ＭＳ Ｐゴシック" panose="020B0600070205080204" pitchFamily="34" charset="-128"/>
              </a:rPr>
              <a:t>T = 0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42F639-4F34-C34F-D26D-F116B92A3C41}"/>
              </a:ext>
            </a:extLst>
          </p:cNvPr>
          <p:cNvSpPr/>
          <p:nvPr/>
        </p:nvSpPr>
        <p:spPr bwMode="auto">
          <a:xfrm>
            <a:off x="4935877" y="3735230"/>
            <a:ext cx="1066800" cy="9144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rgbClr val="000000"/>
              </a:solidFill>
            </a:endParaRPr>
          </a:p>
          <a:p>
            <a:endParaRPr lang="zh-CN" altLang="en-US" dirty="0">
              <a:latin typeface="Arial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F2D0A4-8D90-B463-FC5A-F0882CD67042}"/>
              </a:ext>
            </a:extLst>
          </p:cNvPr>
          <p:cNvSpPr/>
          <p:nvPr/>
        </p:nvSpPr>
        <p:spPr bwMode="auto">
          <a:xfrm>
            <a:off x="6612277" y="3735230"/>
            <a:ext cx="1066800" cy="9144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Arial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1166E1-F986-9490-C6B3-2A2FADF41355}"/>
              </a:ext>
            </a:extLst>
          </p:cNvPr>
          <p:cNvSpPr/>
          <p:nvPr/>
        </p:nvSpPr>
        <p:spPr>
          <a:xfrm>
            <a:off x="5314410" y="2975025"/>
            <a:ext cx="3465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p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63EA537-1241-5D94-3EEA-1E73478FB63C}"/>
              </a:ext>
            </a:extLst>
          </p:cNvPr>
          <p:cNvSpPr/>
          <p:nvPr/>
        </p:nvSpPr>
        <p:spPr>
          <a:xfrm>
            <a:off x="7023283" y="2663737"/>
            <a:ext cx="2888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q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85F2ED9-948F-ED0D-A8C2-798A66FDFBF7}"/>
              </a:ext>
            </a:extLst>
          </p:cNvPr>
          <p:cNvSpPr/>
          <p:nvPr/>
        </p:nvSpPr>
        <p:spPr>
          <a:xfrm>
            <a:off x="7027307" y="2331001"/>
            <a:ext cx="304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s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C72D09B-057A-5213-61E9-57EFEB67CD27}"/>
              </a:ext>
            </a:extLst>
          </p:cNvPr>
          <p:cNvCxnSpPr>
            <a:endCxn id="4" idx="0"/>
          </p:cNvCxnSpPr>
          <p:nvPr/>
        </p:nvCxnSpPr>
        <p:spPr bwMode="auto">
          <a:xfrm>
            <a:off x="5469277" y="3411528"/>
            <a:ext cx="0" cy="323702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18A993C-E1C3-7020-4475-B97F6207028B}"/>
              </a:ext>
            </a:extLst>
          </p:cNvPr>
          <p:cNvCxnSpPr/>
          <p:nvPr/>
        </p:nvCxnSpPr>
        <p:spPr bwMode="auto">
          <a:xfrm>
            <a:off x="7145677" y="3411528"/>
            <a:ext cx="0" cy="323702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0BD40D77-3C4B-9DBC-DC4E-6BCD1A3F5E98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 bwMode="auto">
          <a:xfrm>
            <a:off x="6002677" y="4192430"/>
            <a:ext cx="6096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6FE64EA-5695-48E9-32F1-815D8095F5CA}"/>
              </a:ext>
            </a:extLst>
          </p:cNvPr>
          <p:cNvCxnSpPr>
            <a:cxnSpLocks/>
          </p:cNvCxnSpPr>
          <p:nvPr/>
        </p:nvCxnSpPr>
        <p:spPr bwMode="auto">
          <a:xfrm>
            <a:off x="4326277" y="4198504"/>
            <a:ext cx="6096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6362C419-AAB0-A86D-8E9E-3C772F54D5D4}"/>
              </a:ext>
            </a:extLst>
          </p:cNvPr>
          <p:cNvCxnSpPr>
            <a:cxnSpLocks/>
          </p:cNvCxnSpPr>
          <p:nvPr/>
        </p:nvCxnSpPr>
        <p:spPr bwMode="auto">
          <a:xfrm>
            <a:off x="4614175" y="2883570"/>
            <a:ext cx="3810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1B6F4E18-01AA-BCD1-C7BE-ABEB412513E6}"/>
              </a:ext>
            </a:extLst>
          </p:cNvPr>
          <p:cNvCxnSpPr>
            <a:cxnSpLocks/>
          </p:cNvCxnSpPr>
          <p:nvPr/>
        </p:nvCxnSpPr>
        <p:spPr bwMode="auto">
          <a:xfrm>
            <a:off x="5891081" y="2883570"/>
            <a:ext cx="856694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0A9F228B-737D-4A65-0C1B-569572674A82}"/>
              </a:ext>
            </a:extLst>
          </p:cNvPr>
          <p:cNvCxnSpPr>
            <a:cxnSpLocks/>
          </p:cNvCxnSpPr>
          <p:nvPr/>
        </p:nvCxnSpPr>
        <p:spPr bwMode="auto">
          <a:xfrm>
            <a:off x="4614175" y="3220865"/>
            <a:ext cx="3810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04D529A4-D322-F895-C173-303C0BCD5177}"/>
              </a:ext>
            </a:extLst>
          </p:cNvPr>
          <p:cNvSpPr/>
          <p:nvPr/>
        </p:nvSpPr>
        <p:spPr>
          <a:xfrm>
            <a:off x="3909110" y="3997559"/>
            <a:ext cx="3321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a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576C257-CA8B-AD59-9E84-EE2D8FA692EE}"/>
              </a:ext>
            </a:extLst>
          </p:cNvPr>
          <p:cNvSpPr/>
          <p:nvPr/>
        </p:nvSpPr>
        <p:spPr>
          <a:xfrm>
            <a:off x="3299508" y="3997559"/>
            <a:ext cx="348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b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191F3D56-8C73-EA89-AEA8-574C038C18BE}"/>
              </a:ext>
            </a:extLst>
          </p:cNvPr>
          <p:cNvCxnSpPr>
            <a:cxnSpLocks/>
          </p:cNvCxnSpPr>
          <p:nvPr/>
        </p:nvCxnSpPr>
        <p:spPr bwMode="auto">
          <a:xfrm flipV="1">
            <a:off x="4614175" y="2171927"/>
            <a:ext cx="0" cy="1043121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AC519778-59C0-CCFD-23BC-3AC2667F7539}"/>
              </a:ext>
            </a:extLst>
          </p:cNvPr>
          <p:cNvCxnSpPr>
            <a:cxnSpLocks/>
          </p:cNvCxnSpPr>
          <p:nvPr/>
        </p:nvCxnSpPr>
        <p:spPr bwMode="auto">
          <a:xfrm>
            <a:off x="4080775" y="3772350"/>
            <a:ext cx="0" cy="304577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5066B2AF-1A31-DF02-10F0-A057A8D17F42}"/>
              </a:ext>
            </a:extLst>
          </p:cNvPr>
          <p:cNvCxnSpPr>
            <a:cxnSpLocks/>
          </p:cNvCxnSpPr>
          <p:nvPr/>
        </p:nvCxnSpPr>
        <p:spPr bwMode="auto">
          <a:xfrm>
            <a:off x="3463727" y="3783906"/>
            <a:ext cx="0" cy="304577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2280F8F9-CDCA-7E27-C591-C0C89869B652}"/>
              </a:ext>
            </a:extLst>
          </p:cNvPr>
          <p:cNvCxnSpPr>
            <a:cxnSpLocks/>
          </p:cNvCxnSpPr>
          <p:nvPr/>
        </p:nvCxnSpPr>
        <p:spPr bwMode="auto">
          <a:xfrm flipH="1">
            <a:off x="2775503" y="3789428"/>
            <a:ext cx="1305273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3E82B67A-60A4-BA0E-0A42-1F4DB2EB4749}"/>
                  </a:ext>
                </a:extLst>
              </p:cNvPr>
              <p:cNvSpPr/>
              <p:nvPr/>
            </p:nvSpPr>
            <p:spPr>
              <a:xfrm>
                <a:off x="1949874" y="3626818"/>
                <a:ext cx="4682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84AD25D6-F61B-507F-5E89-3F2FE5A39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874" y="3626818"/>
                <a:ext cx="46820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34B2E3E8-B8B6-CF64-0890-839BEA2A8147}"/>
                  </a:ext>
                </a:extLst>
              </p:cNvPr>
              <p:cNvSpPr/>
              <p:nvPr/>
            </p:nvSpPr>
            <p:spPr>
              <a:xfrm>
                <a:off x="7693164" y="2548614"/>
                <a:ext cx="4798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F3743AB9-CF5B-AB35-3FAF-7FF41E5D0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164" y="2548614"/>
                <a:ext cx="4798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558D12BC-626C-074A-BECE-C08D232F0461}"/>
                  </a:ext>
                </a:extLst>
              </p:cNvPr>
              <p:cNvSpPr/>
              <p:nvPr/>
            </p:nvSpPr>
            <p:spPr>
              <a:xfrm>
                <a:off x="2551207" y="3369843"/>
                <a:ext cx="152877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Cycles</m:t>
                      </m:r>
                    </m:oMath>
                  </m:oMathPara>
                </a14:m>
                <a:endParaRPr lang="zh-CN" alt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82EB6AA7-5944-F240-F4EA-88EB2C210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207" y="3369843"/>
                <a:ext cx="1528778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8A42847E-5515-AF47-C289-3B1E2879DC11}"/>
                  </a:ext>
                </a:extLst>
              </p:cNvPr>
              <p:cNvSpPr/>
              <p:nvPr/>
            </p:nvSpPr>
            <p:spPr>
              <a:xfrm>
                <a:off x="3813834" y="2524941"/>
                <a:ext cx="73905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Cycles</m:t>
                      </m:r>
                    </m:oMath>
                  </m:oMathPara>
                </a14:m>
                <a:endParaRPr lang="zh-CN" alt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33D12783-3846-64C0-F86C-AE9EF40D0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834" y="2524941"/>
                <a:ext cx="739058" cy="369332"/>
              </a:xfrm>
              <a:prstGeom prst="rect">
                <a:avLst/>
              </a:prstGeom>
              <a:blipFill>
                <a:blip r:embed="rId5"/>
                <a:stretch>
                  <a:fillRect l="-2479" r="-11570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831B852-E87D-F5F2-A0AE-5094EE5D98DE}"/>
                  </a:ext>
                </a:extLst>
              </p:cNvPr>
              <p:cNvSpPr txBox="1"/>
              <p:nvPr/>
            </p:nvSpPr>
            <p:spPr>
              <a:xfrm>
                <a:off x="6888088" y="1455553"/>
                <a:ext cx="4996111" cy="554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𝑏𝑟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𝑎𝑞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98155F-7D93-3984-6946-3FF56A055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088" y="1455553"/>
                <a:ext cx="4996111" cy="5546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3F72F46C-FC27-49B9-FE9F-DCD5936586E3}"/>
              </a:ext>
            </a:extLst>
          </p:cNvPr>
          <p:cNvSpPr/>
          <p:nvPr/>
        </p:nvSpPr>
        <p:spPr>
          <a:xfrm>
            <a:off x="5326691" y="2673488"/>
            <a:ext cx="2888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r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032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44982-2BC2-22BB-9E30-78D82219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25BB879B-52C8-E7F0-CF1A-55BB9767F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5943600"/>
            <a:ext cx="8610600" cy="527050"/>
          </a:xfrm>
        </p:spPr>
        <p:txBody>
          <a:bodyPr/>
          <a:lstStyle/>
          <a:p>
            <a:pPr marL="342900" lvl="1" indent="-342900">
              <a:buClr>
                <a:schemeClr val="accent1"/>
              </a:buClr>
              <a:buSzPct val="65000"/>
            </a:pPr>
            <a:r>
              <a:rPr lang="en-US" altLang="en-US" dirty="0">
                <a:ea typeface="ＭＳ Ｐゴシック" panose="020B0600070205080204" pitchFamily="34" charset="-128"/>
              </a:rPr>
              <a:t>T = 1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7992FF-603F-E0AB-3E8E-A0EF03732F44}"/>
              </a:ext>
            </a:extLst>
          </p:cNvPr>
          <p:cNvSpPr/>
          <p:nvPr/>
        </p:nvSpPr>
        <p:spPr bwMode="auto">
          <a:xfrm>
            <a:off x="4935877" y="3735230"/>
            <a:ext cx="1066800" cy="9144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rgbClr val="000000"/>
              </a:solidFill>
            </a:endParaRPr>
          </a:p>
          <a:p>
            <a:endParaRPr lang="zh-CN" altLang="en-US" dirty="0">
              <a:latin typeface="Arial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F6598D9-FD41-1E13-62CA-1B547CADE716}"/>
              </a:ext>
            </a:extLst>
          </p:cNvPr>
          <p:cNvSpPr/>
          <p:nvPr/>
        </p:nvSpPr>
        <p:spPr bwMode="auto">
          <a:xfrm>
            <a:off x="6612277" y="3735230"/>
            <a:ext cx="1066800" cy="9144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Arial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1CCB8D-F39B-35BE-0262-B0ACA90EE6BD}"/>
              </a:ext>
            </a:extLst>
          </p:cNvPr>
          <p:cNvSpPr/>
          <p:nvPr/>
        </p:nvSpPr>
        <p:spPr>
          <a:xfrm>
            <a:off x="5449046" y="3284399"/>
            <a:ext cx="3465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p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19586CD-4EFF-D77B-12B4-9EE74A4179B6}"/>
              </a:ext>
            </a:extLst>
          </p:cNvPr>
          <p:cNvSpPr/>
          <p:nvPr/>
        </p:nvSpPr>
        <p:spPr>
          <a:xfrm>
            <a:off x="6955730" y="2940911"/>
            <a:ext cx="2888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q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FBA868A-85DC-C5E5-93C5-D74C48386C20}"/>
              </a:ext>
            </a:extLst>
          </p:cNvPr>
          <p:cNvSpPr/>
          <p:nvPr/>
        </p:nvSpPr>
        <p:spPr>
          <a:xfrm>
            <a:off x="6993231" y="2617886"/>
            <a:ext cx="304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s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02C2612-0908-3147-892B-A87BE8FFD929}"/>
              </a:ext>
            </a:extLst>
          </p:cNvPr>
          <p:cNvCxnSpPr>
            <a:endCxn id="4" idx="0"/>
          </p:cNvCxnSpPr>
          <p:nvPr/>
        </p:nvCxnSpPr>
        <p:spPr bwMode="auto">
          <a:xfrm>
            <a:off x="5469277" y="3411528"/>
            <a:ext cx="0" cy="323702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BC2DFF5-60C7-CF9A-106E-BC412C8F3A78}"/>
              </a:ext>
            </a:extLst>
          </p:cNvPr>
          <p:cNvCxnSpPr/>
          <p:nvPr/>
        </p:nvCxnSpPr>
        <p:spPr bwMode="auto">
          <a:xfrm>
            <a:off x="7145677" y="3411528"/>
            <a:ext cx="0" cy="323702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2F1CB79C-18A0-EBD4-9BBF-1C987F0D6220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 bwMode="auto">
          <a:xfrm>
            <a:off x="6002677" y="4192430"/>
            <a:ext cx="6096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4F9E2180-60F7-863A-BE81-F21FA5062425}"/>
              </a:ext>
            </a:extLst>
          </p:cNvPr>
          <p:cNvCxnSpPr>
            <a:cxnSpLocks/>
          </p:cNvCxnSpPr>
          <p:nvPr/>
        </p:nvCxnSpPr>
        <p:spPr bwMode="auto">
          <a:xfrm>
            <a:off x="4326277" y="4198504"/>
            <a:ext cx="6096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B73E58C2-6631-F804-F2A7-6E00E6F39647}"/>
              </a:ext>
            </a:extLst>
          </p:cNvPr>
          <p:cNvCxnSpPr>
            <a:cxnSpLocks/>
          </p:cNvCxnSpPr>
          <p:nvPr/>
        </p:nvCxnSpPr>
        <p:spPr bwMode="auto">
          <a:xfrm>
            <a:off x="4614175" y="2883570"/>
            <a:ext cx="3810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97C51317-77AA-05B9-B3EE-F23B4B501650}"/>
              </a:ext>
            </a:extLst>
          </p:cNvPr>
          <p:cNvCxnSpPr>
            <a:cxnSpLocks/>
          </p:cNvCxnSpPr>
          <p:nvPr/>
        </p:nvCxnSpPr>
        <p:spPr bwMode="auto">
          <a:xfrm>
            <a:off x="5879130" y="3215047"/>
            <a:ext cx="856694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667E52E9-5043-6B0A-D62A-8389FE776FFB}"/>
              </a:ext>
            </a:extLst>
          </p:cNvPr>
          <p:cNvCxnSpPr>
            <a:cxnSpLocks/>
          </p:cNvCxnSpPr>
          <p:nvPr/>
        </p:nvCxnSpPr>
        <p:spPr bwMode="auto">
          <a:xfrm>
            <a:off x="4614175" y="3220865"/>
            <a:ext cx="3810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327E62D0-A013-C8DB-3153-0014B49E7F68}"/>
              </a:ext>
            </a:extLst>
          </p:cNvPr>
          <p:cNvSpPr/>
          <p:nvPr/>
        </p:nvSpPr>
        <p:spPr>
          <a:xfrm>
            <a:off x="4448105" y="3806862"/>
            <a:ext cx="3321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a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39A2C72-8FAD-D707-5488-EDA00522BDA4}"/>
              </a:ext>
            </a:extLst>
          </p:cNvPr>
          <p:cNvSpPr/>
          <p:nvPr/>
        </p:nvSpPr>
        <p:spPr>
          <a:xfrm>
            <a:off x="3895409" y="4000029"/>
            <a:ext cx="348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b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5EA2CED8-3C42-60FE-89BD-0078ABA748F5}"/>
              </a:ext>
            </a:extLst>
          </p:cNvPr>
          <p:cNvCxnSpPr>
            <a:cxnSpLocks/>
          </p:cNvCxnSpPr>
          <p:nvPr/>
        </p:nvCxnSpPr>
        <p:spPr bwMode="auto">
          <a:xfrm flipV="1">
            <a:off x="4614175" y="2171927"/>
            <a:ext cx="0" cy="1043121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306E8826-FBB7-ADD0-AB3C-6A47630021FD}"/>
              </a:ext>
            </a:extLst>
          </p:cNvPr>
          <p:cNvCxnSpPr>
            <a:cxnSpLocks/>
          </p:cNvCxnSpPr>
          <p:nvPr/>
        </p:nvCxnSpPr>
        <p:spPr bwMode="auto">
          <a:xfrm>
            <a:off x="4080775" y="3772350"/>
            <a:ext cx="0" cy="304577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6141EBE5-F552-864E-3098-DE161D251AD0}"/>
              </a:ext>
            </a:extLst>
          </p:cNvPr>
          <p:cNvCxnSpPr>
            <a:cxnSpLocks/>
          </p:cNvCxnSpPr>
          <p:nvPr/>
        </p:nvCxnSpPr>
        <p:spPr bwMode="auto">
          <a:xfrm>
            <a:off x="3463727" y="3783906"/>
            <a:ext cx="0" cy="304577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16C2B82E-3DCA-E3A9-4C08-A6C2A07D66A8}"/>
              </a:ext>
            </a:extLst>
          </p:cNvPr>
          <p:cNvCxnSpPr>
            <a:cxnSpLocks/>
          </p:cNvCxnSpPr>
          <p:nvPr/>
        </p:nvCxnSpPr>
        <p:spPr bwMode="auto">
          <a:xfrm flipH="1">
            <a:off x="2775503" y="3789428"/>
            <a:ext cx="1305273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84AD25D6-F61B-507F-5E89-3F2FE5A39105}"/>
                  </a:ext>
                </a:extLst>
              </p:cNvPr>
              <p:cNvSpPr/>
              <p:nvPr/>
            </p:nvSpPr>
            <p:spPr>
              <a:xfrm>
                <a:off x="1949874" y="3626818"/>
                <a:ext cx="4682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84AD25D6-F61B-507F-5E89-3F2FE5A39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874" y="3626818"/>
                <a:ext cx="46820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F3743AB9-CF5B-AB35-3FAF-7FF41E5D0C05}"/>
                  </a:ext>
                </a:extLst>
              </p:cNvPr>
              <p:cNvSpPr/>
              <p:nvPr/>
            </p:nvSpPr>
            <p:spPr>
              <a:xfrm>
                <a:off x="7693164" y="2548614"/>
                <a:ext cx="4798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F3743AB9-CF5B-AB35-3FAF-7FF41E5D0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164" y="2548614"/>
                <a:ext cx="4798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82EB6AA7-5944-F240-F4EA-88EB2C2101CD}"/>
                  </a:ext>
                </a:extLst>
              </p:cNvPr>
              <p:cNvSpPr/>
              <p:nvPr/>
            </p:nvSpPr>
            <p:spPr>
              <a:xfrm>
                <a:off x="2551207" y="3369843"/>
                <a:ext cx="152877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Cycles</m:t>
                      </m:r>
                    </m:oMath>
                  </m:oMathPara>
                </a14:m>
                <a:endParaRPr lang="zh-CN" alt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82EB6AA7-5944-F240-F4EA-88EB2C210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207" y="3369843"/>
                <a:ext cx="1528778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33D12783-3846-64C0-F86C-AE9EF40D0D5E}"/>
                  </a:ext>
                </a:extLst>
              </p:cNvPr>
              <p:cNvSpPr/>
              <p:nvPr/>
            </p:nvSpPr>
            <p:spPr>
              <a:xfrm>
                <a:off x="3813834" y="2524941"/>
                <a:ext cx="73905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Cycles</m:t>
                      </m:r>
                    </m:oMath>
                  </m:oMathPara>
                </a14:m>
                <a:endParaRPr lang="zh-CN" alt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33D12783-3846-64C0-F86C-AE9EF40D0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834" y="2524941"/>
                <a:ext cx="739058" cy="369332"/>
              </a:xfrm>
              <a:prstGeom prst="rect">
                <a:avLst/>
              </a:prstGeom>
              <a:blipFill>
                <a:blip r:embed="rId5"/>
                <a:stretch>
                  <a:fillRect l="-2479" r="-11570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98155F-7D93-3984-6946-3FF56A055E6D}"/>
                  </a:ext>
                </a:extLst>
              </p:cNvPr>
              <p:cNvSpPr txBox="1"/>
              <p:nvPr/>
            </p:nvSpPr>
            <p:spPr>
              <a:xfrm>
                <a:off x="6888088" y="1455553"/>
                <a:ext cx="4996111" cy="554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𝑏𝑟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𝑎𝑞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98155F-7D93-3984-6946-3FF56A055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088" y="1455553"/>
                <a:ext cx="4996111" cy="5546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E45F0F6A-4D6E-9534-BD8E-421A10959811}"/>
              </a:ext>
            </a:extLst>
          </p:cNvPr>
          <p:cNvSpPr/>
          <p:nvPr/>
        </p:nvSpPr>
        <p:spPr>
          <a:xfrm>
            <a:off x="5324836" y="2984215"/>
            <a:ext cx="2888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r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1343FA-D8E3-E12B-D9FC-42B903D35FE9}"/>
              </a:ext>
            </a:extLst>
          </p:cNvPr>
          <p:cNvSpPr txBox="1"/>
          <p:nvPr/>
        </p:nvSpPr>
        <p:spPr>
          <a:xfrm>
            <a:off x="5195082" y="3917148"/>
            <a:ext cx="583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ap</a:t>
            </a:r>
            <a:endParaRPr lang="zh-CN" altLang="en-US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A5727AE-7E0A-22F0-7D5F-2E726434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53" y="195999"/>
            <a:ext cx="4317507" cy="1066800"/>
          </a:xfrm>
        </p:spPr>
        <p:txBody>
          <a:bodyPr>
            <a:noAutofit/>
          </a:bodyPr>
          <a:lstStyle/>
          <a:p>
            <a:r>
              <a:rPr lang="en-US" altLang="zh-CN" sz="4400" dirty="0">
                <a:solidFill>
                  <a:srgbClr val="00B0F0"/>
                </a:solidFill>
                <a:effectLst/>
                <a:ea typeface="ＭＳ Ｐゴシック" panose="020B0600070205080204" pitchFamily="34" charset="-128"/>
              </a:rPr>
              <a:t>SAMV</a:t>
            </a:r>
            <a:r>
              <a:rPr lang="zh-CN" altLang="en-US" sz="4400" dirty="0">
                <a:solidFill>
                  <a:srgbClr val="00B0F0"/>
                </a:solidFill>
                <a:effectLst/>
                <a:ea typeface="ＭＳ Ｐゴシック" panose="020B0600070205080204" pitchFamily="34" charset="-128"/>
              </a:rPr>
              <a:t>脉动阵列</a:t>
            </a:r>
            <a:endParaRPr lang="en-US" altLang="en-US" sz="4400" dirty="0">
              <a:solidFill>
                <a:srgbClr val="00B0F0"/>
              </a:solidFill>
              <a:effectLst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4137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7036-EEAE-D3B3-2187-C5EB9BC56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A9CFE704-92F9-CCFE-614A-0C41AFB14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5943600"/>
            <a:ext cx="8610600" cy="527050"/>
          </a:xfrm>
        </p:spPr>
        <p:txBody>
          <a:bodyPr/>
          <a:lstStyle/>
          <a:p>
            <a:pPr marL="342900" lvl="1" indent="-342900">
              <a:buClr>
                <a:schemeClr val="accent1"/>
              </a:buClr>
              <a:buSzPct val="65000"/>
            </a:pPr>
            <a:r>
              <a:rPr lang="en-US" altLang="en-US" dirty="0">
                <a:ea typeface="ＭＳ Ｐゴシック" panose="020B0600070205080204" pitchFamily="34" charset="-128"/>
              </a:rPr>
              <a:t>T = 2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620954-5546-2450-3FA5-98BF04EBD1FD}"/>
              </a:ext>
            </a:extLst>
          </p:cNvPr>
          <p:cNvSpPr/>
          <p:nvPr/>
        </p:nvSpPr>
        <p:spPr bwMode="auto">
          <a:xfrm>
            <a:off x="4935877" y="3735230"/>
            <a:ext cx="1066800" cy="9144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rgbClr val="000000"/>
              </a:solidFill>
            </a:endParaRPr>
          </a:p>
          <a:p>
            <a:endParaRPr lang="zh-CN" altLang="en-US" dirty="0">
              <a:latin typeface="Arial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63A654-0357-4315-467D-F62073450370}"/>
              </a:ext>
            </a:extLst>
          </p:cNvPr>
          <p:cNvSpPr/>
          <p:nvPr/>
        </p:nvSpPr>
        <p:spPr bwMode="auto">
          <a:xfrm>
            <a:off x="6612277" y="3735230"/>
            <a:ext cx="1066800" cy="9144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Arial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776260E-8454-0607-1798-53D4A1562CF7}"/>
              </a:ext>
            </a:extLst>
          </p:cNvPr>
          <p:cNvSpPr/>
          <p:nvPr/>
        </p:nvSpPr>
        <p:spPr>
          <a:xfrm>
            <a:off x="7149445" y="3276708"/>
            <a:ext cx="2888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q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6AB743D-09A8-F8DF-266B-59EC10C39075}"/>
              </a:ext>
            </a:extLst>
          </p:cNvPr>
          <p:cNvSpPr/>
          <p:nvPr/>
        </p:nvSpPr>
        <p:spPr>
          <a:xfrm>
            <a:off x="6988994" y="2967848"/>
            <a:ext cx="304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s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38FA1FB-B365-715E-8A33-A42B6222CC1C}"/>
              </a:ext>
            </a:extLst>
          </p:cNvPr>
          <p:cNvCxnSpPr>
            <a:endCxn id="4" idx="0"/>
          </p:cNvCxnSpPr>
          <p:nvPr/>
        </p:nvCxnSpPr>
        <p:spPr bwMode="auto">
          <a:xfrm>
            <a:off x="5469277" y="3411528"/>
            <a:ext cx="0" cy="323702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5DD21CC-2E4B-D2D7-2C62-D6098C1AC222}"/>
              </a:ext>
            </a:extLst>
          </p:cNvPr>
          <p:cNvCxnSpPr/>
          <p:nvPr/>
        </p:nvCxnSpPr>
        <p:spPr bwMode="auto">
          <a:xfrm>
            <a:off x="7145677" y="3411528"/>
            <a:ext cx="0" cy="323702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46212DF0-BE20-6BA8-3276-85F627B542A6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 bwMode="auto">
          <a:xfrm>
            <a:off x="6002677" y="4192430"/>
            <a:ext cx="6096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1250C79A-69F0-7367-A1AE-A46CDF28B6BB}"/>
              </a:ext>
            </a:extLst>
          </p:cNvPr>
          <p:cNvCxnSpPr>
            <a:cxnSpLocks/>
          </p:cNvCxnSpPr>
          <p:nvPr/>
        </p:nvCxnSpPr>
        <p:spPr bwMode="auto">
          <a:xfrm>
            <a:off x="4326277" y="4198504"/>
            <a:ext cx="6096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B8002627-DDDE-4A63-08AE-4B35A13AD783}"/>
              </a:ext>
            </a:extLst>
          </p:cNvPr>
          <p:cNvCxnSpPr>
            <a:cxnSpLocks/>
          </p:cNvCxnSpPr>
          <p:nvPr/>
        </p:nvCxnSpPr>
        <p:spPr bwMode="auto">
          <a:xfrm>
            <a:off x="4614175" y="2883570"/>
            <a:ext cx="3810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04DD3DFF-C2AB-D005-9599-8ACDED0EA6DD}"/>
              </a:ext>
            </a:extLst>
          </p:cNvPr>
          <p:cNvCxnSpPr>
            <a:cxnSpLocks/>
          </p:cNvCxnSpPr>
          <p:nvPr/>
        </p:nvCxnSpPr>
        <p:spPr bwMode="auto">
          <a:xfrm>
            <a:off x="4614175" y="3220865"/>
            <a:ext cx="3810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E6CAC808-EFBA-C844-F305-5B2757A80713}"/>
              </a:ext>
            </a:extLst>
          </p:cNvPr>
          <p:cNvSpPr/>
          <p:nvPr/>
        </p:nvSpPr>
        <p:spPr>
          <a:xfrm>
            <a:off x="6131927" y="3784442"/>
            <a:ext cx="3321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a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9D26D41-4D5E-D53F-8FDC-702486041DA3}"/>
              </a:ext>
            </a:extLst>
          </p:cNvPr>
          <p:cNvSpPr/>
          <p:nvPr/>
        </p:nvSpPr>
        <p:spPr>
          <a:xfrm>
            <a:off x="4456456" y="3806862"/>
            <a:ext cx="348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b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597334A0-B78C-BF0B-6BCF-4D19E16A30DA}"/>
              </a:ext>
            </a:extLst>
          </p:cNvPr>
          <p:cNvCxnSpPr>
            <a:cxnSpLocks/>
          </p:cNvCxnSpPr>
          <p:nvPr/>
        </p:nvCxnSpPr>
        <p:spPr bwMode="auto">
          <a:xfrm flipV="1">
            <a:off x="4614175" y="2171927"/>
            <a:ext cx="0" cy="1043121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EA705803-0E2E-7917-B806-D0E96454274F}"/>
              </a:ext>
            </a:extLst>
          </p:cNvPr>
          <p:cNvCxnSpPr>
            <a:cxnSpLocks/>
          </p:cNvCxnSpPr>
          <p:nvPr/>
        </p:nvCxnSpPr>
        <p:spPr bwMode="auto">
          <a:xfrm>
            <a:off x="4080775" y="3772350"/>
            <a:ext cx="0" cy="304577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CB8544FC-678E-45A9-E001-F79ED594802A}"/>
              </a:ext>
            </a:extLst>
          </p:cNvPr>
          <p:cNvCxnSpPr>
            <a:cxnSpLocks/>
          </p:cNvCxnSpPr>
          <p:nvPr/>
        </p:nvCxnSpPr>
        <p:spPr bwMode="auto">
          <a:xfrm>
            <a:off x="3463727" y="3783906"/>
            <a:ext cx="0" cy="304577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123D3953-40E3-FDA3-8A49-7AB6596C5E9C}"/>
              </a:ext>
            </a:extLst>
          </p:cNvPr>
          <p:cNvCxnSpPr>
            <a:cxnSpLocks/>
          </p:cNvCxnSpPr>
          <p:nvPr/>
        </p:nvCxnSpPr>
        <p:spPr bwMode="auto">
          <a:xfrm flipH="1">
            <a:off x="2775503" y="3789428"/>
            <a:ext cx="1305273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E741D9EE-37F3-DC0C-99D4-A6EF56B11422}"/>
                  </a:ext>
                </a:extLst>
              </p:cNvPr>
              <p:cNvSpPr/>
              <p:nvPr/>
            </p:nvSpPr>
            <p:spPr>
              <a:xfrm>
                <a:off x="1949874" y="3626818"/>
                <a:ext cx="4682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84AD25D6-F61B-507F-5E89-3F2FE5A39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874" y="3626818"/>
                <a:ext cx="46820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DE7C7ED7-F666-529D-B5ED-5E6DBF12A1C2}"/>
                  </a:ext>
                </a:extLst>
              </p:cNvPr>
              <p:cNvSpPr/>
              <p:nvPr/>
            </p:nvSpPr>
            <p:spPr>
              <a:xfrm>
                <a:off x="7693164" y="2548614"/>
                <a:ext cx="4798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F3743AB9-CF5B-AB35-3FAF-7FF41E5D0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164" y="2548614"/>
                <a:ext cx="4798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69BB8EBE-5EB5-DC3C-BA6E-7E6D03140B35}"/>
                  </a:ext>
                </a:extLst>
              </p:cNvPr>
              <p:cNvSpPr/>
              <p:nvPr/>
            </p:nvSpPr>
            <p:spPr>
              <a:xfrm>
                <a:off x="2551207" y="3369843"/>
                <a:ext cx="152877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Cycles</m:t>
                      </m:r>
                    </m:oMath>
                  </m:oMathPara>
                </a14:m>
                <a:endParaRPr lang="zh-CN" alt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82EB6AA7-5944-F240-F4EA-88EB2C210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207" y="3369843"/>
                <a:ext cx="1528778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CBE5E0D0-23A0-BF05-934E-E1D9B96E835B}"/>
                  </a:ext>
                </a:extLst>
              </p:cNvPr>
              <p:cNvSpPr/>
              <p:nvPr/>
            </p:nvSpPr>
            <p:spPr>
              <a:xfrm>
                <a:off x="3813834" y="2524941"/>
                <a:ext cx="73905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Cycles</m:t>
                      </m:r>
                    </m:oMath>
                  </m:oMathPara>
                </a14:m>
                <a:endParaRPr lang="zh-CN" alt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33D12783-3846-64C0-F86C-AE9EF40D0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834" y="2524941"/>
                <a:ext cx="739058" cy="369332"/>
              </a:xfrm>
              <a:prstGeom prst="rect">
                <a:avLst/>
              </a:prstGeom>
              <a:blipFill>
                <a:blip r:embed="rId5"/>
                <a:stretch>
                  <a:fillRect l="-2479" r="-11570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5A3DF79-8BD7-F131-9088-C79CF675B22E}"/>
                  </a:ext>
                </a:extLst>
              </p:cNvPr>
              <p:cNvSpPr txBox="1"/>
              <p:nvPr/>
            </p:nvSpPr>
            <p:spPr>
              <a:xfrm>
                <a:off x="6888088" y="1455553"/>
                <a:ext cx="4996111" cy="554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𝑏𝑟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𝑎𝑞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98155F-7D93-3984-6946-3FF56A055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088" y="1455553"/>
                <a:ext cx="4996111" cy="5546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FDB9DAA2-19DF-DE91-D831-08D6B0B349DE}"/>
              </a:ext>
            </a:extLst>
          </p:cNvPr>
          <p:cNvSpPr/>
          <p:nvPr/>
        </p:nvSpPr>
        <p:spPr>
          <a:xfrm>
            <a:off x="5467502" y="3310685"/>
            <a:ext cx="2888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r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6E6FDB-3F24-0F1E-A75B-1F641830E228}"/>
              </a:ext>
            </a:extLst>
          </p:cNvPr>
          <p:cNvSpPr txBox="1"/>
          <p:nvPr/>
        </p:nvSpPr>
        <p:spPr>
          <a:xfrm>
            <a:off x="5002562" y="3966062"/>
            <a:ext cx="933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ap+br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2E0027-1E76-82F8-2E97-370C35D2CCC8}"/>
              </a:ext>
            </a:extLst>
          </p:cNvPr>
          <p:cNvSpPr txBox="1"/>
          <p:nvPr/>
        </p:nvSpPr>
        <p:spPr>
          <a:xfrm>
            <a:off x="6895413" y="3957271"/>
            <a:ext cx="542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aq</a:t>
            </a:r>
            <a:endParaRPr lang="zh-CN" altLang="en-US" sz="2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99D140-C8ED-20D0-046E-EBA5AC77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53" y="195999"/>
            <a:ext cx="4317507" cy="1066800"/>
          </a:xfrm>
        </p:spPr>
        <p:txBody>
          <a:bodyPr>
            <a:noAutofit/>
          </a:bodyPr>
          <a:lstStyle/>
          <a:p>
            <a:r>
              <a:rPr lang="en-US" altLang="zh-CN" sz="4400" dirty="0">
                <a:solidFill>
                  <a:srgbClr val="00B0F0"/>
                </a:solidFill>
                <a:effectLst/>
                <a:ea typeface="ＭＳ Ｐゴシック" panose="020B0600070205080204" pitchFamily="34" charset="-128"/>
              </a:rPr>
              <a:t>SAMV</a:t>
            </a:r>
            <a:r>
              <a:rPr lang="zh-CN" altLang="en-US" sz="4400" dirty="0">
                <a:solidFill>
                  <a:srgbClr val="00B0F0"/>
                </a:solidFill>
                <a:effectLst/>
                <a:ea typeface="ＭＳ Ｐゴシック" panose="020B0600070205080204" pitchFamily="34" charset="-128"/>
              </a:rPr>
              <a:t>脉动阵列</a:t>
            </a:r>
            <a:endParaRPr lang="en-US" altLang="en-US" sz="4400" dirty="0">
              <a:solidFill>
                <a:srgbClr val="00B0F0"/>
              </a:solidFill>
              <a:effectLst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674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352A-28DA-9202-305F-051A4E3E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02DD7B5F-568D-61BE-2389-45D22E0F0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5943600"/>
            <a:ext cx="8610600" cy="527050"/>
          </a:xfrm>
        </p:spPr>
        <p:txBody>
          <a:bodyPr/>
          <a:lstStyle/>
          <a:p>
            <a:pPr marL="342900" lvl="1" indent="-342900">
              <a:buClr>
                <a:schemeClr val="accent1"/>
              </a:buClr>
              <a:buSzPct val="65000"/>
            </a:pPr>
            <a:r>
              <a:rPr lang="en-US" altLang="en-US" dirty="0">
                <a:ea typeface="ＭＳ Ｐゴシック" panose="020B0600070205080204" pitchFamily="34" charset="-128"/>
              </a:rPr>
              <a:t>T = 3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794EBD-233A-9C83-46BB-99A1259A9606}"/>
              </a:ext>
            </a:extLst>
          </p:cNvPr>
          <p:cNvSpPr/>
          <p:nvPr/>
        </p:nvSpPr>
        <p:spPr bwMode="auto">
          <a:xfrm>
            <a:off x="4935877" y="3735230"/>
            <a:ext cx="1066800" cy="9144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solidFill>
                <a:srgbClr val="000000"/>
              </a:solidFill>
            </a:endParaRPr>
          </a:p>
          <a:p>
            <a:endParaRPr lang="zh-CN" altLang="en-US" dirty="0">
              <a:latin typeface="Arial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BF840F-CDF3-8EC6-F976-1A810D0A2521}"/>
              </a:ext>
            </a:extLst>
          </p:cNvPr>
          <p:cNvSpPr/>
          <p:nvPr/>
        </p:nvSpPr>
        <p:spPr bwMode="auto">
          <a:xfrm>
            <a:off x="6612277" y="3735230"/>
            <a:ext cx="1066800" cy="9144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Arial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F72EFEF-0320-3460-9D7F-BA61D103DE6A}"/>
              </a:ext>
            </a:extLst>
          </p:cNvPr>
          <p:cNvSpPr/>
          <p:nvPr/>
        </p:nvSpPr>
        <p:spPr>
          <a:xfrm>
            <a:off x="7149445" y="3276708"/>
            <a:ext cx="2888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s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597E998-B1B7-D8CF-2F07-F6FA837E7960}"/>
              </a:ext>
            </a:extLst>
          </p:cNvPr>
          <p:cNvCxnSpPr>
            <a:endCxn id="4" idx="0"/>
          </p:cNvCxnSpPr>
          <p:nvPr/>
        </p:nvCxnSpPr>
        <p:spPr bwMode="auto">
          <a:xfrm>
            <a:off x="5469277" y="3411528"/>
            <a:ext cx="0" cy="323702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1DCA644-422B-9B55-D1B0-C8ABCAAE6FA4}"/>
              </a:ext>
            </a:extLst>
          </p:cNvPr>
          <p:cNvCxnSpPr/>
          <p:nvPr/>
        </p:nvCxnSpPr>
        <p:spPr bwMode="auto">
          <a:xfrm>
            <a:off x="7145677" y="3411528"/>
            <a:ext cx="0" cy="323702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C32C5FAC-AB59-E60F-2F2E-E80CC12DCD8C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 bwMode="auto">
          <a:xfrm>
            <a:off x="6002677" y="4192430"/>
            <a:ext cx="6096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48C2C49B-9D62-0F6F-853E-2892A8CC542F}"/>
              </a:ext>
            </a:extLst>
          </p:cNvPr>
          <p:cNvCxnSpPr>
            <a:cxnSpLocks/>
          </p:cNvCxnSpPr>
          <p:nvPr/>
        </p:nvCxnSpPr>
        <p:spPr bwMode="auto">
          <a:xfrm>
            <a:off x="4326277" y="4198504"/>
            <a:ext cx="6096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C155ED88-C56B-6344-1E48-A33C9BBD0BA4}"/>
              </a:ext>
            </a:extLst>
          </p:cNvPr>
          <p:cNvCxnSpPr>
            <a:cxnSpLocks/>
          </p:cNvCxnSpPr>
          <p:nvPr/>
        </p:nvCxnSpPr>
        <p:spPr bwMode="auto">
          <a:xfrm>
            <a:off x="4614175" y="2883570"/>
            <a:ext cx="3810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C0CFFF41-A88D-7215-5B8D-C18C3B8C218A}"/>
              </a:ext>
            </a:extLst>
          </p:cNvPr>
          <p:cNvCxnSpPr>
            <a:cxnSpLocks/>
          </p:cNvCxnSpPr>
          <p:nvPr/>
        </p:nvCxnSpPr>
        <p:spPr bwMode="auto">
          <a:xfrm>
            <a:off x="4614175" y="3220865"/>
            <a:ext cx="381000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9DC894AA-2882-8962-9605-B8C548A8347E}"/>
              </a:ext>
            </a:extLst>
          </p:cNvPr>
          <p:cNvSpPr/>
          <p:nvPr/>
        </p:nvSpPr>
        <p:spPr>
          <a:xfrm>
            <a:off x="6131927" y="3784442"/>
            <a:ext cx="3465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b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23420A8B-75B4-7F07-8012-04AAEDB18B55}"/>
              </a:ext>
            </a:extLst>
          </p:cNvPr>
          <p:cNvCxnSpPr>
            <a:cxnSpLocks/>
          </p:cNvCxnSpPr>
          <p:nvPr/>
        </p:nvCxnSpPr>
        <p:spPr bwMode="auto">
          <a:xfrm flipV="1">
            <a:off x="4614175" y="2171927"/>
            <a:ext cx="0" cy="1043121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455A5F9F-B13E-B8F9-0E33-066F6366C8EA}"/>
              </a:ext>
            </a:extLst>
          </p:cNvPr>
          <p:cNvCxnSpPr>
            <a:cxnSpLocks/>
          </p:cNvCxnSpPr>
          <p:nvPr/>
        </p:nvCxnSpPr>
        <p:spPr bwMode="auto">
          <a:xfrm>
            <a:off x="4080775" y="3772350"/>
            <a:ext cx="0" cy="304577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5FEA3A21-28F5-BF8A-2268-7BE003B20593}"/>
              </a:ext>
            </a:extLst>
          </p:cNvPr>
          <p:cNvCxnSpPr>
            <a:cxnSpLocks/>
          </p:cNvCxnSpPr>
          <p:nvPr/>
        </p:nvCxnSpPr>
        <p:spPr bwMode="auto">
          <a:xfrm>
            <a:off x="3463727" y="3783906"/>
            <a:ext cx="0" cy="304577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DE7C1ABC-053B-E7D7-C407-7387AFEEC41F}"/>
              </a:ext>
            </a:extLst>
          </p:cNvPr>
          <p:cNvCxnSpPr>
            <a:cxnSpLocks/>
          </p:cNvCxnSpPr>
          <p:nvPr/>
        </p:nvCxnSpPr>
        <p:spPr bwMode="auto">
          <a:xfrm flipH="1">
            <a:off x="2775503" y="3789428"/>
            <a:ext cx="1305273" cy="0"/>
          </a:xfrm>
          <a:prstGeom prst="straightConnector1">
            <a:avLst/>
          </a:prstGeom>
          <a:solidFill>
            <a:srgbClr val="C0C0C0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E5C2467D-B2EA-44EC-A4B1-2C2C28561488}"/>
                  </a:ext>
                </a:extLst>
              </p:cNvPr>
              <p:cNvSpPr/>
              <p:nvPr/>
            </p:nvSpPr>
            <p:spPr>
              <a:xfrm>
                <a:off x="1949874" y="3626818"/>
                <a:ext cx="4682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84AD25D6-F61B-507F-5E89-3F2FE5A39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874" y="3626818"/>
                <a:ext cx="46820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DE9ACC8B-8C27-4C87-2191-8E047444581D}"/>
                  </a:ext>
                </a:extLst>
              </p:cNvPr>
              <p:cNvSpPr/>
              <p:nvPr/>
            </p:nvSpPr>
            <p:spPr>
              <a:xfrm>
                <a:off x="7693164" y="2548614"/>
                <a:ext cx="4798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F3743AB9-CF5B-AB35-3FAF-7FF41E5D0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164" y="2548614"/>
                <a:ext cx="4798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2784FAC7-052F-6A2D-3AD6-6989E7B23954}"/>
                  </a:ext>
                </a:extLst>
              </p:cNvPr>
              <p:cNvSpPr/>
              <p:nvPr/>
            </p:nvSpPr>
            <p:spPr>
              <a:xfrm>
                <a:off x="2551207" y="3369843"/>
                <a:ext cx="152877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Cycles</m:t>
                      </m:r>
                    </m:oMath>
                  </m:oMathPara>
                </a14:m>
                <a:endParaRPr lang="zh-CN" alt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82EB6AA7-5944-F240-F4EA-88EB2C210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207" y="3369843"/>
                <a:ext cx="1528778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0039E95-8C1D-313E-9564-B2021BEBFB06}"/>
                  </a:ext>
                </a:extLst>
              </p:cNvPr>
              <p:cNvSpPr/>
              <p:nvPr/>
            </p:nvSpPr>
            <p:spPr>
              <a:xfrm>
                <a:off x="3813834" y="2524941"/>
                <a:ext cx="73905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Cycles</m:t>
                      </m:r>
                    </m:oMath>
                  </m:oMathPara>
                </a14:m>
                <a:endParaRPr lang="zh-CN" alt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33D12783-3846-64C0-F86C-AE9EF40D0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834" y="2524941"/>
                <a:ext cx="739058" cy="369332"/>
              </a:xfrm>
              <a:prstGeom prst="rect">
                <a:avLst/>
              </a:prstGeom>
              <a:blipFill>
                <a:blip r:embed="rId5"/>
                <a:stretch>
                  <a:fillRect l="-2479" r="-11570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94F69F6-E12C-3299-7742-7DAA7428F698}"/>
                  </a:ext>
                </a:extLst>
              </p:cNvPr>
              <p:cNvSpPr txBox="1"/>
              <p:nvPr/>
            </p:nvSpPr>
            <p:spPr>
              <a:xfrm>
                <a:off x="6888088" y="1455553"/>
                <a:ext cx="4996111" cy="554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𝑏𝑟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𝑎𝑞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98155F-7D93-3984-6946-3FF56A055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088" y="1455553"/>
                <a:ext cx="4996111" cy="5546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82EDC60C-B7AE-7077-5BCB-4B3191482AD9}"/>
              </a:ext>
            </a:extLst>
          </p:cNvPr>
          <p:cNvSpPr txBox="1"/>
          <p:nvPr/>
        </p:nvSpPr>
        <p:spPr>
          <a:xfrm>
            <a:off x="5029874" y="3957271"/>
            <a:ext cx="933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ap+br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E279F1-E000-D832-82E0-4A92FD1DCF99}"/>
              </a:ext>
            </a:extLst>
          </p:cNvPr>
          <p:cNvSpPr txBox="1"/>
          <p:nvPr/>
        </p:nvSpPr>
        <p:spPr>
          <a:xfrm>
            <a:off x="6665762" y="3964740"/>
            <a:ext cx="959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aq+bs</a:t>
            </a:r>
            <a:endParaRPr lang="zh-CN" alt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6EDF019-7712-238F-A18C-3728859FA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53" y="195999"/>
            <a:ext cx="4317507" cy="1066800"/>
          </a:xfrm>
        </p:spPr>
        <p:txBody>
          <a:bodyPr>
            <a:noAutofit/>
          </a:bodyPr>
          <a:lstStyle/>
          <a:p>
            <a:r>
              <a:rPr lang="en-US" altLang="zh-CN" sz="4400" dirty="0">
                <a:solidFill>
                  <a:srgbClr val="00B0F0"/>
                </a:solidFill>
                <a:effectLst/>
                <a:ea typeface="ＭＳ Ｐゴシック" panose="020B0600070205080204" pitchFamily="34" charset="-128"/>
              </a:rPr>
              <a:t>SAMV</a:t>
            </a:r>
            <a:r>
              <a:rPr lang="zh-CN" altLang="en-US" sz="4400" dirty="0">
                <a:solidFill>
                  <a:srgbClr val="00B0F0"/>
                </a:solidFill>
                <a:effectLst/>
                <a:ea typeface="ＭＳ Ｐゴシック" panose="020B0600070205080204" pitchFamily="34" charset="-128"/>
              </a:rPr>
              <a:t>脉动阵列</a:t>
            </a:r>
            <a:endParaRPr lang="en-US" altLang="en-US" sz="4400" dirty="0">
              <a:solidFill>
                <a:srgbClr val="00B0F0"/>
              </a:solidFill>
              <a:effectLst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5948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F34CD77A-58B8-4534-8C94-EBC33FD79B37}"/>
              </a:ext>
            </a:extLst>
          </p:cNvPr>
          <p:cNvSpPr txBox="1"/>
          <p:nvPr/>
        </p:nvSpPr>
        <p:spPr>
          <a:xfrm>
            <a:off x="335360" y="1506063"/>
            <a:ext cx="11305256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1">
              <a:spcBef>
                <a:spcPts val="672"/>
              </a:spcBef>
            </a:pPr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脉动阵列</a:t>
            </a:r>
            <a:r>
              <a:rPr lang="en-US" altLang="zh-CN" sz="2400" b="1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(SA)</a:t>
            </a:r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en-US" altLang="zh-CN" sz="2400" b="1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本设计中我们提供了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×4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位整数相乘的运算模块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Mult4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在本实验中，我们将脉动阵列展开，使用以下的流水线形式的脉动阵列进行计算。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360F788-C5C1-44AD-8EE5-57FD8A53A5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392" y="332656"/>
            <a:ext cx="9340619" cy="954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Multicycle Execution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CCAED8D-6E13-6F76-6026-1A7F3930BD5A}"/>
                  </a:ext>
                </a:extLst>
              </p:cNvPr>
              <p:cNvSpPr txBox="1"/>
              <p:nvPr/>
            </p:nvSpPr>
            <p:spPr>
              <a:xfrm>
                <a:off x="5971779" y="1210386"/>
                <a:ext cx="4163832" cy="462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𝑏𝑟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𝑎𝑞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𝑏𝑠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CCAED8D-6E13-6F76-6026-1A7F3930B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779" y="1210386"/>
                <a:ext cx="4163832" cy="4622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76AEFCD9-E34E-0919-E8F8-1ABADEE79823}"/>
              </a:ext>
            </a:extLst>
          </p:cNvPr>
          <p:cNvSpPr/>
          <p:nvPr/>
        </p:nvSpPr>
        <p:spPr>
          <a:xfrm>
            <a:off x="1055440" y="4013296"/>
            <a:ext cx="756084" cy="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E44DD1-08F7-52B9-78E5-258CD8421057}"/>
              </a:ext>
            </a:extLst>
          </p:cNvPr>
          <p:cNvSpPr txBox="1"/>
          <p:nvPr/>
        </p:nvSpPr>
        <p:spPr>
          <a:xfrm>
            <a:off x="1091444" y="4173281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MAC</a:t>
            </a:r>
            <a:endParaRPr lang="zh-CN" altLang="en-US" sz="2000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2381D71-C755-120F-D114-B53FD8512B21}"/>
              </a:ext>
            </a:extLst>
          </p:cNvPr>
          <p:cNvCxnSpPr/>
          <p:nvPr/>
        </p:nvCxnSpPr>
        <p:spPr>
          <a:xfrm>
            <a:off x="623392" y="4077072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887CF4C-2833-CA45-3AF0-4ACE40F095EA}"/>
              </a:ext>
            </a:extLst>
          </p:cNvPr>
          <p:cNvCxnSpPr/>
          <p:nvPr/>
        </p:nvCxnSpPr>
        <p:spPr>
          <a:xfrm>
            <a:off x="623392" y="4365104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DB4531C-2C32-1356-CDD5-D320F3865066}"/>
              </a:ext>
            </a:extLst>
          </p:cNvPr>
          <p:cNvCxnSpPr/>
          <p:nvPr/>
        </p:nvCxnSpPr>
        <p:spPr>
          <a:xfrm>
            <a:off x="623392" y="4678159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08C36FD0-92AB-0B8C-2CC5-C6EFA787F751}"/>
              </a:ext>
            </a:extLst>
          </p:cNvPr>
          <p:cNvSpPr txBox="1"/>
          <p:nvPr/>
        </p:nvSpPr>
        <p:spPr>
          <a:xfrm>
            <a:off x="269066" y="3911671"/>
            <a:ext cx="432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</a:p>
          <a:p>
            <a:r>
              <a:rPr lang="en-US" altLang="zh-CN" dirty="0"/>
              <a:t>B</a:t>
            </a:r>
          </a:p>
          <a:p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689D40D-77E8-B9E4-066D-1C545BEE503C}"/>
              </a:ext>
            </a:extLst>
          </p:cNvPr>
          <p:cNvCxnSpPr>
            <a:stCxn id="6" idx="3"/>
          </p:cNvCxnSpPr>
          <p:nvPr/>
        </p:nvCxnSpPr>
        <p:spPr>
          <a:xfrm>
            <a:off x="1811524" y="4373336"/>
            <a:ext cx="4680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252AD486-5866-404E-06FB-0DA8B0289588}"/>
              </a:ext>
            </a:extLst>
          </p:cNvPr>
          <p:cNvSpPr txBox="1"/>
          <p:nvPr/>
        </p:nvSpPr>
        <p:spPr>
          <a:xfrm>
            <a:off x="2351584" y="4204059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8FE5AE8-0195-FD9B-93EC-317C4204DE11}"/>
              </a:ext>
            </a:extLst>
          </p:cNvPr>
          <p:cNvSpPr txBox="1"/>
          <p:nvPr/>
        </p:nvSpPr>
        <p:spPr>
          <a:xfrm>
            <a:off x="839416" y="4914812"/>
            <a:ext cx="10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D=AB+C</a:t>
            </a:r>
          </a:p>
          <a:p>
            <a:r>
              <a:rPr lang="en-US" altLang="zh-CN" dirty="0"/>
              <a:t> A</a:t>
            </a:r>
            <a:r>
              <a:rPr lang="zh-CN" altLang="en-US" dirty="0"/>
              <a:t> </a:t>
            </a:r>
            <a:r>
              <a:rPr lang="en-US" altLang="zh-CN" dirty="0"/>
              <a:t>B 4</a:t>
            </a:r>
            <a:r>
              <a:rPr lang="zh-CN" altLang="en-US" dirty="0"/>
              <a:t>位</a:t>
            </a:r>
            <a:endParaRPr lang="en-US" altLang="zh-CN" dirty="0"/>
          </a:p>
          <a:p>
            <a:r>
              <a:rPr lang="en-US" altLang="zh-CN" dirty="0"/>
              <a:t>  C 8</a:t>
            </a:r>
            <a:r>
              <a:rPr lang="zh-CN" altLang="en-US" dirty="0"/>
              <a:t>位 </a:t>
            </a:r>
            <a:endParaRPr lang="en-US" altLang="zh-CN" dirty="0"/>
          </a:p>
          <a:p>
            <a:r>
              <a:rPr lang="en-US" altLang="zh-CN" dirty="0"/>
              <a:t>  D 9</a:t>
            </a:r>
            <a:r>
              <a:rPr lang="zh-CN" altLang="en-US" dirty="0"/>
              <a:t>位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90F192A-4173-89A9-EF43-A7B83150779A}"/>
              </a:ext>
            </a:extLst>
          </p:cNvPr>
          <p:cNvSpPr/>
          <p:nvPr/>
        </p:nvSpPr>
        <p:spPr>
          <a:xfrm>
            <a:off x="4106162" y="3645024"/>
            <a:ext cx="756084" cy="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56C0413-AFD4-2E56-1A50-85D9BABB9D68}"/>
              </a:ext>
            </a:extLst>
          </p:cNvPr>
          <p:cNvSpPr txBox="1"/>
          <p:nvPr/>
        </p:nvSpPr>
        <p:spPr>
          <a:xfrm>
            <a:off x="4167720" y="3805009"/>
            <a:ext cx="694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MAC</a:t>
            </a:r>
            <a:endParaRPr lang="zh-CN" altLang="en-US" sz="20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DD10318-DBFB-DA3B-45CE-A975451C4E5B}"/>
              </a:ext>
            </a:extLst>
          </p:cNvPr>
          <p:cNvSpPr/>
          <p:nvPr/>
        </p:nvSpPr>
        <p:spPr>
          <a:xfrm>
            <a:off x="9372244" y="4991897"/>
            <a:ext cx="756084" cy="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BF9D1DD-7B14-27C7-8A21-10AC4EC1295D}"/>
              </a:ext>
            </a:extLst>
          </p:cNvPr>
          <p:cNvSpPr txBox="1"/>
          <p:nvPr/>
        </p:nvSpPr>
        <p:spPr>
          <a:xfrm>
            <a:off x="9390246" y="5154751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MAC</a:t>
            </a:r>
            <a:endParaRPr lang="zh-CN" altLang="en-US" sz="20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5A29409-F182-E72A-8524-7EE008BFD1D4}"/>
              </a:ext>
            </a:extLst>
          </p:cNvPr>
          <p:cNvSpPr/>
          <p:nvPr/>
        </p:nvSpPr>
        <p:spPr>
          <a:xfrm>
            <a:off x="6627676" y="4991897"/>
            <a:ext cx="756084" cy="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7148A8D-85D6-1790-3056-5C57C9CCE289}"/>
              </a:ext>
            </a:extLst>
          </p:cNvPr>
          <p:cNvSpPr txBox="1"/>
          <p:nvPr/>
        </p:nvSpPr>
        <p:spPr>
          <a:xfrm>
            <a:off x="6663680" y="5151048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MAC</a:t>
            </a:r>
            <a:endParaRPr lang="zh-CN" altLang="en-US" sz="20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1E17002-D4DD-E1EC-2EFA-CF9C73573D77}"/>
              </a:ext>
            </a:extLst>
          </p:cNvPr>
          <p:cNvSpPr/>
          <p:nvPr/>
        </p:nvSpPr>
        <p:spPr>
          <a:xfrm>
            <a:off x="6627676" y="3645024"/>
            <a:ext cx="756084" cy="72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C96111B-5FA8-BA43-7919-759AC964AA53}"/>
              </a:ext>
            </a:extLst>
          </p:cNvPr>
          <p:cNvSpPr txBox="1"/>
          <p:nvPr/>
        </p:nvSpPr>
        <p:spPr>
          <a:xfrm>
            <a:off x="6663680" y="3805009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MAC</a:t>
            </a:r>
            <a:endParaRPr lang="zh-CN" altLang="en-US" sz="2000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F78D91D-A7E8-8D2B-DF40-B189BA584113}"/>
              </a:ext>
            </a:extLst>
          </p:cNvPr>
          <p:cNvSpPr/>
          <p:nvPr/>
        </p:nvSpPr>
        <p:spPr>
          <a:xfrm>
            <a:off x="5435091" y="3104975"/>
            <a:ext cx="360040" cy="30963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2580FCE-6738-9BE3-4DBC-086784258322}"/>
              </a:ext>
            </a:extLst>
          </p:cNvPr>
          <p:cNvSpPr/>
          <p:nvPr/>
        </p:nvSpPr>
        <p:spPr>
          <a:xfrm>
            <a:off x="8377801" y="3104975"/>
            <a:ext cx="360040" cy="30963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4FAD6D82-4CEF-DA2D-F062-1CF4F1FC5239}"/>
                  </a:ext>
                </a:extLst>
              </p:cNvPr>
              <p:cNvSpPr txBox="1"/>
              <p:nvPr/>
            </p:nvSpPr>
            <p:spPr>
              <a:xfrm>
                <a:off x="4219864" y="3244334"/>
                <a:ext cx="4550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4FAD6D82-4CEF-DA2D-F062-1CF4F1FC5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864" y="3244334"/>
                <a:ext cx="455087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7041C21-0FCD-6E98-8C01-A6196EFD5284}"/>
                  </a:ext>
                </a:extLst>
              </p:cNvPr>
              <p:cNvSpPr txBox="1"/>
              <p:nvPr/>
            </p:nvSpPr>
            <p:spPr>
              <a:xfrm>
                <a:off x="6456040" y="3264946"/>
                <a:ext cx="10081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𝑏𝑟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7041C21-0FCD-6E98-8C01-A6196EFD5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0" y="3264946"/>
                <a:ext cx="1008112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FAD0593-7687-D4DB-CE62-9EF95B7D5DA7}"/>
                  </a:ext>
                </a:extLst>
              </p:cNvPr>
              <p:cNvSpPr txBox="1"/>
              <p:nvPr/>
            </p:nvSpPr>
            <p:spPr>
              <a:xfrm>
                <a:off x="6769737" y="4620897"/>
                <a:ext cx="4145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𝑎𝑞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FAD0593-7687-D4DB-CE62-9EF95B7D5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737" y="4620897"/>
                <a:ext cx="414595" cy="369332"/>
              </a:xfrm>
              <a:prstGeom prst="rect">
                <a:avLst/>
              </a:prstGeom>
              <a:blipFill>
                <a:blip r:embed="rId6"/>
                <a:stretch>
                  <a:fillRect r="-2941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9F64DE4D-F8BB-93A3-36B0-98A52ED6ABDE}"/>
                  </a:ext>
                </a:extLst>
              </p:cNvPr>
              <p:cNvSpPr txBox="1"/>
              <p:nvPr/>
            </p:nvSpPr>
            <p:spPr>
              <a:xfrm>
                <a:off x="9227826" y="4604408"/>
                <a:ext cx="10081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𝑏𝑠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9F64DE4D-F8BB-93A3-36B0-98A52ED6A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26" y="4604408"/>
                <a:ext cx="1008112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本框 72">
            <a:extLst>
              <a:ext uri="{FF2B5EF4-FFF2-40B4-BE49-F238E27FC236}">
                <a16:creationId xmlns:a16="http://schemas.microsoft.com/office/drawing/2014/main" id="{FF6E4883-A75C-B237-D70B-04C1551CBC51}"/>
              </a:ext>
            </a:extLst>
          </p:cNvPr>
          <p:cNvSpPr txBox="1"/>
          <p:nvPr/>
        </p:nvSpPr>
        <p:spPr>
          <a:xfrm>
            <a:off x="5357867" y="4280372"/>
            <a:ext cx="461665" cy="64807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REG1</a:t>
            </a:r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8E032B8-6311-74AD-9B61-B2B0AB8D202F}"/>
              </a:ext>
            </a:extLst>
          </p:cNvPr>
          <p:cNvSpPr txBox="1"/>
          <p:nvPr/>
        </p:nvSpPr>
        <p:spPr>
          <a:xfrm>
            <a:off x="8344808" y="4296861"/>
            <a:ext cx="461665" cy="64807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REG2</a:t>
            </a:r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1295571-7811-04CD-D360-46A64C86A1FA}"/>
              </a:ext>
            </a:extLst>
          </p:cNvPr>
          <p:cNvSpPr txBox="1"/>
          <p:nvPr/>
        </p:nvSpPr>
        <p:spPr>
          <a:xfrm>
            <a:off x="3393118" y="3510408"/>
            <a:ext cx="432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</a:p>
          <a:p>
            <a:r>
              <a:rPr lang="en-US" altLang="zh-CN" dirty="0"/>
              <a:t>p</a:t>
            </a:r>
          </a:p>
          <a:p>
            <a:r>
              <a:rPr lang="en-US" altLang="zh-CN" dirty="0"/>
              <a:t>0</a:t>
            </a:r>
            <a:endParaRPr lang="zh-CN" altLang="en-US" dirty="0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D443FF54-793E-177F-9377-7F45CE4E6EB1}"/>
              </a:ext>
            </a:extLst>
          </p:cNvPr>
          <p:cNvCxnSpPr/>
          <p:nvPr/>
        </p:nvCxnSpPr>
        <p:spPr>
          <a:xfrm>
            <a:off x="3674114" y="3717032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FD357AC6-158A-0D19-E532-61450AF43A9E}"/>
              </a:ext>
            </a:extLst>
          </p:cNvPr>
          <p:cNvCxnSpPr/>
          <p:nvPr/>
        </p:nvCxnSpPr>
        <p:spPr>
          <a:xfrm>
            <a:off x="3674114" y="3972073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838CDE83-DFE0-695E-8CDF-6811B811B9AF}"/>
              </a:ext>
            </a:extLst>
          </p:cNvPr>
          <p:cNvCxnSpPr/>
          <p:nvPr/>
        </p:nvCxnSpPr>
        <p:spPr>
          <a:xfrm>
            <a:off x="3674114" y="4266820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0AB19472-CD12-56D1-92D4-A7EAF512AC6E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4862246" y="4005064"/>
            <a:ext cx="5728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C782C3CC-4F80-664C-9D13-8AED05570BB9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5819532" y="4005064"/>
            <a:ext cx="808144" cy="82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CB16419-8EC3-2B84-E77F-CEE4FC97F45F}"/>
              </a:ext>
            </a:extLst>
          </p:cNvPr>
          <p:cNvCxnSpPr>
            <a:cxnSpLocks/>
          </p:cNvCxnSpPr>
          <p:nvPr/>
        </p:nvCxnSpPr>
        <p:spPr>
          <a:xfrm>
            <a:off x="7435820" y="4005064"/>
            <a:ext cx="932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0564719-5785-13B7-B048-D65A24E5FF63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8737841" y="3989675"/>
            <a:ext cx="1894663" cy="153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1CD296A1-3A76-E636-AC2E-27AC30857E7D}"/>
              </a:ext>
            </a:extLst>
          </p:cNvPr>
          <p:cNvSpPr txBox="1"/>
          <p:nvPr/>
        </p:nvSpPr>
        <p:spPr>
          <a:xfrm>
            <a:off x="10632504" y="3805009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res[31:16]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E8022CA-9AAB-8A57-1CF9-9B5E1A6D5EA0}"/>
              </a:ext>
            </a:extLst>
          </p:cNvPr>
          <p:cNvCxnSpPr>
            <a:cxnSpLocks/>
          </p:cNvCxnSpPr>
          <p:nvPr/>
        </p:nvCxnSpPr>
        <p:spPr>
          <a:xfrm>
            <a:off x="10110326" y="5359335"/>
            <a:ext cx="5221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6DD30BC-4AA8-8AE9-4ACD-4F75DD463056}"/>
              </a:ext>
            </a:extLst>
          </p:cNvPr>
          <p:cNvSpPr txBox="1"/>
          <p:nvPr/>
        </p:nvSpPr>
        <p:spPr>
          <a:xfrm>
            <a:off x="10632504" y="5166437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res[15:0]</a:t>
            </a:r>
            <a:endParaRPr lang="zh-CN" altLang="en-US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D70F762-CCA8-8481-B69E-3C08A5C71351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8737841" y="5351937"/>
            <a:ext cx="634403" cy="73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1CC5F0F-BD72-70E0-E81D-99DD6DE338BE}"/>
              </a:ext>
            </a:extLst>
          </p:cNvPr>
          <p:cNvCxnSpPr>
            <a:cxnSpLocks/>
          </p:cNvCxnSpPr>
          <p:nvPr/>
        </p:nvCxnSpPr>
        <p:spPr>
          <a:xfrm>
            <a:off x="7412543" y="5359335"/>
            <a:ext cx="932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002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4A53C36-CD1D-403A-B901-ED45A249F58F}"/>
              </a:ext>
            </a:extLst>
          </p:cNvPr>
          <p:cNvSpPr/>
          <p:nvPr/>
        </p:nvSpPr>
        <p:spPr>
          <a:xfrm>
            <a:off x="8760296" y="4453745"/>
            <a:ext cx="1512168" cy="991479"/>
          </a:xfrm>
          <a:prstGeom prst="roundRect">
            <a:avLst>
              <a:gd name="adj" fmla="val 918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0E68E6A-CDC0-4856-9359-B0F685F61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392" y="332656"/>
            <a:ext cx="9340619" cy="954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Multicycle Execution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C24482B-02E1-4176-8831-F72A71762E8F}"/>
              </a:ext>
            </a:extLst>
          </p:cNvPr>
          <p:cNvSpPr txBox="1"/>
          <p:nvPr/>
        </p:nvSpPr>
        <p:spPr>
          <a:xfrm>
            <a:off x="9964011" y="488056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内存</a:t>
            </a:r>
            <a:endParaRPr lang="en-US" altLang="zh-CN" dirty="0">
              <a:solidFill>
                <a:schemeClr val="accent4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访存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34CD77A-58B8-4534-8C94-EBC33FD79B37}"/>
              </a:ext>
            </a:extLst>
          </p:cNvPr>
          <p:cNvSpPr txBox="1"/>
          <p:nvPr/>
        </p:nvSpPr>
        <p:spPr>
          <a:xfrm>
            <a:off x="335359" y="1506063"/>
            <a:ext cx="4984170" cy="3962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1">
              <a:spcBef>
                <a:spcPts val="672"/>
              </a:spcBef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Load/store </a:t>
            </a: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endParaRPr lang="en-US" altLang="zh-CN" sz="24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本实验中我们将使用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FPGA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的片上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Memory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（实现已经给出）。其中，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的读取</a:t>
            </a:r>
            <a:r>
              <a:rPr lang="zh-CN" altLang="en-US" sz="24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延迟为 </a:t>
            </a:r>
            <a:r>
              <a:rPr lang="en-US" altLang="zh-CN" sz="24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spcBef>
                <a:spcPts val="672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spcBef>
                <a:spcPts val="672"/>
              </a:spcBef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实际应用中，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常作为小型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 Core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。在更复杂的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RV Core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设计中，往往用片外的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HBM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DDR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内存作为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，读取延迟可能为数十至数百周期，且每条指令的访存时间不固定。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0CE43CAB-100B-DB2F-C166-9601E4016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9976" y="1704776"/>
            <a:ext cx="54197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72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Precise Exception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AE1FE2F-B923-44D2-B127-D8903147B0F0}"/>
              </a:ext>
            </a:extLst>
          </p:cNvPr>
          <p:cNvSpPr txBox="1"/>
          <p:nvPr/>
        </p:nvSpPr>
        <p:spPr>
          <a:xfrm>
            <a:off x="335360" y="3879832"/>
            <a:ext cx="11089232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ALU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个周期；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个周期；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Load/Store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个周期。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42E4DD7-B53B-4837-8440-5A5A69B34A97}"/>
              </a:ext>
            </a:extLst>
          </p:cNvPr>
          <p:cNvGrpSpPr/>
          <p:nvPr/>
        </p:nvGrpSpPr>
        <p:grpSpPr>
          <a:xfrm>
            <a:off x="1559496" y="1426170"/>
            <a:ext cx="4426469" cy="2030413"/>
            <a:chOff x="356704" y="1426170"/>
            <a:chExt cx="4426469" cy="2030413"/>
          </a:xfrm>
        </p:grpSpPr>
        <p:grpSp>
          <p:nvGrpSpPr>
            <p:cNvPr id="82" name="Group 4">
              <a:extLst>
                <a:ext uri="{FF2B5EF4-FFF2-40B4-BE49-F238E27FC236}">
                  <a16:creationId xmlns:a16="http://schemas.microsoft.com/office/drawing/2014/main" id="{E45D922E-DF89-4991-8E42-68E2AC87D9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704" y="2377083"/>
              <a:ext cx="804863" cy="369887"/>
              <a:chOff x="1001099" y="4100530"/>
              <a:chExt cx="805656" cy="369887"/>
            </a:xfrm>
          </p:grpSpPr>
          <p:sp>
            <p:nvSpPr>
              <p:cNvPr id="126" name="Rectangle 10">
                <a:extLst>
                  <a:ext uri="{FF2B5EF4-FFF2-40B4-BE49-F238E27FC236}">
                    <a16:creationId xmlns:a16="http://schemas.microsoft.com/office/drawing/2014/main" id="{3D9873B2-171E-488E-AC3A-ABEEDF237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27" name="Rectangle 11">
                <a:extLst>
                  <a:ext uri="{FF2B5EF4-FFF2-40B4-BE49-F238E27FC236}">
                    <a16:creationId xmlns:a16="http://schemas.microsoft.com/office/drawing/2014/main" id="{863C9879-FE45-4D26-BCD4-B57BA9498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</a:t>
                </a:r>
              </a:p>
            </p:txBody>
          </p:sp>
        </p:grpSp>
        <p:sp>
          <p:nvSpPr>
            <p:cNvPr id="83" name="Rectangle 12">
              <a:extLst>
                <a:ext uri="{FF2B5EF4-FFF2-40B4-BE49-F238E27FC236}">
                  <a16:creationId xmlns:a16="http://schemas.microsoft.com/office/drawing/2014/main" id="{140CBBE0-983E-4422-9C82-26DDA7686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554" y="1515070"/>
              <a:ext cx="401638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84" name="Rectangle 13">
              <a:extLst>
                <a:ext uri="{FF2B5EF4-FFF2-40B4-BE49-F238E27FC236}">
                  <a16:creationId xmlns:a16="http://schemas.microsoft.com/office/drawing/2014/main" id="{2CD7FAEB-F897-49B9-AE61-450A870D8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48" y="2213570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</a:t>
              </a:r>
            </a:p>
          </p:txBody>
        </p:sp>
        <p:grpSp>
          <p:nvGrpSpPr>
            <p:cNvPr id="85" name="Group 9">
              <a:extLst>
                <a:ext uri="{FF2B5EF4-FFF2-40B4-BE49-F238E27FC236}">
                  <a16:creationId xmlns:a16="http://schemas.microsoft.com/office/drawing/2014/main" id="{9AD0F440-3D1D-4589-B9BB-A0C7FF39D6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6553" y="2562820"/>
              <a:ext cx="805656" cy="369888"/>
              <a:chOff x="2783717" y="3915586"/>
              <a:chExt cx="805656" cy="369887"/>
            </a:xfrm>
          </p:grpSpPr>
          <p:sp>
            <p:nvSpPr>
              <p:cNvPr id="118" name="Rectangle 12">
                <a:extLst>
                  <a:ext uri="{FF2B5EF4-FFF2-40B4-BE49-F238E27FC236}">
                    <a16:creationId xmlns:a16="http://schemas.microsoft.com/office/drawing/2014/main" id="{88F43372-5E95-4309-A704-14E4994C2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19" name="Rectangle 12">
                <a:extLst>
                  <a:ext uri="{FF2B5EF4-FFF2-40B4-BE49-F238E27FC236}">
                    <a16:creationId xmlns:a16="http://schemas.microsoft.com/office/drawing/2014/main" id="{9F2540B0-6EEE-4256-8BC5-A804F572E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</p:grpSp>
        <p:grpSp>
          <p:nvGrpSpPr>
            <p:cNvPr id="86" name="Group 18">
              <a:extLst>
                <a:ext uri="{FF2B5EF4-FFF2-40B4-BE49-F238E27FC236}">
                  <a16:creationId xmlns:a16="http://schemas.microsoft.com/office/drawing/2014/main" id="{D3B7A881-C73C-499B-BDB2-BB93794845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6557" y="2031008"/>
              <a:ext cx="1208486" cy="374650"/>
              <a:chOff x="2783717" y="3915586"/>
              <a:chExt cx="1208484" cy="374488"/>
            </a:xfrm>
          </p:grpSpPr>
          <p:sp>
            <p:nvSpPr>
              <p:cNvPr id="114" name="Rectangle 12">
                <a:extLst>
                  <a:ext uri="{FF2B5EF4-FFF2-40B4-BE49-F238E27FC236}">
                    <a16:creationId xmlns:a16="http://schemas.microsoft.com/office/drawing/2014/main" id="{4BD8EABA-B610-470C-ADB9-941840380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20187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15" name="Rectangle 12">
                <a:extLst>
                  <a:ext uri="{FF2B5EF4-FFF2-40B4-BE49-F238E27FC236}">
                    <a16:creationId xmlns:a16="http://schemas.microsoft.com/office/drawing/2014/main" id="{A906A63A-A8E6-4956-BF31-2A00F8FCA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16" name="Rectangle 12">
                <a:extLst>
                  <a:ext uri="{FF2B5EF4-FFF2-40B4-BE49-F238E27FC236}">
                    <a16:creationId xmlns:a16="http://schemas.microsoft.com/office/drawing/2014/main" id="{76AB5338-1A5C-44F8-AAF7-07ECF98577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</p:grpSp>
        <p:sp>
          <p:nvSpPr>
            <p:cNvPr id="105" name="TextBox 25">
              <a:extLst>
                <a:ext uri="{FF2B5EF4-FFF2-40B4-BE49-F238E27FC236}">
                  <a16:creationId xmlns:a16="http://schemas.microsoft.com/office/drawing/2014/main" id="{760C9645-A5FF-47D7-BF1C-86FDB26300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361" y="2932708"/>
              <a:ext cx="6815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 . .</a:t>
              </a:r>
            </a:p>
          </p:txBody>
        </p:sp>
        <p:cxnSp>
          <p:nvCxnSpPr>
            <p:cNvPr id="88" name="Straight Connector 34">
              <a:extLst>
                <a:ext uri="{FF2B5EF4-FFF2-40B4-BE49-F238E27FC236}">
                  <a16:creationId xmlns:a16="http://schemas.microsoft.com/office/drawing/2014/main" id="{F80A66F7-2AF7-494B-8090-701CFDE8D8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61567" y="2562820"/>
              <a:ext cx="244475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Straight Connector 35">
              <a:extLst>
                <a:ext uri="{FF2B5EF4-FFF2-40B4-BE49-F238E27FC236}">
                  <a16:creationId xmlns:a16="http://schemas.microsoft.com/office/drawing/2014/main" id="{218796CF-56B2-4E08-BAAC-3DD652EE91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01973" y="2476301"/>
              <a:ext cx="16065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Straight Arrow Connector 36">
              <a:extLst>
                <a:ext uri="{FF2B5EF4-FFF2-40B4-BE49-F238E27FC236}">
                  <a16:creationId xmlns:a16="http://schemas.microsoft.com/office/drawing/2014/main" id="{DF34F3B9-E7B0-49DF-BB12-BB2BF710C7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06042" y="3280370"/>
              <a:ext cx="290512" cy="15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1" name="Straight Arrow Connector 37">
              <a:extLst>
                <a:ext uri="{FF2B5EF4-FFF2-40B4-BE49-F238E27FC236}">
                  <a16:creationId xmlns:a16="http://schemas.microsoft.com/office/drawing/2014/main" id="{6FB784BB-3457-48FA-9137-FAE5B94CB9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06042" y="2746970"/>
              <a:ext cx="29051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" name="Straight Arrow Connector 38">
              <a:extLst>
                <a:ext uri="{FF2B5EF4-FFF2-40B4-BE49-F238E27FC236}">
                  <a16:creationId xmlns:a16="http://schemas.microsoft.com/office/drawing/2014/main" id="{2DA1D8BB-A00E-419F-932A-D3890D6524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13979" y="1673820"/>
              <a:ext cx="28892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" name="Straight Arrow Connector 39">
              <a:extLst>
                <a:ext uri="{FF2B5EF4-FFF2-40B4-BE49-F238E27FC236}">
                  <a16:creationId xmlns:a16="http://schemas.microsoft.com/office/drawing/2014/main" id="{499408DE-BFD0-4F45-B614-EAC4EE49C3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12392" y="2219920"/>
              <a:ext cx="28892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Straight Connector 40">
              <a:extLst>
                <a:ext uri="{FF2B5EF4-FFF2-40B4-BE49-F238E27FC236}">
                  <a16:creationId xmlns:a16="http://schemas.microsoft.com/office/drawing/2014/main" id="{42961F87-0544-47CF-B21D-6501BB6A0B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366330" y="2477889"/>
              <a:ext cx="160655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Straight Arrow Connector 41">
              <a:extLst>
                <a:ext uri="{FF2B5EF4-FFF2-40B4-BE49-F238E27FC236}">
                  <a16:creationId xmlns:a16="http://schemas.microsoft.com/office/drawing/2014/main" id="{50E8414E-5449-4C7A-8B99-A837BAFE4A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70398" y="2405658"/>
              <a:ext cx="234950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Straight Arrow Connector 42">
              <a:extLst>
                <a:ext uri="{FF2B5EF4-FFF2-40B4-BE49-F238E27FC236}">
                  <a16:creationId xmlns:a16="http://schemas.microsoft.com/office/drawing/2014/main" id="{043C0117-8969-4682-8360-E7432A236B10}"/>
                </a:ext>
              </a:extLst>
            </p:cNvPr>
            <p:cNvCxnSpPr>
              <a:cxnSpLocks noChangeShapeType="1"/>
              <a:stCxn id="83" idx="3"/>
            </p:cNvCxnSpPr>
            <p:nvPr/>
          </p:nvCxnSpPr>
          <p:spPr bwMode="auto">
            <a:xfrm>
              <a:off x="2098192" y="1700014"/>
              <a:ext cx="2074936" cy="79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Straight Arrow Connector 43">
              <a:extLst>
                <a:ext uri="{FF2B5EF4-FFF2-40B4-BE49-F238E27FC236}">
                  <a16:creationId xmlns:a16="http://schemas.microsoft.com/office/drawing/2014/main" id="{4B287434-120E-45D2-987A-5C22EBA83D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04865" y="2219920"/>
              <a:ext cx="126826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Straight Arrow Connector 44">
              <a:extLst>
                <a:ext uri="{FF2B5EF4-FFF2-40B4-BE49-F238E27FC236}">
                  <a16:creationId xmlns:a16="http://schemas.microsoft.com/office/drawing/2014/main" id="{6B33D547-171F-4237-83A2-4DFD231A74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95427" y="2746970"/>
              <a:ext cx="167770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Straight Arrow Connector 45">
              <a:extLst>
                <a:ext uri="{FF2B5EF4-FFF2-40B4-BE49-F238E27FC236}">
                  <a16:creationId xmlns:a16="http://schemas.microsoft.com/office/drawing/2014/main" id="{B4B11B2B-E0A9-4CAD-8738-BDF8E70001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76540" y="3283545"/>
              <a:ext cx="79658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0" name="TextBox 46">
              <a:extLst>
                <a:ext uri="{FF2B5EF4-FFF2-40B4-BE49-F238E27FC236}">
                  <a16:creationId xmlns:a16="http://schemas.microsoft.com/office/drawing/2014/main" id="{2EEEF46B-8CCD-423D-9895-F47D16C1A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0146" y="1426170"/>
              <a:ext cx="53412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ALU</a:t>
              </a:r>
            </a:p>
          </p:txBody>
        </p:sp>
        <p:sp>
          <p:nvSpPr>
            <p:cNvPr id="101" name="TextBox 47">
              <a:extLst>
                <a:ext uri="{FF2B5EF4-FFF2-40B4-BE49-F238E27FC236}">
                  <a16:creationId xmlns:a16="http://schemas.microsoft.com/office/drawing/2014/main" id="{53001134-2D6E-47D7-847E-6B05C0AB0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028" y="1872517"/>
              <a:ext cx="69442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400" dirty="0">
                  <a:solidFill>
                    <a:srgbClr val="000000"/>
                  </a:solidFill>
                  <a:latin typeface="Arial" panose="020B0604020202020204" pitchFamily="34" charset="0"/>
                </a:rPr>
                <a:t>SAMV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Box 48">
              <a:extLst>
                <a:ext uri="{FF2B5EF4-FFF2-40B4-BE49-F238E27FC236}">
                  <a16:creationId xmlns:a16="http://schemas.microsoft.com/office/drawing/2014/main" id="{82029AE1-2E46-416C-97B9-3C1ACA3CA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1651" y="2377083"/>
              <a:ext cx="10599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Load/Store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397F8A1E-14EA-4C67-A803-699BD2A730D3}"/>
              </a:ext>
            </a:extLst>
          </p:cNvPr>
          <p:cNvSpPr txBox="1"/>
          <p:nvPr/>
        </p:nvSpPr>
        <p:spPr>
          <a:xfrm>
            <a:off x="623392" y="4722768"/>
            <a:ext cx="106939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问题：顺序执行的指令 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WB 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不保证顺序执行，在发生异常时无法保证 </a:t>
            </a:r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precise exception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！！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F553246-1045-4623-83D1-82B92224223F}"/>
              </a:ext>
            </a:extLst>
          </p:cNvPr>
          <p:cNvGrpSpPr/>
          <p:nvPr/>
        </p:nvGrpSpPr>
        <p:grpSpPr>
          <a:xfrm>
            <a:off x="6318185" y="1423690"/>
            <a:ext cx="4027110" cy="2214562"/>
            <a:chOff x="6039951" y="1287016"/>
            <a:chExt cx="4027110" cy="2214562"/>
          </a:xfrm>
        </p:grpSpPr>
        <p:grpSp>
          <p:nvGrpSpPr>
            <p:cNvPr id="62" name="Group 9">
              <a:extLst>
                <a:ext uri="{FF2B5EF4-FFF2-40B4-BE49-F238E27FC236}">
                  <a16:creationId xmlns:a16="http://schemas.microsoft.com/office/drawing/2014/main" id="{D3B19C3F-205F-4172-A03C-5A2DCF3915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43176" y="1655316"/>
              <a:ext cx="1610627" cy="369887"/>
              <a:chOff x="932873" y="4248850"/>
              <a:chExt cx="1610010" cy="369332"/>
            </a:xfrm>
          </p:grpSpPr>
          <p:sp>
            <p:nvSpPr>
              <p:cNvPr id="154" name="Rectangle 10">
                <a:extLst>
                  <a:ext uri="{FF2B5EF4-FFF2-40B4-BE49-F238E27FC236}">
                    <a16:creationId xmlns:a16="http://schemas.microsoft.com/office/drawing/2014/main" id="{21538F2E-4211-4E8F-A7B1-3D1C3CC5C0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2873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55" name="Rectangle 11">
                <a:extLst>
                  <a:ext uri="{FF2B5EF4-FFF2-40B4-BE49-F238E27FC236}">
                    <a16:creationId xmlns:a16="http://schemas.microsoft.com/office/drawing/2014/main" id="{7B8A4BEC-FD1E-41EB-B819-F8D75CB63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5547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</a:t>
                </a:r>
              </a:p>
            </p:txBody>
          </p:sp>
          <p:sp>
            <p:nvSpPr>
              <p:cNvPr id="156" name="Rectangle 12">
                <a:extLst>
                  <a:ext uri="{FF2B5EF4-FFF2-40B4-BE49-F238E27FC236}">
                    <a16:creationId xmlns:a16="http://schemas.microsoft.com/office/drawing/2014/main" id="{B2B2FFD1-B66A-4FAC-B73F-AA7532BEE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8221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57" name="Rectangle 13">
                <a:extLst>
                  <a:ext uri="{FF2B5EF4-FFF2-40B4-BE49-F238E27FC236}">
                    <a16:creationId xmlns:a16="http://schemas.microsoft.com/office/drawing/2014/main" id="{0BB75041-0628-45B8-8D0D-E1B9E92FA9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0895" y="4248850"/>
                <a:ext cx="401988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W</a:t>
                </a:r>
              </a:p>
            </p:txBody>
          </p:sp>
        </p:grpSp>
        <p:grpSp>
          <p:nvGrpSpPr>
            <p:cNvPr id="63" name="Group 55">
              <a:extLst>
                <a:ext uri="{FF2B5EF4-FFF2-40B4-BE49-F238E27FC236}">
                  <a16:creationId xmlns:a16="http://schemas.microsoft.com/office/drawing/2014/main" id="{298B8DDE-98A8-4D7F-85D7-50B8529632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9951" y="1287016"/>
              <a:ext cx="2416248" cy="368300"/>
              <a:chOff x="2953332" y="2410731"/>
              <a:chExt cx="2416308" cy="369318"/>
            </a:xfrm>
          </p:grpSpPr>
          <p:sp>
            <p:nvSpPr>
              <p:cNvPr id="143" name="Rectangle 5">
                <a:extLst>
                  <a:ext uri="{FF2B5EF4-FFF2-40B4-BE49-F238E27FC236}">
                    <a16:creationId xmlns:a16="http://schemas.microsoft.com/office/drawing/2014/main" id="{4AA950F9-8E87-4EB1-AEA8-08BF1DC24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3332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44" name="Rectangle 6">
                <a:extLst>
                  <a:ext uri="{FF2B5EF4-FFF2-40B4-BE49-F238E27FC236}">
                    <a16:creationId xmlns:a16="http://schemas.microsoft.com/office/drawing/2014/main" id="{556C4C21-D2D0-47D9-9E14-D26778D18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6134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</a:t>
                </a:r>
              </a:p>
            </p:txBody>
          </p:sp>
          <p:sp>
            <p:nvSpPr>
              <p:cNvPr id="145" name="Rectangle 7">
                <a:extLst>
                  <a:ext uri="{FF2B5EF4-FFF2-40B4-BE49-F238E27FC236}">
                    <a16:creationId xmlns:a16="http://schemas.microsoft.com/office/drawing/2014/main" id="{F5706D2D-A698-428A-9AEF-D23B8F55E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8937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46" name="Rectangle 8">
                <a:extLst>
                  <a:ext uri="{FF2B5EF4-FFF2-40B4-BE49-F238E27FC236}">
                    <a16:creationId xmlns:a16="http://schemas.microsoft.com/office/drawing/2014/main" id="{A97F90CB-90DF-44D4-AE46-07F89F17DB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6838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W</a:t>
                </a:r>
              </a:p>
            </p:txBody>
          </p:sp>
          <p:sp>
            <p:nvSpPr>
              <p:cNvPr id="147" name="Rectangle 7">
                <a:extLst>
                  <a:ext uri="{FF2B5EF4-FFF2-40B4-BE49-F238E27FC236}">
                    <a16:creationId xmlns:a16="http://schemas.microsoft.com/office/drawing/2014/main" id="{64895C15-6278-4C9B-816E-D645ACEEE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1739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48" name="Rectangle 7">
                <a:extLst>
                  <a:ext uri="{FF2B5EF4-FFF2-40B4-BE49-F238E27FC236}">
                    <a16:creationId xmlns:a16="http://schemas.microsoft.com/office/drawing/2014/main" id="{8A881C05-CFEE-4648-ABB9-41ACB7B74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4541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</p:grpSp>
        <p:grpSp>
          <p:nvGrpSpPr>
            <p:cNvPr id="64" name="Group 9">
              <a:extLst>
                <a:ext uri="{FF2B5EF4-FFF2-40B4-BE49-F238E27FC236}">
                  <a16:creationId xmlns:a16="http://schemas.microsoft.com/office/drawing/2014/main" id="{7BD635B6-C26A-451D-B0E8-BB710EFC29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46401" y="2025203"/>
              <a:ext cx="2010715" cy="368300"/>
              <a:chOff x="932873" y="4248850"/>
              <a:chExt cx="2009945" cy="369332"/>
            </a:xfrm>
          </p:grpSpPr>
          <p:sp>
            <p:nvSpPr>
              <p:cNvPr id="139" name="Rectangle 10">
                <a:extLst>
                  <a:ext uri="{FF2B5EF4-FFF2-40B4-BE49-F238E27FC236}">
                    <a16:creationId xmlns:a16="http://schemas.microsoft.com/office/drawing/2014/main" id="{8EE00E1E-2E7A-45D0-BB87-AFA6AF66F1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2873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40" name="Rectangle 11">
                <a:extLst>
                  <a:ext uri="{FF2B5EF4-FFF2-40B4-BE49-F238E27FC236}">
                    <a16:creationId xmlns:a16="http://schemas.microsoft.com/office/drawing/2014/main" id="{5D245234-B30A-4245-9222-51361D5B8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5547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</a:t>
                </a:r>
              </a:p>
            </p:txBody>
          </p:sp>
          <p:sp>
            <p:nvSpPr>
              <p:cNvPr id="141" name="Rectangle 12">
                <a:extLst>
                  <a:ext uri="{FF2B5EF4-FFF2-40B4-BE49-F238E27FC236}">
                    <a16:creationId xmlns:a16="http://schemas.microsoft.com/office/drawing/2014/main" id="{A3B8417C-ED9B-4B80-A846-E26DD15F3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8221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42" name="Rectangle 13">
                <a:extLst>
                  <a:ext uri="{FF2B5EF4-FFF2-40B4-BE49-F238E27FC236}">
                    <a16:creationId xmlns:a16="http://schemas.microsoft.com/office/drawing/2014/main" id="{07605E07-F568-49C4-B05D-14C43EF3A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144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W</a:t>
                </a:r>
              </a:p>
            </p:txBody>
          </p:sp>
        </p:grpSp>
        <p:grpSp>
          <p:nvGrpSpPr>
            <p:cNvPr id="65" name="Group 9">
              <a:extLst>
                <a:ext uri="{FF2B5EF4-FFF2-40B4-BE49-F238E27FC236}">
                  <a16:creationId xmlns:a16="http://schemas.microsoft.com/office/drawing/2014/main" id="{3D2453D2-65D2-4DAB-BA57-48FADD7AC5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49626" y="2393503"/>
              <a:ext cx="2009615" cy="369888"/>
              <a:chOff x="932873" y="4248850"/>
              <a:chExt cx="2008845" cy="369332"/>
            </a:xfrm>
          </p:grpSpPr>
          <p:sp>
            <p:nvSpPr>
              <p:cNvPr id="135" name="Rectangle 10">
                <a:extLst>
                  <a:ext uri="{FF2B5EF4-FFF2-40B4-BE49-F238E27FC236}">
                    <a16:creationId xmlns:a16="http://schemas.microsoft.com/office/drawing/2014/main" id="{496CA805-A47E-46A0-A0F3-80D6179CF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2873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36" name="Rectangle 11">
                <a:extLst>
                  <a:ext uri="{FF2B5EF4-FFF2-40B4-BE49-F238E27FC236}">
                    <a16:creationId xmlns:a16="http://schemas.microsoft.com/office/drawing/2014/main" id="{C358CC5A-4FD0-4D85-B3FF-92E629F46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5546" y="4248850"/>
                <a:ext cx="407717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</a:t>
                </a:r>
              </a:p>
            </p:txBody>
          </p:sp>
          <p:sp>
            <p:nvSpPr>
              <p:cNvPr id="137" name="Rectangle 12">
                <a:extLst>
                  <a:ext uri="{FF2B5EF4-FFF2-40B4-BE49-F238E27FC236}">
                    <a16:creationId xmlns:a16="http://schemas.microsoft.com/office/drawing/2014/main" id="{E5E1359F-16BD-40F8-81F3-503123E823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8221" y="4248850"/>
                <a:ext cx="405806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38" name="Rectangle 13">
                <a:extLst>
                  <a:ext uri="{FF2B5EF4-FFF2-40B4-BE49-F238E27FC236}">
                    <a16:creationId xmlns:a16="http://schemas.microsoft.com/office/drawing/2014/main" id="{896102D5-6FD8-4849-921E-EC893B2C4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9044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W</a:t>
                </a:r>
              </a:p>
            </p:txBody>
          </p:sp>
        </p:grpSp>
        <p:grpSp>
          <p:nvGrpSpPr>
            <p:cNvPr id="66" name="Group 9">
              <a:extLst>
                <a:ext uri="{FF2B5EF4-FFF2-40B4-BE49-F238E27FC236}">
                  <a16:creationId xmlns:a16="http://schemas.microsoft.com/office/drawing/2014/main" id="{C4BC7A4B-C2A8-4DED-8E16-11C36746E5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4489" y="3133278"/>
              <a:ext cx="1611312" cy="368300"/>
              <a:chOff x="932873" y="4248850"/>
              <a:chExt cx="1610696" cy="369332"/>
            </a:xfrm>
          </p:grpSpPr>
          <p:sp>
            <p:nvSpPr>
              <p:cNvPr id="131" name="Rectangle 10">
                <a:extLst>
                  <a:ext uri="{FF2B5EF4-FFF2-40B4-BE49-F238E27FC236}">
                    <a16:creationId xmlns:a16="http://schemas.microsoft.com/office/drawing/2014/main" id="{E67DE8CB-6F84-419F-8572-48D791672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2873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32" name="Rectangle 11">
                <a:extLst>
                  <a:ext uri="{FF2B5EF4-FFF2-40B4-BE49-F238E27FC236}">
                    <a16:creationId xmlns:a16="http://schemas.microsoft.com/office/drawing/2014/main" id="{0A5CD63B-5598-40D4-A53D-A721FB1C9B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5547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</a:t>
                </a:r>
              </a:p>
            </p:txBody>
          </p:sp>
          <p:sp>
            <p:nvSpPr>
              <p:cNvPr id="133" name="Rectangle 12">
                <a:extLst>
                  <a:ext uri="{FF2B5EF4-FFF2-40B4-BE49-F238E27FC236}">
                    <a16:creationId xmlns:a16="http://schemas.microsoft.com/office/drawing/2014/main" id="{8EE48126-D324-4D13-B563-C4BB6CA46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8221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34" name="Rectangle 13">
                <a:extLst>
                  <a:ext uri="{FF2B5EF4-FFF2-40B4-BE49-F238E27FC236}">
                    <a16:creationId xmlns:a16="http://schemas.microsoft.com/office/drawing/2014/main" id="{F0440A82-7885-4FAD-976D-3B7441B7F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0895" y="4248850"/>
                <a:ext cx="402674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W</a:t>
                </a:r>
              </a:p>
            </p:txBody>
          </p:sp>
        </p:grpSp>
        <p:grpSp>
          <p:nvGrpSpPr>
            <p:cNvPr id="68" name="Group 56">
              <a:extLst>
                <a:ext uri="{FF2B5EF4-FFF2-40B4-BE49-F238E27FC236}">
                  <a16:creationId xmlns:a16="http://schemas.microsoft.com/office/drawing/2014/main" id="{37D93E53-FC8A-4DC0-B2E3-B46B52AC8E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51263" y="2763391"/>
              <a:ext cx="2415798" cy="369887"/>
              <a:chOff x="2953332" y="2410731"/>
              <a:chExt cx="2415859" cy="369318"/>
            </a:xfrm>
          </p:grpSpPr>
          <p:sp>
            <p:nvSpPr>
              <p:cNvPr id="69" name="Rectangle 5">
                <a:extLst>
                  <a:ext uri="{FF2B5EF4-FFF2-40B4-BE49-F238E27FC236}">
                    <a16:creationId xmlns:a16="http://schemas.microsoft.com/office/drawing/2014/main" id="{D7FD237D-45E1-4B05-9097-F2454C7438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3332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70" name="Rectangle 6">
                <a:extLst>
                  <a:ext uri="{FF2B5EF4-FFF2-40B4-BE49-F238E27FC236}">
                    <a16:creationId xmlns:a16="http://schemas.microsoft.com/office/drawing/2014/main" id="{550418DE-43A0-4AC0-8B28-B161BD37C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6134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</a:t>
                </a:r>
              </a:p>
            </p:txBody>
          </p:sp>
          <p:sp>
            <p:nvSpPr>
              <p:cNvPr id="71" name="Rectangle 7">
                <a:extLst>
                  <a:ext uri="{FF2B5EF4-FFF2-40B4-BE49-F238E27FC236}">
                    <a16:creationId xmlns:a16="http://schemas.microsoft.com/office/drawing/2014/main" id="{2F46A7BC-FB50-450E-ACE2-E75610369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8937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72" name="Rectangle 8">
                <a:extLst>
                  <a:ext uri="{FF2B5EF4-FFF2-40B4-BE49-F238E27FC236}">
                    <a16:creationId xmlns:a16="http://schemas.microsoft.com/office/drawing/2014/main" id="{1B0A42DD-DC25-49EF-BA15-37BC5BFB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6389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W</a:t>
                </a:r>
              </a:p>
            </p:txBody>
          </p:sp>
          <p:sp>
            <p:nvSpPr>
              <p:cNvPr id="73" name="Rectangle 7">
                <a:extLst>
                  <a:ext uri="{FF2B5EF4-FFF2-40B4-BE49-F238E27FC236}">
                    <a16:creationId xmlns:a16="http://schemas.microsoft.com/office/drawing/2014/main" id="{310C3BD2-0C5C-45D8-B0D3-CE1D284B7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1739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74" name="Rectangle 7">
                <a:extLst>
                  <a:ext uri="{FF2B5EF4-FFF2-40B4-BE49-F238E27FC236}">
                    <a16:creationId xmlns:a16="http://schemas.microsoft.com/office/drawing/2014/main" id="{2B4250C8-33C5-466B-B2EF-6A92A20757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4541" y="2410731"/>
                <a:ext cx="402802" cy="3693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</p:grpSp>
        <p:sp>
          <p:nvSpPr>
            <p:cNvPr id="158" name="Rectangle 12">
              <a:extLst>
                <a:ext uri="{FF2B5EF4-FFF2-40B4-BE49-F238E27FC236}">
                  <a16:creationId xmlns:a16="http://schemas.microsoft.com/office/drawing/2014/main" id="{133BE4FC-F17F-4915-B619-1A088DAA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3371" y="2028685"/>
              <a:ext cx="402828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59" name="Rectangle 12">
              <a:extLst>
                <a:ext uri="{FF2B5EF4-FFF2-40B4-BE49-F238E27FC236}">
                  <a16:creationId xmlns:a16="http://schemas.microsoft.com/office/drawing/2014/main" id="{1EC3B2E9-C21C-4200-93C3-E15F938B9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2471" y="2391915"/>
              <a:ext cx="395182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722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Precise Exception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AE1FE2F-B923-44D2-B127-D8903147B0F0}"/>
              </a:ext>
            </a:extLst>
          </p:cNvPr>
          <p:cNvSpPr txBox="1"/>
          <p:nvPr/>
        </p:nvSpPr>
        <p:spPr>
          <a:xfrm>
            <a:off x="335360" y="3879832"/>
            <a:ext cx="11089232" cy="177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简单的解决办法：在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Load/Store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插入气泡，保证所有指令的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阶段均为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本次实验中：</a:t>
            </a:r>
            <a:r>
              <a:rPr lang="zh-CN" altLang="en-US" sz="24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你需要实现这一解决方案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7F0D6B9-D8A9-4CAE-AC04-D03600F0DA53}"/>
              </a:ext>
            </a:extLst>
          </p:cNvPr>
          <p:cNvGrpSpPr/>
          <p:nvPr/>
        </p:nvGrpSpPr>
        <p:grpSpPr>
          <a:xfrm>
            <a:off x="3215680" y="1423690"/>
            <a:ext cx="4428406" cy="2216150"/>
            <a:chOff x="3215680" y="1423690"/>
            <a:chExt cx="4428406" cy="2216150"/>
          </a:xfrm>
        </p:grpSpPr>
        <p:sp>
          <p:nvSpPr>
            <p:cNvPr id="154" name="Rectangle 10">
              <a:extLst>
                <a:ext uri="{FF2B5EF4-FFF2-40B4-BE49-F238E27FC236}">
                  <a16:creationId xmlns:a16="http://schemas.microsoft.com/office/drawing/2014/main" id="{21538F2E-4211-4E8F-A7B1-3D1C3CC5C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8905" y="179199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55" name="Rectangle 11">
              <a:extLst>
                <a:ext uri="{FF2B5EF4-FFF2-40B4-BE49-F238E27FC236}">
                  <a16:creationId xmlns:a16="http://schemas.microsoft.com/office/drawing/2014/main" id="{7B8A4BEC-FD1E-41EB-B819-F8D75CB63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733" y="179199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56" name="Rectangle 12">
              <a:extLst>
                <a:ext uri="{FF2B5EF4-FFF2-40B4-BE49-F238E27FC236}">
                  <a16:creationId xmlns:a16="http://schemas.microsoft.com/office/drawing/2014/main" id="{B2B2FFD1-B66A-4FAC-B73F-AA7532BEE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562" y="179199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57" name="Rectangle 13">
              <a:extLst>
                <a:ext uri="{FF2B5EF4-FFF2-40B4-BE49-F238E27FC236}">
                  <a16:creationId xmlns:a16="http://schemas.microsoft.com/office/drawing/2014/main" id="{0BB75041-0628-45B8-8D0D-E1B9E92FA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0428" y="1791990"/>
              <a:ext cx="402142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</a:t>
              </a:r>
            </a:p>
          </p:txBody>
        </p:sp>
        <p:sp>
          <p:nvSpPr>
            <p:cNvPr id="143" name="Rectangle 5">
              <a:extLst>
                <a:ext uri="{FF2B5EF4-FFF2-40B4-BE49-F238E27FC236}">
                  <a16:creationId xmlns:a16="http://schemas.microsoft.com/office/drawing/2014/main" id="{4AA950F9-8E87-4EB1-AEA8-08BF1DC24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5680" y="1423690"/>
              <a:ext cx="402792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44" name="Rectangle 6">
              <a:extLst>
                <a:ext uri="{FF2B5EF4-FFF2-40B4-BE49-F238E27FC236}">
                  <a16:creationId xmlns:a16="http://schemas.microsoft.com/office/drawing/2014/main" id="{556C4C21-D2D0-47D9-9E14-D26778D18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8472" y="1423690"/>
              <a:ext cx="402792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45" name="Rectangle 7">
              <a:extLst>
                <a:ext uri="{FF2B5EF4-FFF2-40B4-BE49-F238E27FC236}">
                  <a16:creationId xmlns:a16="http://schemas.microsoft.com/office/drawing/2014/main" id="{F5706D2D-A698-428A-9AEF-D23B8F55E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265" y="1423690"/>
              <a:ext cx="402792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46" name="Rectangle 8">
              <a:extLst>
                <a:ext uri="{FF2B5EF4-FFF2-40B4-BE49-F238E27FC236}">
                  <a16:creationId xmlns:a16="http://schemas.microsoft.com/office/drawing/2014/main" id="{A97F90CB-90DF-44D4-AE46-07F89F17D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9136" y="1423690"/>
              <a:ext cx="402792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</a:t>
              </a:r>
            </a:p>
          </p:txBody>
        </p:sp>
        <p:sp>
          <p:nvSpPr>
            <p:cNvPr id="147" name="Rectangle 7">
              <a:extLst>
                <a:ext uri="{FF2B5EF4-FFF2-40B4-BE49-F238E27FC236}">
                  <a16:creationId xmlns:a16="http://schemas.microsoft.com/office/drawing/2014/main" id="{64895C15-6278-4C9B-816E-D645ACEEE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057" y="1423690"/>
              <a:ext cx="402792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48" name="Rectangle 7">
              <a:extLst>
                <a:ext uri="{FF2B5EF4-FFF2-40B4-BE49-F238E27FC236}">
                  <a16:creationId xmlns:a16="http://schemas.microsoft.com/office/drawing/2014/main" id="{8A881C05-CFEE-4648-ABB9-41ACB7B74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849" y="1423690"/>
              <a:ext cx="402792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39" name="Rectangle 10">
              <a:extLst>
                <a:ext uri="{FF2B5EF4-FFF2-40B4-BE49-F238E27FC236}">
                  <a16:creationId xmlns:a16="http://schemas.microsoft.com/office/drawing/2014/main" id="{8EE00E1E-2E7A-45D0-BB87-AFA6AF66F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2130" y="2161877"/>
              <a:ext cx="402828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40" name="Rectangle 11">
              <a:extLst>
                <a:ext uri="{FF2B5EF4-FFF2-40B4-BE49-F238E27FC236}">
                  <a16:creationId xmlns:a16="http://schemas.microsoft.com/office/drawing/2014/main" id="{5D245234-B30A-4245-9222-51361D5B8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958" y="2161877"/>
              <a:ext cx="402828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41" name="Rectangle 12">
              <a:extLst>
                <a:ext uri="{FF2B5EF4-FFF2-40B4-BE49-F238E27FC236}">
                  <a16:creationId xmlns:a16="http://schemas.microsoft.com/office/drawing/2014/main" id="{A3B8417C-ED9B-4B80-A846-E26DD15F3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7787" y="2161877"/>
              <a:ext cx="402828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42" name="Rectangle 13">
              <a:extLst>
                <a:ext uri="{FF2B5EF4-FFF2-40B4-BE49-F238E27FC236}">
                  <a16:creationId xmlns:a16="http://schemas.microsoft.com/office/drawing/2014/main" id="{07605E07-F568-49C4-B05D-14C43EF3A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6414" y="2161877"/>
              <a:ext cx="402828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</a:t>
              </a:r>
            </a:p>
          </p:txBody>
        </p:sp>
        <p:sp>
          <p:nvSpPr>
            <p:cNvPr id="135" name="Rectangle 10">
              <a:extLst>
                <a:ext uri="{FF2B5EF4-FFF2-40B4-BE49-F238E27FC236}">
                  <a16:creationId xmlns:a16="http://schemas.microsoft.com/office/drawing/2014/main" id="{496CA805-A47E-46A0-A0F3-80D6179CF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355" y="2530177"/>
              <a:ext cx="402828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36" name="Rectangle 11">
              <a:extLst>
                <a:ext uri="{FF2B5EF4-FFF2-40B4-BE49-F238E27FC236}">
                  <a16:creationId xmlns:a16="http://schemas.microsoft.com/office/drawing/2014/main" id="{C358CC5A-4FD0-4D85-B3FF-92E629F46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8182" y="2530177"/>
              <a:ext cx="407873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37" name="Rectangle 12">
              <a:extLst>
                <a:ext uri="{FF2B5EF4-FFF2-40B4-BE49-F238E27FC236}">
                  <a16:creationId xmlns:a16="http://schemas.microsoft.com/office/drawing/2014/main" id="{E5E1359F-16BD-40F8-81F3-503123E8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012" y="2530177"/>
              <a:ext cx="405962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38" name="Rectangle 13">
              <a:extLst>
                <a:ext uri="{FF2B5EF4-FFF2-40B4-BE49-F238E27FC236}">
                  <a16:creationId xmlns:a16="http://schemas.microsoft.com/office/drawing/2014/main" id="{896102D5-6FD8-4849-921E-EC893B2C4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4678" y="2530177"/>
              <a:ext cx="402828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</a:t>
              </a:r>
            </a:p>
          </p:txBody>
        </p:sp>
        <p:sp>
          <p:nvSpPr>
            <p:cNvPr id="131" name="Rectangle 10">
              <a:extLst>
                <a:ext uri="{FF2B5EF4-FFF2-40B4-BE49-F238E27FC236}">
                  <a16:creationId xmlns:a16="http://schemas.microsoft.com/office/drawing/2014/main" id="{E67DE8CB-6F84-419F-8572-48D791672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218" y="3269952"/>
              <a:ext cx="402828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32" name="Rectangle 11">
              <a:extLst>
                <a:ext uri="{FF2B5EF4-FFF2-40B4-BE49-F238E27FC236}">
                  <a16:creationId xmlns:a16="http://schemas.microsoft.com/office/drawing/2014/main" id="{0A5CD63B-5598-40D4-A53D-A721FB1C9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3046" y="3269952"/>
              <a:ext cx="402828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33" name="Rectangle 12">
              <a:extLst>
                <a:ext uri="{FF2B5EF4-FFF2-40B4-BE49-F238E27FC236}">
                  <a16:creationId xmlns:a16="http://schemas.microsoft.com/office/drawing/2014/main" id="{8EE48126-D324-4D13-B563-C4BB6CA46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5874" y="3269952"/>
              <a:ext cx="402828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34" name="Rectangle 13">
              <a:extLst>
                <a:ext uri="{FF2B5EF4-FFF2-40B4-BE49-F238E27FC236}">
                  <a16:creationId xmlns:a16="http://schemas.microsoft.com/office/drawing/2014/main" id="{F0440A82-7885-4FAD-976D-3B7441B7F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1258" y="3269952"/>
              <a:ext cx="402828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</a:t>
              </a:r>
            </a:p>
          </p:txBody>
        </p:sp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D7FD237D-45E1-4B05-9097-F2454C743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992" y="2900065"/>
              <a:ext cx="402792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70" name="Rectangle 6">
              <a:extLst>
                <a:ext uri="{FF2B5EF4-FFF2-40B4-BE49-F238E27FC236}">
                  <a16:creationId xmlns:a16="http://schemas.microsoft.com/office/drawing/2014/main" id="{550418DE-43A0-4AC0-8B28-B161BD37C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9784" y="2900065"/>
              <a:ext cx="402792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71" name="Rectangle 7">
              <a:extLst>
                <a:ext uri="{FF2B5EF4-FFF2-40B4-BE49-F238E27FC236}">
                  <a16:creationId xmlns:a16="http://schemas.microsoft.com/office/drawing/2014/main" id="{2F46A7BC-FB50-450E-ACE2-E75610369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77" y="2900065"/>
              <a:ext cx="402792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1B0A42DD-DC25-49EF-BA15-37BC5BFB9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9998" y="2900065"/>
              <a:ext cx="402792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</a:t>
              </a:r>
            </a:p>
          </p:txBody>
        </p:sp>
        <p:sp>
          <p:nvSpPr>
            <p:cNvPr id="73" name="Rectangle 7">
              <a:extLst>
                <a:ext uri="{FF2B5EF4-FFF2-40B4-BE49-F238E27FC236}">
                  <a16:creationId xmlns:a16="http://schemas.microsoft.com/office/drawing/2014/main" id="{310C3BD2-0C5C-45D8-B0D3-CE1D284B7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5368" y="2900065"/>
              <a:ext cx="402792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74" name="Rectangle 7">
              <a:extLst>
                <a:ext uri="{FF2B5EF4-FFF2-40B4-BE49-F238E27FC236}">
                  <a16:creationId xmlns:a16="http://schemas.microsoft.com/office/drawing/2014/main" id="{2B4250C8-33C5-466B-B2EF-6A92A2075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8160" y="2900065"/>
              <a:ext cx="402792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58" name="Rectangle 12">
              <a:extLst>
                <a:ext uri="{FF2B5EF4-FFF2-40B4-BE49-F238E27FC236}">
                  <a16:creationId xmlns:a16="http://schemas.microsoft.com/office/drawing/2014/main" id="{133BE4FC-F17F-4915-B619-1A088DAA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9100" y="2165359"/>
              <a:ext cx="402828" cy="3683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59" name="Rectangle 12">
              <a:extLst>
                <a:ext uri="{FF2B5EF4-FFF2-40B4-BE49-F238E27FC236}">
                  <a16:creationId xmlns:a16="http://schemas.microsoft.com/office/drawing/2014/main" id="{1EC3B2E9-C21C-4200-93C3-E15F938B9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200" y="2528589"/>
              <a:ext cx="395182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75" name="Rectangle 12">
              <a:extLst>
                <a:ext uri="{FF2B5EF4-FFF2-40B4-BE49-F238E27FC236}">
                  <a16:creationId xmlns:a16="http://schemas.microsoft.com/office/drawing/2014/main" id="{C2EF2652-C979-473C-B58F-A3D19B32E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5348" y="1798264"/>
              <a:ext cx="402828" cy="3683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76" name="Rectangle 12">
              <a:extLst>
                <a:ext uri="{FF2B5EF4-FFF2-40B4-BE49-F238E27FC236}">
                  <a16:creationId xmlns:a16="http://schemas.microsoft.com/office/drawing/2014/main" id="{F8365EBD-20A3-465A-8A97-186791FA5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317" y="1795318"/>
              <a:ext cx="402828" cy="3683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77" name="Rectangle 12">
              <a:extLst>
                <a:ext uri="{FF2B5EF4-FFF2-40B4-BE49-F238E27FC236}">
                  <a16:creationId xmlns:a16="http://schemas.microsoft.com/office/drawing/2014/main" id="{C6BC8D4A-0AC6-4100-9230-434C10802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4728" y="2529383"/>
              <a:ext cx="402828" cy="3683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78" name="Rectangle 12">
              <a:extLst>
                <a:ext uri="{FF2B5EF4-FFF2-40B4-BE49-F238E27FC236}">
                  <a16:creationId xmlns:a16="http://schemas.microsoft.com/office/drawing/2014/main" id="{6ECB149F-1454-424E-8833-A004BB42E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1606" y="3271540"/>
              <a:ext cx="402828" cy="3683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79" name="Rectangle 12">
              <a:extLst>
                <a:ext uri="{FF2B5EF4-FFF2-40B4-BE49-F238E27FC236}">
                  <a16:creationId xmlns:a16="http://schemas.microsoft.com/office/drawing/2014/main" id="{FCDA28AA-BDE5-46AF-9D1B-A75D974F8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4948" y="3270745"/>
              <a:ext cx="402828" cy="3683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80" name="Rectangle 12">
              <a:extLst>
                <a:ext uri="{FF2B5EF4-FFF2-40B4-BE49-F238E27FC236}">
                  <a16:creationId xmlns:a16="http://schemas.microsoft.com/office/drawing/2014/main" id="{AFD3E836-88A4-47F6-A80F-65098D42A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7104" y="2166153"/>
              <a:ext cx="402828" cy="3683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86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实验任务总结</a:t>
            </a:r>
            <a:endParaRPr lang="en-US" altLang="zh-CN" sz="4400" dirty="0">
              <a:solidFill>
                <a:srgbClr val="19A1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AE1FE2F-B923-44D2-B127-D8903147B0F0}"/>
              </a:ext>
            </a:extLst>
          </p:cNvPr>
          <p:cNvSpPr txBox="1"/>
          <p:nvPr/>
        </p:nvSpPr>
        <p:spPr>
          <a:xfrm>
            <a:off x="335360" y="1412776"/>
            <a:ext cx="11089232" cy="4818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本实验给出了一个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Multicycle Execution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RV32 CPU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的框架，你需要填补代码中的空缺（待填补部分均标注有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[Topic 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或注释，共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处），使得：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94400" lvl="2" indent="-457200">
              <a:lnSpc>
                <a:spcPct val="150000"/>
              </a:lnSpc>
              <a:spcBef>
                <a:spcPts val="672"/>
              </a:spcBef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EXE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阶段的三个模块均对齐到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周期以满足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precise exception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94400" lvl="2" indent="-457200">
              <a:lnSpc>
                <a:spcPct val="150000"/>
              </a:lnSpc>
              <a:spcBef>
                <a:spcPts val="672"/>
              </a:spcBef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译码逻辑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CtrlUnit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能够正确处理自定义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SAMV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94400" lvl="2" indent="-457200">
              <a:lnSpc>
                <a:spcPct val="150000"/>
              </a:lnSpc>
              <a:spcBef>
                <a:spcPts val="672"/>
              </a:spcBef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SAMV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模块能够正确执行自定义的脉动阵列矩阵向量乘积操作。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lvl="1">
              <a:lnSpc>
                <a:spcPct val="150000"/>
              </a:lnSpc>
              <a:spcBef>
                <a:spcPts val="672"/>
              </a:spcBef>
              <a:buFontTx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PPT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中给出了指令内存、数据内存；仿真代码中给出了一个供自检的逻辑，完成第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项任务后可以通过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 ns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及之前的测试点，所有任务完成后可以通过所有测试点。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898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+mn-lt"/>
                <a:ea typeface="宋体" pitchFamily="2" charset="-122"/>
              </a:rPr>
              <a:t>指令内存</a:t>
            </a:r>
            <a:r>
              <a:rPr lang="en-US" altLang="zh-CN" sz="4400" dirty="0">
                <a:solidFill>
                  <a:srgbClr val="19A1FD"/>
                </a:solidFill>
                <a:latin typeface="+mn-lt"/>
                <a:ea typeface="宋体" pitchFamily="2" charset="-122"/>
              </a:rPr>
              <a:t>(1)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8CE14E-834B-4453-BC75-B59CAFC17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217365"/>
              </p:ext>
            </p:extLst>
          </p:nvPr>
        </p:nvGraphicFramePr>
        <p:xfrm>
          <a:off x="2135560" y="1287016"/>
          <a:ext cx="9145017" cy="531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0317">
                  <a:extLst>
                    <a:ext uri="{9D8B030D-6E8A-4147-A177-3AD203B41FA5}">
                      <a16:colId xmlns:a16="http://schemas.microsoft.com/office/drawing/2014/main" val="564672563"/>
                    </a:ext>
                  </a:extLst>
                </a:gridCol>
                <a:gridCol w="1731780">
                  <a:extLst>
                    <a:ext uri="{9D8B030D-6E8A-4147-A177-3AD203B41FA5}">
                      <a16:colId xmlns:a16="http://schemas.microsoft.com/office/drawing/2014/main" val="203767737"/>
                    </a:ext>
                  </a:extLst>
                </a:gridCol>
                <a:gridCol w="1002610">
                  <a:extLst>
                    <a:ext uri="{9D8B030D-6E8A-4147-A177-3AD203B41FA5}">
                      <a16:colId xmlns:a16="http://schemas.microsoft.com/office/drawing/2014/main" val="3033094524"/>
                    </a:ext>
                  </a:extLst>
                </a:gridCol>
                <a:gridCol w="1215285">
                  <a:extLst>
                    <a:ext uri="{9D8B030D-6E8A-4147-A177-3AD203B41FA5}">
                      <a16:colId xmlns:a16="http://schemas.microsoft.com/office/drawing/2014/main" val="4073406456"/>
                    </a:ext>
                  </a:extLst>
                </a:gridCol>
                <a:gridCol w="2734391">
                  <a:extLst>
                    <a:ext uri="{9D8B030D-6E8A-4147-A177-3AD203B41FA5}">
                      <a16:colId xmlns:a16="http://schemas.microsoft.com/office/drawing/2014/main" val="2878079958"/>
                    </a:ext>
                  </a:extLst>
                </a:gridCol>
                <a:gridCol w="1640634">
                  <a:extLst>
                    <a:ext uri="{9D8B030D-6E8A-4147-A177-3AD203B41FA5}">
                      <a16:colId xmlns:a16="http://schemas.microsoft.com/office/drawing/2014/main" val="849358622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NO.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Instruction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 err="1">
                          <a:effectLst/>
                          <a:latin typeface="+mj-lt"/>
                        </a:rPr>
                        <a:t>Addr</a:t>
                      </a:r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+mj-lt"/>
                        </a:rPr>
                        <a:t>Label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+mj-lt"/>
                        </a:rPr>
                        <a:t>ASM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Comment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5651103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  <a:latin typeface="+mj-lt"/>
                        </a:rPr>
                        <a:t>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  <a:latin typeface="+mj-lt"/>
                        </a:rPr>
                        <a:t>00000013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__start: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 err="1">
                          <a:effectLst/>
                          <a:latin typeface="+mj-lt"/>
                        </a:rPr>
                        <a:t>addi</a:t>
                      </a:r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 x0, x0,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2313837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  <a:latin typeface="+mj-lt"/>
                        </a:rPr>
                        <a:t>00402103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j-lt"/>
                        </a:rPr>
                        <a:t>lw x2, 4(x0)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1850699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2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  <a:latin typeface="+mj-lt"/>
                        </a:rPr>
                        <a:t>00802203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j-lt"/>
                        </a:rPr>
                        <a:t>lw x4, 8(x0)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011477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3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+mj-lt"/>
                        </a:rPr>
                        <a:t>004100b3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add x1, x2, x4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8960729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+mj-lt"/>
                        </a:rPr>
                        <a:t>fff08093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 err="1">
                          <a:effectLst/>
                          <a:latin typeface="+mj-lt"/>
                        </a:rPr>
                        <a:t>addi</a:t>
                      </a:r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 x1, x1, -1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431867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5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00c02283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j-lt"/>
                        </a:rPr>
                        <a:t>lw x5, 12(x0)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6659584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6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  <a:latin typeface="+mj-lt"/>
                        </a:rPr>
                        <a:t>01002303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j-lt"/>
                        </a:rPr>
                        <a:t>lw x6, 16(x0)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4232569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7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  <a:latin typeface="+mj-lt"/>
                        </a:rPr>
                        <a:t>01402383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j-lt"/>
                        </a:rPr>
                        <a:t>lw x7, 20(x0)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944449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8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402200b3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sub x1, x4, x2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20481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9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002220b3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slt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 x1, x4, x2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6171120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004120b3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slt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 x1, x2, x4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057058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11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4023d0b3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sra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 x1, x7, x2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319668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12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007330b3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sltu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 x1, x6, x7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886879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  <a:latin typeface="+mj-lt"/>
                        </a:rPr>
                        <a:t>13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ffd38093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addi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 x1, x7, -3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0293388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  <a:latin typeface="+mj-lt"/>
                        </a:rPr>
                        <a:t>14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00f22093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slti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 x1, x4, 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  <a:latin typeface="+mj-lt"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182640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00225093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  <a:cs typeface="+mn-cs"/>
                        </a:rPr>
                        <a:t>3C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srli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 x1, x4, 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4872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225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+mn-lt"/>
                <a:ea typeface="宋体" pitchFamily="2" charset="-122"/>
              </a:rPr>
              <a:t>指令内存</a:t>
            </a:r>
            <a:r>
              <a:rPr lang="en-US" altLang="zh-CN" sz="4400" dirty="0">
                <a:solidFill>
                  <a:srgbClr val="19A1FD"/>
                </a:solidFill>
                <a:latin typeface="+mn-lt"/>
                <a:ea typeface="宋体" pitchFamily="2" charset="-122"/>
              </a:rPr>
              <a:t>(2)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42FD6A-4DE9-447C-BF3E-7F5A9E130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869938"/>
              </p:ext>
            </p:extLst>
          </p:nvPr>
        </p:nvGraphicFramePr>
        <p:xfrm>
          <a:off x="2135560" y="1287016"/>
          <a:ext cx="9145017" cy="531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0317">
                  <a:extLst>
                    <a:ext uri="{9D8B030D-6E8A-4147-A177-3AD203B41FA5}">
                      <a16:colId xmlns:a16="http://schemas.microsoft.com/office/drawing/2014/main" val="564672563"/>
                    </a:ext>
                  </a:extLst>
                </a:gridCol>
                <a:gridCol w="1731780">
                  <a:extLst>
                    <a:ext uri="{9D8B030D-6E8A-4147-A177-3AD203B41FA5}">
                      <a16:colId xmlns:a16="http://schemas.microsoft.com/office/drawing/2014/main" val="203767737"/>
                    </a:ext>
                  </a:extLst>
                </a:gridCol>
                <a:gridCol w="1002610">
                  <a:extLst>
                    <a:ext uri="{9D8B030D-6E8A-4147-A177-3AD203B41FA5}">
                      <a16:colId xmlns:a16="http://schemas.microsoft.com/office/drawing/2014/main" val="3033094524"/>
                    </a:ext>
                  </a:extLst>
                </a:gridCol>
                <a:gridCol w="1215285">
                  <a:extLst>
                    <a:ext uri="{9D8B030D-6E8A-4147-A177-3AD203B41FA5}">
                      <a16:colId xmlns:a16="http://schemas.microsoft.com/office/drawing/2014/main" val="4073406456"/>
                    </a:ext>
                  </a:extLst>
                </a:gridCol>
                <a:gridCol w="2734391">
                  <a:extLst>
                    <a:ext uri="{9D8B030D-6E8A-4147-A177-3AD203B41FA5}">
                      <a16:colId xmlns:a16="http://schemas.microsoft.com/office/drawing/2014/main" val="2878079958"/>
                    </a:ext>
                  </a:extLst>
                </a:gridCol>
                <a:gridCol w="1640634">
                  <a:extLst>
                    <a:ext uri="{9D8B030D-6E8A-4147-A177-3AD203B41FA5}">
                      <a16:colId xmlns:a16="http://schemas.microsoft.com/office/drawing/2014/main" val="849358622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+mn-lt"/>
                        </a:rPr>
                        <a:t>NO.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+mn-lt"/>
                        </a:rPr>
                        <a:t>Instruction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 err="1">
                          <a:effectLst/>
                          <a:latin typeface="+mn-lt"/>
                        </a:rPr>
                        <a:t>Addr</a:t>
                      </a:r>
                      <a:r>
                        <a:rPr lang="en-US" sz="2000" u="none" strike="noStrike" dirty="0">
                          <a:effectLst/>
                          <a:latin typeface="+mn-lt"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+mn-lt"/>
                        </a:rPr>
                        <a:t>Label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+mn-lt"/>
                        </a:rPr>
                        <a:t>ASM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+mn-lt"/>
                        </a:rPr>
                        <a:t>Comment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5651103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40c35093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40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srai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x1, x6, 12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1850699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01802403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44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x8, 24(x0)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011477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00802e23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48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sw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x8, 28(x0)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8960729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01c02083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4C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x1, 28(x0)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431867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02801023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sh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x8, 32(x0)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6659584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02002083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x1, 32(x0)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4232569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02800223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sb   x8, 36(x0)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944449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02402083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5C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x1, 36(x0)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20481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01a01083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lh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x1, 26(x0)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6171120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01a05083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lhu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x1, 26(x0)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057058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01b00083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lb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 x1, 27(x0)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319668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01b04083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6C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lbu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x1, 27(x0)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886879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ffff0097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auipc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x1, 0xffff0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0293388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00000013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  <a:cs typeface="+mn-cs"/>
                        </a:rPr>
                        <a:t>74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addi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x0, x0, 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182640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00000013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err="1"/>
                        <a:t>addi</a:t>
                      </a:r>
                      <a:r>
                        <a:rPr lang="en-US" altLang="zh-CN" sz="2000" dirty="0"/>
                        <a:t> x0, x0, 0</a:t>
                      </a:r>
                      <a:endParaRPr lang="zh-CN" altLang="en-US" sz="2000" dirty="0"/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5832576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00000013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addi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x0, x0, 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64236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439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+mn-lt"/>
                <a:ea typeface="宋体" pitchFamily="2" charset="-122"/>
              </a:rPr>
              <a:t>指令内存</a:t>
            </a:r>
            <a:r>
              <a:rPr lang="en-US" altLang="zh-CN" sz="4400" dirty="0">
                <a:solidFill>
                  <a:srgbClr val="19A1FD"/>
                </a:solidFill>
                <a:latin typeface="+mn-lt"/>
                <a:ea typeface="宋体" pitchFamily="2" charset="-122"/>
              </a:rPr>
              <a:t>(3)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51AA5D-7A3A-4825-A40A-99DDCC0DB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893830"/>
              </p:ext>
            </p:extLst>
          </p:nvPr>
        </p:nvGraphicFramePr>
        <p:xfrm>
          <a:off x="2135560" y="1286031"/>
          <a:ext cx="9145017" cy="531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0317">
                  <a:extLst>
                    <a:ext uri="{9D8B030D-6E8A-4147-A177-3AD203B41FA5}">
                      <a16:colId xmlns:a16="http://schemas.microsoft.com/office/drawing/2014/main" val="564672563"/>
                    </a:ext>
                  </a:extLst>
                </a:gridCol>
                <a:gridCol w="1731780">
                  <a:extLst>
                    <a:ext uri="{9D8B030D-6E8A-4147-A177-3AD203B41FA5}">
                      <a16:colId xmlns:a16="http://schemas.microsoft.com/office/drawing/2014/main" val="203767737"/>
                    </a:ext>
                  </a:extLst>
                </a:gridCol>
                <a:gridCol w="1002610">
                  <a:extLst>
                    <a:ext uri="{9D8B030D-6E8A-4147-A177-3AD203B41FA5}">
                      <a16:colId xmlns:a16="http://schemas.microsoft.com/office/drawing/2014/main" val="3033094524"/>
                    </a:ext>
                  </a:extLst>
                </a:gridCol>
                <a:gridCol w="1215285">
                  <a:extLst>
                    <a:ext uri="{9D8B030D-6E8A-4147-A177-3AD203B41FA5}">
                      <a16:colId xmlns:a16="http://schemas.microsoft.com/office/drawing/2014/main" val="4073406456"/>
                    </a:ext>
                  </a:extLst>
                </a:gridCol>
                <a:gridCol w="2734391">
                  <a:extLst>
                    <a:ext uri="{9D8B030D-6E8A-4147-A177-3AD203B41FA5}">
                      <a16:colId xmlns:a16="http://schemas.microsoft.com/office/drawing/2014/main" val="2878079958"/>
                    </a:ext>
                  </a:extLst>
                </a:gridCol>
                <a:gridCol w="1640634">
                  <a:extLst>
                    <a:ext uri="{9D8B030D-6E8A-4147-A177-3AD203B41FA5}">
                      <a16:colId xmlns:a16="http://schemas.microsoft.com/office/drawing/2014/main" val="849358622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+mn-lt"/>
                        </a:rPr>
                        <a:t>NO.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+mn-lt"/>
                        </a:rPr>
                        <a:t>Instruction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 err="1">
                          <a:effectLst/>
                          <a:latin typeface="+mn-lt"/>
                        </a:rPr>
                        <a:t>Addr</a:t>
                      </a:r>
                      <a:r>
                        <a:rPr lang="en-US" sz="2000" u="none" strike="noStrike" dirty="0">
                          <a:effectLst/>
                          <a:latin typeface="+mn-lt"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+mn-lt"/>
                        </a:rPr>
                        <a:t>Label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+mn-lt"/>
                        </a:rPr>
                        <a:t>ASM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+mn-lt"/>
                        </a:rPr>
                        <a:t>Comment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5651103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02c02083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SAMV_test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: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x1, 44(x0)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011477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03802103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x2, 56(x0)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8960729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002081ab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samv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x3, x1, x2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431867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03002203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x4, 48(x0)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6659584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03c02283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x5, 60(x0)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4232569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0052032b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samv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x6, x4, x5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944449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03402383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x7, 52(x0)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20481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04002403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lw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x8, 64(x0)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6171120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008384ab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samv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x9, x7, x8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057058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006181b3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add x3, x3, x6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319668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009181b3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add x3, x3, x9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886879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04302223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sw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x3, 68(x0)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0293388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00000013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addi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x0, x0, 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182640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00000013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addi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x0, x0, 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960977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00000013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addi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x0, x0, 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1579467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f45ff06f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jal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 x0, __start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28738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158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+mn-lt"/>
                <a:ea typeface="宋体" pitchFamily="2" charset="-122"/>
              </a:rPr>
              <a:t>数据内存</a:t>
            </a:r>
            <a:endParaRPr lang="en-US" altLang="zh-CN" sz="4400" dirty="0">
              <a:solidFill>
                <a:srgbClr val="19A1FD"/>
              </a:solidFill>
              <a:latin typeface="+mn-lt"/>
              <a:ea typeface="宋体" pitchFamily="2" charset="-122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BAF54BFB-88B6-49F6-B59A-7DF6F664E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952151"/>
              </p:ext>
            </p:extLst>
          </p:nvPr>
        </p:nvGraphicFramePr>
        <p:xfrm>
          <a:off x="1127448" y="1268760"/>
          <a:ext cx="4968553" cy="531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4508">
                  <a:extLst>
                    <a:ext uri="{9D8B030D-6E8A-4147-A177-3AD203B41FA5}">
                      <a16:colId xmlns:a16="http://schemas.microsoft.com/office/drawing/2014/main" val="564672563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3767737"/>
                    </a:ext>
                  </a:extLst>
                </a:gridCol>
                <a:gridCol w="958844">
                  <a:extLst>
                    <a:ext uri="{9D8B030D-6E8A-4147-A177-3AD203B41FA5}">
                      <a16:colId xmlns:a16="http://schemas.microsoft.com/office/drawing/2014/main" val="3033094524"/>
                    </a:ext>
                  </a:extLst>
                </a:gridCol>
                <a:gridCol w="1569017">
                  <a:extLst>
                    <a:ext uri="{9D8B030D-6E8A-4147-A177-3AD203B41FA5}">
                      <a16:colId xmlns:a16="http://schemas.microsoft.com/office/drawing/2014/main" val="849358622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NO.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Data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 err="1">
                          <a:effectLst/>
                        </a:rPr>
                        <a:t>Addr</a:t>
                      </a:r>
                      <a:r>
                        <a:rPr lang="en-US" sz="2000" u="none" strike="noStrike" dirty="0">
                          <a:effectLst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Comment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5651103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000080BF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2313837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00000008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1850699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2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00000010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011477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3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00000014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8960729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4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FFFF0000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431867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5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0FFF0000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6659584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6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FF000F0F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4232569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7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F0F0F0F0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944449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8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20481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9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6171120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10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057058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11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319668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12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00000022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886879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effectLst/>
                        </a:rPr>
                        <a:t>13</a:t>
                      </a:r>
                      <a:endParaRPr lang="en-US" alt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00000033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0293388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14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00002026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182640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pitchFamily="2" charset="-122"/>
                        </a:rPr>
                        <a:t>00000311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65230887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3A9E9B6E-8CA2-4B51-A632-DAA40BDE4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209889"/>
              </p:ext>
            </p:extLst>
          </p:nvPr>
        </p:nvGraphicFramePr>
        <p:xfrm>
          <a:off x="6373267" y="1274452"/>
          <a:ext cx="5195341" cy="531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0317">
                  <a:extLst>
                    <a:ext uri="{9D8B030D-6E8A-4147-A177-3AD203B41FA5}">
                      <a16:colId xmlns:a16="http://schemas.microsoft.com/office/drawing/2014/main" val="564672563"/>
                    </a:ext>
                  </a:extLst>
                </a:gridCol>
                <a:gridCol w="1731780">
                  <a:extLst>
                    <a:ext uri="{9D8B030D-6E8A-4147-A177-3AD203B41FA5}">
                      <a16:colId xmlns:a16="http://schemas.microsoft.com/office/drawing/2014/main" val="203767737"/>
                    </a:ext>
                  </a:extLst>
                </a:gridCol>
                <a:gridCol w="1002610">
                  <a:extLst>
                    <a:ext uri="{9D8B030D-6E8A-4147-A177-3AD203B41FA5}">
                      <a16:colId xmlns:a16="http://schemas.microsoft.com/office/drawing/2014/main" val="3033094524"/>
                    </a:ext>
                  </a:extLst>
                </a:gridCol>
                <a:gridCol w="1640634">
                  <a:extLst>
                    <a:ext uri="{9D8B030D-6E8A-4147-A177-3AD203B41FA5}">
                      <a16:colId xmlns:a16="http://schemas.microsoft.com/office/drawing/2014/main" val="849358622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NO.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Instruction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 err="1">
                          <a:effectLst/>
                        </a:rPr>
                        <a:t>Addr</a:t>
                      </a:r>
                      <a:r>
                        <a:rPr lang="en-US" sz="2000" u="none" strike="noStrike" dirty="0">
                          <a:effectLst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Comment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5651103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00008647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2313837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1850699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011477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8960729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431867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6659584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</a:rPr>
                        <a:t>　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4232569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944449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20481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6171120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057058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3196688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886879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0293388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 dirty="0">
                          <a:effectLst/>
                        </a:rPr>
                        <a:t>　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182640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effectLst/>
                        </a:rPr>
                        <a:t>00000000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55689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3978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</a:t>
            </a:r>
            <a:endParaRPr lang="en-US" altLang="zh-CN" sz="4400" dirty="0">
              <a:solidFill>
                <a:srgbClr val="19A1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68760"/>
            <a:ext cx="10972800" cy="5400601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672"/>
              </a:spcBef>
              <a:buFontTx/>
              <a:buChar char="•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仿真使用的 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instruction memory 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memory 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初始值在仿真文件夹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ai_exp_student_exp1\</a:t>
            </a:r>
            <a:b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ai_exp.sim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\sim_1\</a:t>
            </a:r>
            <a:r>
              <a:rPr lang="en-US" altLang="zh-CN" sz="32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behav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en-US" altLang="zh-CN" sz="32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xsim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内；</a:t>
            </a:r>
            <a:b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仿真时请</a:t>
            </a:r>
            <a:r>
              <a:rPr lang="zh-CN" altLang="en-US" sz="32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 </a:t>
            </a:r>
            <a:r>
              <a:rPr lang="en-US" altLang="zh-CN" sz="32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reset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（如右图）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672"/>
              </a:spcBef>
              <a:buFontTx/>
              <a:buChar char="•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验收：请在</a:t>
            </a:r>
            <a:r>
              <a:rPr lang="zh-CN" altLang="en-US" sz="32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32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32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次实验课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前完成本实验的验收和提交。如果完成实验困难，你可以在第 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次实验课上验收你已经完成的部分，我们将按给分点 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(Precise Exception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SAMV 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译码、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SAMV 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给保底分并开放后续提交通道。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7DF839-6934-4906-BA00-AE63AE0EE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061" y="2060848"/>
            <a:ext cx="3724571" cy="117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52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400" dirty="0">
                <a:solidFill>
                  <a:srgbClr val="19A1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</a:t>
            </a:r>
            <a:endParaRPr lang="en-US" altLang="zh-CN" sz="4400" dirty="0">
              <a:solidFill>
                <a:srgbClr val="19A1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68761"/>
            <a:ext cx="11103024" cy="4248472"/>
          </a:xfrm>
        </p:spPr>
        <p:txBody>
          <a:bodyPr>
            <a:normAutofit/>
          </a:bodyPr>
          <a:lstStyle/>
          <a:p>
            <a:pPr>
              <a:lnSpc>
                <a:spcPct val="135000"/>
              </a:lnSpc>
              <a:spcBef>
                <a:spcPts val="672"/>
              </a:spcBef>
              <a:buFontTx/>
              <a:buChar char="•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验收（续）：本课程</a:t>
            </a:r>
            <a:r>
              <a:rPr lang="en-US" altLang="zh-CN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和硬件设计部分实验</a:t>
            </a:r>
            <a:r>
              <a:rPr lang="zh-CN" altLang="en-US" sz="32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无需上板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，仿真通过并且通过助教的验收提问即可。之后请将你的代码和报告上传到</a:t>
            </a:r>
            <a:r>
              <a:rPr lang="zh-CN" altLang="en-US" sz="32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学在浙大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平台。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5000"/>
              </a:lnSpc>
              <a:spcBef>
                <a:spcPts val="672"/>
              </a:spcBef>
              <a:buFontTx/>
              <a:buChar char="•"/>
            </a:pP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关于实验报告：我们鼓励大家记录实验的错误排查过程和相关数据</a:t>
            </a:r>
            <a:r>
              <a:rPr lang="zh-CN" altLang="en-US" sz="32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供自己实验中参考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。本实验通过验收答题给分，提交时实验报告格式和内容</a:t>
            </a:r>
            <a:r>
              <a:rPr lang="zh-CN" altLang="en-US" sz="3200" b="0" i="1" u="sng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不计分</a:t>
            </a:r>
            <a:r>
              <a:rPr lang="zh-CN" altLang="en-US" sz="3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（但尽量稍微写一些字）。</a:t>
            </a:r>
            <a:endParaRPr lang="en-US" altLang="zh-CN" sz="3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9198188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8310</TotalTime>
  <Words>3024</Words>
  <Application>Microsoft Office PowerPoint</Application>
  <PresentationFormat>宽屏</PresentationFormat>
  <Paragraphs>1189</Paragraphs>
  <Slides>33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50" baseType="lpstr">
      <vt:lpstr>ＭＳ Ｐゴシック</vt:lpstr>
      <vt:lpstr>等线</vt:lpstr>
      <vt:lpstr>黑体</vt:lpstr>
      <vt:lpstr>华文细黑</vt:lpstr>
      <vt:lpstr>楷体</vt:lpstr>
      <vt:lpstr>楷体_GB2312</vt:lpstr>
      <vt:lpstr>宋体</vt:lpstr>
      <vt:lpstr>微软雅黑</vt:lpstr>
      <vt:lpstr>Arial</vt:lpstr>
      <vt:lpstr>Arial Narrow</vt:lpstr>
      <vt:lpstr>Bahnschrift Condensed</vt:lpstr>
      <vt:lpstr>Calibri</vt:lpstr>
      <vt:lpstr>Cambria Math</vt:lpstr>
      <vt:lpstr>Wingdings</vt:lpstr>
      <vt:lpstr>自定义设计方案</vt:lpstr>
      <vt:lpstr>实验室PPT模版2013 beta1</vt:lpstr>
      <vt:lpstr>1_自定义设计方案</vt:lpstr>
      <vt:lpstr>人工智能芯片课程实验</vt:lpstr>
      <vt:lpstr>实验任务</vt:lpstr>
      <vt:lpstr>回顾：RV32指令集</vt:lpstr>
      <vt:lpstr>回顾：RV32指令集</vt:lpstr>
      <vt:lpstr>回顾：RV32指令集</vt:lpstr>
      <vt:lpstr>回顾：RV32指令集</vt:lpstr>
      <vt:lpstr>回顾：RV32指令集</vt:lpstr>
      <vt:lpstr>回顾：五级流水线 CPU</vt:lpstr>
      <vt:lpstr>回顾：五级流水线 CPU</vt:lpstr>
      <vt:lpstr>任务：添加自定义SAMV指令</vt:lpstr>
      <vt:lpstr>本实验的自定义指令</vt:lpstr>
      <vt:lpstr>Multicycle Execution</vt:lpstr>
      <vt:lpstr>Multicycle Execution</vt:lpstr>
      <vt:lpstr>Multicycle Execution</vt:lpstr>
      <vt:lpstr>脉动阵列：引入</vt:lpstr>
      <vt:lpstr>PowerPoint 演示文稿</vt:lpstr>
      <vt:lpstr>AI加速器中的脉动阵列</vt:lpstr>
      <vt:lpstr>PowerPoint 演示文稿</vt:lpstr>
      <vt:lpstr>SAMV脉动阵列</vt:lpstr>
      <vt:lpstr>SAMV脉动阵列</vt:lpstr>
      <vt:lpstr>SAMV脉动阵列</vt:lpstr>
      <vt:lpstr>SAMV脉动阵列</vt:lpstr>
      <vt:lpstr>Multicycle Execution</vt:lpstr>
      <vt:lpstr>Multicycle Execution</vt:lpstr>
      <vt:lpstr>Precise Exception</vt:lpstr>
      <vt:lpstr>Precise Exception</vt:lpstr>
      <vt:lpstr>实验任务总结</vt:lpstr>
      <vt:lpstr>指令内存(1)</vt:lpstr>
      <vt:lpstr>指令内存(2)</vt:lpstr>
      <vt:lpstr>指令内存(3)</vt:lpstr>
      <vt:lpstr>数据内存</vt:lpstr>
      <vt:lpstr>提示</vt:lpstr>
      <vt:lpstr>提示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凯斌 俞</cp:lastModifiedBy>
  <cp:revision>434</cp:revision>
  <dcterms:created xsi:type="dcterms:W3CDTF">2011-08-03T07:44:17Z</dcterms:created>
  <dcterms:modified xsi:type="dcterms:W3CDTF">2026-03-12T08:26:28Z</dcterms:modified>
</cp:coreProperties>
</file>